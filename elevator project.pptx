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 id="259" r:id="rId7"/>
    <p:sldId id="260" r:id="rId8"/>
    <p:sldId id="265" r:id="rId9"/>
    <p:sldId id="266" r:id="rId10"/>
    <p:sldId id="267" r:id="rId11"/>
    <p:sldId id="268" r:id="rId12"/>
    <p:sldId id="261" r:id="rId13"/>
    <p:sldId id="262" r:id="rId14"/>
    <p:sldId id="263" r:id="rId15"/>
    <p:sldId id="264" r:id="rId16"/>
    <p:sldId id="269" r:id="rId17"/>
    <p:sldId id="270" r:id="rId18"/>
    <p:sldId id="271" r:id="rId19"/>
    <p:sldId id="272" r:id="rId20"/>
    <p:sldId id="273"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sz="quarter"/>
          </p:nvPr>
        </p:nvSpPr>
        <p:spPr>
          <a:xfrm>
            <a:off x="662016" y="5242000"/>
            <a:ext cx="5296132" cy="4288909"/>
          </a:xfrm>
          <a:prstGeom prst="rect">
            <a:avLst/>
          </a:prstGeom>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tags" Target="../tags/tag4.xml"/><Relationship Id="rId7" Type="http://schemas.openxmlformats.org/officeDocument/2006/relationships/tags" Target="../tags/tag3.xml"/><Relationship Id="rId6" Type="http://schemas.openxmlformats.org/officeDocument/2006/relationships/tags" Target="../tags/tag2.xml"/><Relationship Id="rId5" Type="http://schemas.openxmlformats.org/officeDocument/2006/relationships/tags" Target="../tags/tag1.xml"/><Relationship Id="rId4" Type="http://schemas.openxmlformats.org/officeDocument/2006/relationships/image" Target="../media/image4.svg"/><Relationship Id="rId3" Type="http://schemas.openxmlformats.org/officeDocument/2006/relationships/image" Target="../media/image3.png"/><Relationship Id="rId26" Type="http://schemas.openxmlformats.org/officeDocument/2006/relationships/notesSlide" Target="../notesSlides/notesSlide1.xml"/><Relationship Id="rId25" Type="http://schemas.openxmlformats.org/officeDocument/2006/relationships/slideLayout" Target="../slideLayouts/slideLayout1.xml"/><Relationship Id="rId24" Type="http://schemas.openxmlformats.org/officeDocument/2006/relationships/tags" Target="../tags/tag20.xml"/><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image" Target="../media/image6.svg"/><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sv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sv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sv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sv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sv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6.svg"/><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0.svg"/><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6.sv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4.svg"/><Relationship Id="rId3" Type="http://schemas.openxmlformats.org/officeDocument/2006/relationships/image" Target="../media/image23.png"/><Relationship Id="rId2" Type="http://schemas.openxmlformats.org/officeDocument/2006/relationships/image" Target="../media/image6.sv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6.svg"/><Relationship Id="rId1"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8.svg"/><Relationship Id="rId1"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svg"/><Relationship Id="rId1"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svg"/><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svg"/><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2.svg"/><Relationship Id="rId1"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descr="&lt;Slide&#10;    style={{&#10;        width: '1280px',&#10;        height: '720px',&#10;        background: '#0A1424',&#10;        padding: '0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9' strokeWidth='1' /&gt;&#10;                &lt;/pattern&gt;&#10;                &lt;radialGradient id='rg' cx='0.16' cy='0.30' r='0.66'&gt;&#10;                    &lt;stop offset='0%' stopColor='#22D3EE' stopOpacity='0.18' /&gt;&#10;                    &lt;stop offset='100%' stopColor='#22D3EE' stopOpacity='0' /&gt;&#10;                &lt;/radialGradient&gt;&#10;                &lt;linearGradient id='sg' x1='0' y1='0' x2='0' y2='1'&gt;&#10;                    &lt;stop offset='0%' stopColor='#22D3EE' stopOpacity='0' /&gt;&#10;                    &lt;stop offset='45%' stopColor='#22D3EE' stopOpacity='0.95' /&gt;&#10;                    &lt;stop offset='100%' stopColor='#22D3EE' stopOpacity='0' /&gt;&#10;                &lt;/linearGradient&gt;&#10;            &lt;/defs&gt;&#10;            &lt;rect width='1280' height='720' fill='url(#grid)' /&gt;&#10;            &lt;rect width='1280' height='720' fill='url(#rg)' /&gt;&#10;            &lt;rect x='690' y='90' width='540' height='570' fill='none' stroke='#3B82F6' strokeOpacity='0.38' strokeWidth='1' /&gt;&#10;            &lt;path d='M690 128 H1230' stroke='#3B82F6' strokeOpacity='0.2' strokeWidth='1' /&gt;&#10;            &lt;path d='M690 166 H1230' stroke='#3B82F6' strokeOpacity='0.2' strokeWidth='1' /&gt;&#10;            &lt;path d='M690 204 H1230' stroke='#3B82F6' strokeOpacity='0.2' strokeWidth='1' /&gt;&#10;            &lt;path d='M690 242 H1230' stroke='#3B82F6' strokeOpacity='0.2' strokeWidth='1' /&gt;&#10;            &lt;path d='M690 280 H1230' stroke='#3B82F6' strokeOpacity='0.2' strokeWidth='1' /&gt;&#10;            &lt;path d='M690 318 H1230' stroke='#3B82F6' strokeOpacity='0.2' strokeWidth='1' /&gt;&#10;            &lt;path d='M690 356 H1230' stroke='#3B82F6' strokeOpacity='0.2' strokeWidth='1' /&gt;&#10;            &lt;path d='M690 394 H1230' stroke='#3B82F6' strokeOpacity='0.2' strokeWidth='1' /&gt;&#10;            &lt;path d='M690 432 H1230' stroke='#3B82F6' strokeOpacity='0.2' strokeWidth='1' /&gt;&#10;            &lt;path d='M690 470 H1230' stroke='#3B82F6' strokeOpacity='0.2' strokeWidth='1' /&gt;&#10;            &lt;path d='M690 508 H1230' stroke='#3B82F6' strokeOpacity='0.2' strokeWidth='1' /&gt;&#10;            &lt;path d='M690 546 H1230' stroke='#3B82F6' strokeOpacity='0.2' strokeWidth='1' /&gt;&#10;            &lt;path d='M690 584 H1230' stroke='#3B82F6' strokeOpacity='0.2' strokeWidth='1' /&gt;&#10;            &lt;path d='M690 622 H1230' stroke='#3B82F6' strokeOpacity='0.2' strokeWidth='1' /&gt;&#10;            &lt;rect x='778' y='90' width='44' height='570' fill='#3B82F6' fillOpacity='0.08' /&gt;&#10;            &lt;rect x='948' y='90' width='44' height='570' fill='#3B82F6' fillOpacity='0.08' /&gt;&#10;            &lt;rect x='1118' y='90' width='44' height='570' fill='#3B82F6' fillOpacity='0.08' /&gt;&#10;            &lt;rect x='798' y='90' width='4' height='570' fill='url(#sg)' /&gt;&#10;            &lt;rect x='968' y='90' width='4' height='570' fill='url(#sg)' /&gt;&#10;            &lt;rect x='1138' y='90' width='4' height='570' fill='url(#sg)' /&gt;&#10;            &lt;rect x='782' y='300' width='36' height='24' fill='#22D3EE' fillOpacity='0.95' /&gt;&#10;            &lt;rect x='952' y='470' width='36' height='24' fill='#22D3EE' fillOpacity='0.5' /&gt;&#10;            &lt;rect x='1122' y='206' width='36' height='24' fill='#22D3EE' fillOpacity='0.72' /&gt;&#10;            &lt;circle cx='800' cy='356' r='3' fill='#22D3EE' fillOpacity='0.85' /&gt;&#10;            &lt;circle cx='970' cy='512' r='3' fill='#22D3EE' fillOpacity='0.6' /&gt;&#10;            &lt;circle cx='1140' cy='588' r='3' fill='#22D3EE' fillOpacity='0.7' /&gt;&#10;            &lt;circle cx='800' cy='624' r='3' fill='#22D3EE' fillOpacity='0.45' /&gt;&#10;            &lt;path d='M690 660 H1230' stroke='#22D3EE' strokeOpacity='0.55' strokeWidth='2' /&gt;&#10;        &lt;/svg&gt;&#10;    &lt;/Box&gt;&#10;&#10;    &lt;Box&#10;        style={{&#10;            position: 'relative',&#10;            zIndex: 1,&#10;            width: '640px',&#10;            height: '720px',&#10;            padding: '0px 0px 0px 64px',&#10;            display: 'flex',&#10;            flexDirection: 'column',&#10;            justifyContent: 'center',&#10;        }}&#10;    &gt;&#10;        &lt;Text style={{ fontSize: 14, color: '#22D3EE', letterSpacing: 4, fontFamily: 'Segoe UI' }}&gt;&#10;            DORM ELEVATOR STRATEGY OPTIMIZATION&#10;        &lt;/Text&gt;&#10;        &lt;Box style={{ height: 24 }} /&gt;&#10;        &lt;Text style={{ fontSize: 62, fontWeight: 'bold', color: '#E6EEF9', lineHeight: 1.15 }}&gt;&#10;            宿舍电梯&#10;            &lt;br /&gt;&#10;            运行策略优化&#10;        &lt;/Text&gt;&#10;        &lt;Box style={{ height: 22 }} /&gt;&#10;        &lt;Box style={{ width: '64px', height: '4px', background: '#22D3EE' }} /&gt;&#10;        &lt;Box style={{ height: 26 }} /&gt;&#10;        &lt;Text style={{ fontSize: 26, color: '#E6EEF9', opacity: 0.85, lineHeight: 1.5 }}&gt;&#10;            以红豆斋为例 · 从「等很久」到「等得准」&#10;        &lt;/Text&gt;&#10;        &lt;Box style={{ height: 38 }} /&gt;&#10;        &lt;Text style={{ fontSize: 18, color: '#E6EEF9', opacity: 0.55, lineHeight: 1.8 }}&gt;&#10;            15 层 · 3 梯 · 700 人&#10;            &lt;br /&gt;&#10;            1000 次独立重复仿真实验&#10;            &lt;br /&gt;&#10;            课程汇报&#10;        &lt;/Text&gt;&#10;    &lt;/Box&gt;&#10;&#10;    &lt;Box style={{ position: 'absolute', left: '64px', bottom: '44px', zIndex: 1, flexDirection: 'row', alignItems: 'center', gap: 12 }}&gt;&#10;        &lt;Box style={{ width: '22px', height: '22px' }}&gt;&#10;            &lt;svg width={22} height={22} viewBox='0 0 22 22'&gt;&#10;                &lt;rect x='2' y='3' width='4' height='16' fill='#22D3EE' fillOpacity='0.9' /&gt;&#10;                &lt;rect x='9' y='3' width='4' height='16' fill='#22D3EE' fillOpacity='0.5' /&gt;&#10;                &lt;rect x='16' y='3' width='4' height='16' fill='#22D3EE' fillOpacity='0.25' /&gt;&#10;            &lt;/svg&gt;&#10;        &lt;/Box&gt;&#10;        &lt;Text style={{ fontSize: 14, color: '#E6EEF9', opacity: 0.45 }}&gt;宿舍电梯运行策略优化 · 红豆斋&lt;/Text&gt;&#10;    &lt;/Box&gt;&#10;&lt;/Slide&gt;&#10;"/>
        <p:cNvGrpSpPr/>
        <p:nvPr/>
      </p:nvGrpSpPr>
      <p:grpSpPr>
        <a:xfrm>
          <a:off x="0" y="0"/>
          <a:ext cx="0" cy="0"/>
          <a:chOff x="0" y="0"/>
          <a:chExt cx="0" cy="0"/>
        </a:xfrm>
      </p:grpSpPr>
      <p:sp>
        <p:nvSpPr>
          <p:cNvPr id="2" name="矩形 1"/>
          <p:cNvSpPr/>
          <p:nvPr/>
        </p:nvSpPr>
        <p:spPr>
          <a:xfrm>
            <a:off x="0" y="0"/>
            <a:ext cx="12192000" cy="6858000"/>
          </a:xfrm>
          <a:prstGeom prst="rect">
            <a:avLst/>
          </a:prstGeom>
          <a:solidFill>
            <a:srgbClr val="0A1424"/>
          </a:solidFill>
        </p:spPr>
        <p:txBody>
          <a:bodyPr/>
          <a:p/>
        </p:txBody>
      </p:sp>
      <p:pic>
        <p:nvPicPr>
          <p:cNvPr id="3" name="图片 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 name="文本框 3" descr="{&quot;isTemplate&quot;:true,&quot;type&quot;:&quot;text&quot;}"/>
          <p:cNvSpPr txBox="1"/>
          <p:nvPr/>
        </p:nvSpPr>
        <p:spPr>
          <a:xfrm>
            <a:off x="609600" y="1209675"/>
            <a:ext cx="5486400" cy="161925"/>
          </a:xfrm>
          <a:prstGeom prst="rect">
            <a:avLst/>
          </a:prstGeom>
        </p:spPr>
        <p:txBody>
          <a:bodyPr wrap="none" lIns="0" tIns="0" rIns="0" bIns="0"/>
          <a:p>
            <a:pPr>
              <a:lnSpc>
                <a:spcPct val="100000"/>
              </a:lnSpc>
            </a:pPr>
            <a:r>
              <a:rPr lang="en-US" sz="1050" spc="300">
                <a:solidFill>
                  <a:srgbClr val="22D3EE"/>
                </a:solidFill>
                <a:latin typeface="Segoe UI" panose="020B0502040204020203"/>
                <a:ea typeface="Segoe UI" panose="020B0502040204020203"/>
              </a:rPr>
              <a:t>DORM ELEVATOR STRATEGY OPTIMIZATION</a:t>
            </a:r>
            <a:endParaRPr lang="en-US" sz="1050" spc="300">
              <a:solidFill>
                <a:srgbClr val="22D3EE"/>
              </a:solidFill>
              <a:latin typeface="Segoe UI" panose="020B0502040204020203"/>
              <a:ea typeface="Segoe UI" panose="020B0502040204020203"/>
            </a:endParaRPr>
          </a:p>
        </p:txBody>
      </p:sp>
      <p:sp>
        <p:nvSpPr>
          <p:cNvPr id="5" name="文本框 4" descr="{&quot;isTemplate&quot;:true,&quot;type&quot;:&quot;text&quot;}"/>
          <p:cNvSpPr txBox="1"/>
          <p:nvPr/>
        </p:nvSpPr>
        <p:spPr>
          <a:xfrm>
            <a:off x="609600" y="1600200"/>
            <a:ext cx="5486400" cy="1638300"/>
          </a:xfrm>
          <a:prstGeom prst="rect">
            <a:avLst/>
          </a:prstGeom>
        </p:spPr>
        <p:txBody>
          <a:bodyPr wrap="none" lIns="0" tIns="0" rIns="0" bIns="0"/>
          <a:p>
            <a:pPr>
              <a:lnSpc>
                <a:spcPct val="115000"/>
              </a:lnSpc>
            </a:pPr>
            <a:r>
              <a:rPr lang="zh-CN" sz="4650" b="1">
                <a:solidFill>
                  <a:srgbClr val="E6EEF9"/>
                </a:solidFill>
                <a:latin typeface="微软雅黑" panose="020B0503020204020204" charset="-122"/>
                <a:ea typeface="微软雅黑" panose="020B0503020204020204" charset="-122"/>
              </a:rPr>
              <a:t>宿舍电梯</a:t>
            </a:r>
            <a:endParaRPr lang="zh-CN" sz="4650" b="1">
              <a:solidFill>
                <a:srgbClr val="E6EEF9"/>
              </a:solidFill>
              <a:latin typeface="微软雅黑" panose="020B0503020204020204" charset="-122"/>
              <a:ea typeface="微软雅黑" panose="020B0503020204020204" charset="-122"/>
            </a:endParaRPr>
          </a:p>
          <a:p>
            <a:pPr>
              <a:lnSpc>
                <a:spcPct val="115000"/>
              </a:lnSpc>
            </a:pPr>
            <a:r>
              <a:rPr lang="zh-CN" sz="4650" b="1">
                <a:solidFill>
                  <a:srgbClr val="E6EEF9"/>
                </a:solidFill>
                <a:latin typeface="微软雅黑" panose="020B0503020204020204" charset="-122"/>
                <a:ea typeface="微软雅黑" panose="020B0503020204020204" charset="-122"/>
              </a:rPr>
              <a:t>运行策略优化</a:t>
            </a:r>
            <a:endParaRPr lang="zh-CN" sz="4650" b="1">
              <a:solidFill>
                <a:srgbClr val="E6EEF9"/>
              </a:solidFill>
              <a:latin typeface="微软雅黑" panose="020B0503020204020204" charset="-122"/>
              <a:ea typeface="微软雅黑" panose="020B0503020204020204" charset="-122"/>
            </a:endParaRPr>
          </a:p>
        </p:txBody>
      </p:sp>
      <p:sp>
        <p:nvSpPr>
          <p:cNvPr id="6" name="矩形 5"/>
          <p:cNvSpPr/>
          <p:nvPr/>
        </p:nvSpPr>
        <p:spPr>
          <a:xfrm>
            <a:off x="609600" y="3448050"/>
            <a:ext cx="609600" cy="38100"/>
          </a:xfrm>
          <a:prstGeom prst="rect">
            <a:avLst/>
          </a:prstGeom>
          <a:solidFill>
            <a:srgbClr val="22D3EE"/>
          </a:solidFill>
        </p:spPr>
        <p:txBody>
          <a:bodyPr/>
          <a:p/>
        </p:txBody>
      </p:sp>
      <p:sp>
        <p:nvSpPr>
          <p:cNvPr id="7" name="文本框 6" descr="{&quot;isTemplate&quot;:true,&quot;type&quot;:&quot;text&quot;}"/>
          <p:cNvSpPr txBox="1"/>
          <p:nvPr/>
        </p:nvSpPr>
        <p:spPr>
          <a:xfrm>
            <a:off x="609600" y="3733800"/>
            <a:ext cx="5486400" cy="447675"/>
          </a:xfrm>
          <a:prstGeom prst="rect">
            <a:avLst/>
          </a:prstGeom>
        </p:spPr>
        <p:txBody>
          <a:bodyPr wrap="none" lIns="0" tIns="0" rIns="0" bIns="0"/>
          <a:p>
            <a:pPr>
              <a:lnSpc>
                <a:spcPct val="150000"/>
              </a:lnSpc>
            </a:pPr>
            <a:r>
              <a:rPr lang="zh-CN" sz="1950">
                <a:solidFill>
                  <a:srgbClr val="E6EEF9">
                    <a:alpha val="85000"/>
                  </a:srgbClr>
                </a:solidFill>
                <a:latin typeface="微软雅黑" panose="020B0503020204020204" charset="-122"/>
                <a:ea typeface="微软雅黑" panose="020B0503020204020204" charset="-122"/>
              </a:rPr>
              <a:t>作者：余炜</a:t>
            </a:r>
            <a:r>
              <a:rPr lang="zh-CN" sz="1950">
                <a:solidFill>
                  <a:srgbClr val="E6EEF9">
                    <a:alpha val="85000"/>
                  </a:srgbClr>
                </a:solidFill>
                <a:latin typeface="微软雅黑" panose="020B0503020204020204" charset="-122"/>
                <a:ea typeface="微软雅黑" panose="020B0503020204020204" charset="-122"/>
              </a:rPr>
              <a:t>煜</a:t>
            </a:r>
            <a:endParaRPr lang="zh-CN" sz="1950">
              <a:solidFill>
                <a:srgbClr val="E6EEF9">
                  <a:alpha val="85000"/>
                </a:srgbClr>
              </a:solidFill>
              <a:latin typeface="微软雅黑" panose="020B0503020204020204" charset="-122"/>
              <a:ea typeface="微软雅黑" panose="020B0503020204020204" charset="-122"/>
            </a:endParaRPr>
          </a:p>
        </p:txBody>
      </p:sp>
      <p:sp>
        <p:nvSpPr>
          <p:cNvPr id="8" name="文本框 7" descr="{&quot;isTemplate&quot;:true,&quot;type&quot;:&quot;text&quot;}"/>
          <p:cNvSpPr txBox="1"/>
          <p:nvPr/>
        </p:nvSpPr>
        <p:spPr>
          <a:xfrm>
            <a:off x="609600" y="4543425"/>
            <a:ext cx="5486400" cy="1114425"/>
          </a:xfrm>
          <a:prstGeom prst="rect">
            <a:avLst/>
          </a:prstGeom>
        </p:spPr>
        <p:txBody>
          <a:bodyPr wrap="none" lIns="0" tIns="0" rIns="0" bIns="0"/>
          <a:p>
            <a:pPr>
              <a:lnSpc>
                <a:spcPct val="180000"/>
              </a:lnSpc>
            </a:pPr>
            <a:r>
              <a:rPr lang="en-US" sz="1350">
                <a:solidFill>
                  <a:srgbClr val="E6EEF9">
                    <a:alpha val="55000"/>
                  </a:srgbClr>
                </a:solidFill>
                <a:latin typeface="微软雅黑" panose="020B0503020204020204" charset="-122"/>
                <a:ea typeface="微软雅黑" panose="020B0503020204020204" charset="-122"/>
              </a:rPr>
              <a:t>15 层 · 3 梯 · 700 人</a:t>
            </a:r>
            <a:endParaRPr lang="zh-CN" sz="1350">
              <a:solidFill>
                <a:srgbClr val="E6EEF9">
                  <a:alpha val="55000"/>
                </a:srgbClr>
              </a:solidFill>
              <a:latin typeface="微软雅黑" panose="020B0503020204020204" charset="-122"/>
              <a:ea typeface="微软雅黑" panose="020B0503020204020204" charset="-122"/>
            </a:endParaRPr>
          </a:p>
          <a:p>
            <a:pPr>
              <a:lnSpc>
                <a:spcPct val="180000"/>
              </a:lnSpc>
            </a:pPr>
            <a:r>
              <a:rPr lang="en-US" sz="1350">
                <a:solidFill>
                  <a:srgbClr val="E6EEF9">
                    <a:alpha val="55000"/>
                  </a:srgbClr>
                </a:solidFill>
                <a:latin typeface="微软雅黑" panose="020B0503020204020204" charset="-122"/>
                <a:ea typeface="微软雅黑" panose="020B0503020204020204" charset="-122"/>
              </a:rPr>
              <a:t>20 组随机种子 · 重复仿真实验</a:t>
            </a:r>
            <a:endParaRPr lang="zh-CN" sz="1350">
              <a:solidFill>
                <a:srgbClr val="E6EEF9">
                  <a:alpha val="55000"/>
                </a:srgbClr>
              </a:solidFill>
              <a:latin typeface="微软雅黑" panose="020B0503020204020204" charset="-122"/>
              <a:ea typeface="微软雅黑" panose="020B0503020204020204" charset="-122"/>
            </a:endParaRPr>
          </a:p>
          <a:p>
            <a:pPr>
              <a:lnSpc>
                <a:spcPct val="180000"/>
              </a:lnSpc>
            </a:pPr>
            <a:r>
              <a:rPr lang="zh-CN" sz="1350">
                <a:solidFill>
                  <a:srgbClr val="E6EEF9">
                    <a:alpha val="55000"/>
                  </a:srgbClr>
                </a:solidFill>
                <a:latin typeface="微软雅黑" panose="020B0503020204020204" charset="-122"/>
                <a:ea typeface="微软雅黑" panose="020B0503020204020204" charset="-122"/>
              </a:rPr>
              <a:t>项目汇报</a:t>
            </a:r>
            <a:endParaRPr lang="zh-CN" sz="1350">
              <a:solidFill>
                <a:srgbClr val="E6EEF9">
                  <a:alpha val="55000"/>
                </a:srgbClr>
              </a:solidFill>
              <a:latin typeface="微软雅黑" panose="020B0503020204020204" charset="-122"/>
              <a:ea typeface="微软雅黑" panose="020B0503020204020204" charset="-122"/>
            </a:endParaRPr>
          </a:p>
        </p:txBody>
      </p:sp>
      <p:pic>
        <p:nvPicPr>
          <p:cNvPr id="9" name="图片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600" y="6229350"/>
            <a:ext cx="209550" cy="209550"/>
          </a:xfrm>
          <a:prstGeom prst="rect">
            <a:avLst/>
          </a:prstGeom>
        </p:spPr>
      </p:pic>
      <p:sp>
        <p:nvSpPr>
          <p:cNvPr id="10" name="文本框 9" descr="{&quot;isTemplate&quot;:true,&quot;type&quot;:&quot;text&quot;}"/>
          <p:cNvSpPr txBox="1"/>
          <p:nvPr/>
        </p:nvSpPr>
        <p:spPr>
          <a:xfrm>
            <a:off x="933450" y="6257925"/>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17"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defs&gt;&#10;            &lt;rect width='1280' height='720' fill='url(#grid)' /&gt;&#10;        &lt;/svg&gt;&#10;    &lt;/Box&gt;&#10;&#10;    &lt;Box style={{ position: 'relative', zIndex: 1, height: 84, display: 'flex', flexDirection: 'column' }}&gt;&#10;        &lt;Text style={{ fontSize: 14, color: '#22D3EE', letterSpacing: 3, fontFamily: 'Segoe UI' }}&gt;CONTENTS&lt;/Text&gt;&#10;        &lt;Box style={{ height: 8 }} /&gt;&#10;        &lt;Text style={{ fontSize: 32, fontWeight: 'bold', color: '#E6EEF9' }}&gt;目录&lt;/Text&gt;&#10;        &lt;Box style={{ height: 10 }} /&gt;&#10;        &lt;Box style={{ width: '56px', height: '3px', background: '#22D3EE' }} /&gt;&#10;    &lt;/Box&gt;&#10;&#10;    &lt;Box style={{ position: 'relative', zIndex: 1, height: 520, marginTop: 16, flexDirection: 'row', gap: 24 }}&gt;&#10;        &lt;Box style={{ width: '300px', display: 'flex', flexDirection: 'column' }}&gt;&#10;            &lt;Text style={{ fontSize: 20, color: '#E6EEF9', opacity: 0.66, lineHeight: 1.7 }}&gt;&#10;                一次完整的推演：先确认问题真实存在，再让它变得可测量，然后提出改造，最后用 1000 次实验去检验改造究竟省下了什么。&#10;            &lt;/Text&gt;&#10;            &lt;Box style={{ marginTop: 'auto', flexDirection: 'row', alignItems: 'center', gap: 10 }}&gt;&#10;                &lt;Box style={{ width: '22px', height: '22px' }}&gt;&#10;                    &lt;svg width={22} height={22} viewBox='0 0 22 22'&gt;&#10;                        &lt;rect x='2' y='3' width='4' height='16' fill='#22D3EE' fillOpacity='0.9' /&gt;&#10;                        &lt;rect x='9' y='3' width='4' height='16' fill='#22D3EE' fillOpacity='0.5' /&gt;&#10;                        &lt;rect x='16' y='3' width='4' height='16' fill='#22D3EE' fillOpacity='0.25' /&gt;&#10;                    &lt;/svg&gt;&#10;                &lt;/Box&gt;&#10;                &lt;Text style={{ fontSize: 14, color: '#E6EEF9', opacity: 0.45 }}&gt;红豆斋 · 15 层 · 3 梯&lt;/Text&gt;&#10;            &lt;/Box&gt;&#10;        &lt;/Box&gt;&#10;&#10;        &lt;Box style={{ flex: 1, display: 'flex', flexDirection: 'column', gap: 12 }}&gt;&#10;            &lt;Box&#10;                style={{&#10;                    height: 120,&#10;                    flexDirection: 'row',&#10;                    alignItems: 'center',&#10;                    gap: 26,&#10;                    padding: '0px 26px',&#10;                    background: 'rgba(59,130,246,0.10)',&#10;                    border: '1px solid rgba(59,130,246,0.24)',&#10;                    borderRadius: 10,&#10;                }}&#10;            &gt;&#10;                &lt;Text style={{ fontSize: 44, fontWeight: 'bold', color: '#22D3EE', opacity: 0.85, fontFamily: 'Segoe UI', width: '76px' }}&gt;01&lt;/Text&gt;&#10;                &lt;Box style={{ flex: 1 }}&gt;&#10;                    &lt;Text style={{ fontSize: 24, fontWeight: 'bold', color: '#E6EEF9' }}&gt;困局 · 电梯为什么不听话&lt;/Text&gt;&#10;                    &lt;Box style={{ height: 8 }} /&gt;&#10;                    &lt;Text style={{ fontSize: 17, color: '#E6EEF9', opacity: 0.62, lineHeight: 1.5 }}&gt;&#10;                        从四个每天发生的抱怨出发，确认「慢」是系统性问题而非运气问题&#10;                    &lt;/Text&gt;&#10;                &lt;/Box&gt;&#10;                &lt;Text style={{ fontSize: 16, color: '#E6EEF9', opacity: 0.45, fontFamily: 'Segoe UI', width: '72px', textAlign: 'right' }}&gt;03–05&lt;/Text&gt;&#10;            &lt;/Box&gt;&#10;&#10;            &lt;Box&#10;                style={{&#10;                    height: 120,&#10;                    flexDirection: 'row',&#10;                    alignItems: 'center',&#10;                    gap: 26,&#10;                    padding: '0px 26px',&#10;                    background: 'rgba(59,130,246,0.10)',&#10;                    border: '1px solid rgba(59,130,246,0.24)',&#10;                    borderRadius: 10,&#10;                }}&#10;            &gt;&#10;                &lt;Text style={{ fontSize: 44, fontWeight: 'bold', color: '#22D3EE', opacity: 0.7, fontFamily: 'Segoe UI', width: '76px' }}&gt;02&lt;/Text&gt;&#10;                &lt;Box style={{ flex: 1 }}&gt;&#10;                    &lt;Text style={{ fontSize: 24, fontWeight: 'bold', color: '#E6EEF9' }}&gt;建模 · 把一栋宿舍搬进计算机&lt;/Text&gt;&#10;                    &lt;Box style={{ height: 8 }} /&gt;&#10;                    &lt;Text style={{ fontSize: 17, color: '#E6EEF9', opacity: 0.62, lineHeight: 1.5 }}&gt;&#10;                        真实楼宇参数 + 学长学弟两类行为，把不可控的抱怨变成可计算的指标&#10;                    &lt;/Text&gt;&#10;                &lt;/Box&gt;&#10;                &lt;Text style={{ fontSize: 16, color: '#E6EEF9', opacity: 0.45, fontFamily: 'Segoe UI', width: '72px', textAlign: 'right' }}&gt;06–09&lt;/Text&gt;&#10;            &lt;/Box&gt;&#10;&#10;            &lt;Box&#10;                style={{&#10;                    height: 120,&#10;                    flexDirection: 'row',&#10;                    alignItems: 'center',&#10;                    gap: 26,&#10;                    padding: '0px 26px',&#10;                    background: 'rgba(59,130,246,0.10)',&#10;                    border: '1px solid rgba(59,130,246,0.24)',&#10;                    borderRadius: 10,&#10;                }}&#10;            &gt;&#10;                &lt;Text style={{ fontSize: 44, fontWeight: 'bold', color: '#22D3EE', opacity: 0.55, fontFamily: 'Segoe UI', width: '76px' }}&gt;03&lt;/Text&gt;&#10;                &lt;Box style={{ flex: 1 }}&gt;&#10;                    &lt;Text style={{ fontSize: 24, fontWeight: 'bold', color: '#E6EEF9' }}&gt;构想 · 让电梯学会思考&lt;/Text&gt;&#10;                    &lt;Box style={{ height: 8 }} /&gt;&#10;                    &lt;Text style={{ fontSize: 17, color: '#E6EEF9', opacity: 0.62, lineHeight: 1.5 }}&gt;&#10;                        感知、决策、交互三层改造，把「按哪个按钮」的选择权从人交给系统&#10;                    &lt;/Text&gt;&#10;                &lt;/Box&gt;&#10;                &lt;Text style={{ fontSize: 16, color: '#E6EEF9', opacity: 0.45, fontFamily: 'Segoe UI', width: '72px', textAlign: 'right' }}&gt;10–13&lt;/Text&gt;&#10;            &lt;/Box&gt;&#10;&#10;            &lt;Box&#10;                style={{&#10;                    height: 120,&#10;                    flexDirection: 'row',&#10;                    alignItems: 'center',&#10;                    gap: 26,&#10;                    padding: '0px 26px',&#10;                    background: 'rgba(34,211,238,0.10)',&#10;                    border: '1px solid rgba(34,211,238,0.30)',&#10;                    borderRadius: 10,&#10;                }}&#10;            &gt;&#10;                &lt;Text style={{ fontSize: 44, fontWeight: 'bold', color: '#22D3EE', opacity: 0.4, fontFamily: 'Segoe UI', width: '76px' }}&gt;04&lt;/Text&gt;&#10;                &lt;Box style={{ flex: 1 }}&gt;&#10;                    &lt;Text style={{ fontSize: 24, fontWeight: 'bold', color: '#E6EEF9' }}&gt;验证 · 数据怎么说&lt;/Text&gt;&#10;                    &lt;Box style={{ height: 8 }} /&gt;&#10;                    &lt;Text style={{ fontSize: 17, color: '#E6EEF9', opacity: 0.62, lineHeight: 1.5 }}&gt;&#10;                        1000 次独立重复实验，如实呈现收益，也如实呈现代价&#10;                    &lt;/Text&gt;&#10;                &lt;/Box&gt;&#10;                &lt;Text style={{ fontSize: 16, color: '#E6EEF9', opacity: 0.45, fontFamily: 'Segoe UI', width: '72px', textAlign: 'right' }}&gt;14–17&lt;/Text&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02 / 18&lt;/Text&gt;&#10;    &lt;/Box&gt;&#10;&lt;/Slide&gt;&#10;"/>
        <p:cNvGrpSpPr/>
        <p:nvPr/>
      </p:nvGrpSpPr>
      <p:grpSpPr>
        <a:xfrm>
          <a:off x="0" y="0"/>
          <a:ext cx="0" cy="0"/>
          <a:chOff x="0" y="0"/>
          <a:chExt cx="0" cy="0"/>
        </a:xfrm>
      </p:grpSpPr>
      <p:sp>
        <p:nvSpPr>
          <p:cNvPr id="318" name="矩形 317"/>
          <p:cNvSpPr/>
          <p:nvPr/>
        </p:nvSpPr>
        <p:spPr>
          <a:xfrm>
            <a:off x="0" y="0"/>
            <a:ext cx="12192000" cy="6858000"/>
          </a:xfrm>
          <a:prstGeom prst="rect">
            <a:avLst/>
          </a:prstGeom>
          <a:solidFill>
            <a:srgbClr val="0A1424"/>
          </a:solidFill>
        </p:spPr>
        <p:txBody>
          <a:bodyPr/>
          <a:p/>
        </p:txBody>
      </p:sp>
      <p:pic>
        <p:nvPicPr>
          <p:cNvPr id="319" name="图片 31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20" name="文本框 319"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CONTENTS</a:t>
            </a:r>
            <a:endParaRPr lang="en-US" sz="1050" spc="225">
              <a:solidFill>
                <a:srgbClr val="22D3EE"/>
              </a:solidFill>
              <a:latin typeface="Segoe UI" panose="020B0502040204020203"/>
              <a:ea typeface="Segoe UI" panose="020B0502040204020203"/>
            </a:endParaRPr>
          </a:p>
        </p:txBody>
      </p:sp>
      <p:sp>
        <p:nvSpPr>
          <p:cNvPr id="321" name="文本框 320"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目录</a:t>
            </a:r>
            <a:endParaRPr lang="zh-CN" sz="2400" b="1">
              <a:solidFill>
                <a:srgbClr val="E6EEF9"/>
              </a:solidFill>
              <a:latin typeface="微软雅黑" panose="020B0503020204020204" charset="-122"/>
              <a:ea typeface="微软雅黑" panose="020B0503020204020204" charset="-122"/>
            </a:endParaRPr>
          </a:p>
        </p:txBody>
      </p:sp>
      <p:sp>
        <p:nvSpPr>
          <p:cNvPr id="322" name="矩形 321"/>
          <p:cNvSpPr/>
          <p:nvPr/>
        </p:nvSpPr>
        <p:spPr>
          <a:xfrm>
            <a:off x="609600" y="1009650"/>
            <a:ext cx="533400" cy="28575"/>
          </a:xfrm>
          <a:prstGeom prst="rect">
            <a:avLst/>
          </a:prstGeom>
          <a:solidFill>
            <a:srgbClr val="22D3EE"/>
          </a:solidFill>
        </p:spPr>
        <p:txBody>
          <a:bodyPr/>
          <a:p/>
        </p:txBody>
      </p:sp>
      <p:pic>
        <p:nvPicPr>
          <p:cNvPr id="323" name="图片 32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600" y="6000750"/>
            <a:ext cx="209550" cy="209550"/>
          </a:xfrm>
          <a:prstGeom prst="rect">
            <a:avLst/>
          </a:prstGeom>
        </p:spPr>
      </p:pic>
      <p:sp>
        <p:nvSpPr>
          <p:cNvPr id="324" name="圆角矩形 323"/>
          <p:cNvSpPr/>
          <p:nvPr>
            <p:custDataLst>
              <p:tags r:id="rId5"/>
            </p:custDataLst>
          </p:nvPr>
        </p:nvSpPr>
        <p:spPr>
          <a:xfrm>
            <a:off x="3695700" y="1257300"/>
            <a:ext cx="7886700" cy="1143000"/>
          </a:xfrm>
          <a:prstGeom prst="roundRect">
            <a:avLst>
              <a:gd name="adj" fmla="val 8333"/>
            </a:avLst>
          </a:prstGeom>
          <a:solidFill>
            <a:srgbClr val="3B82F6">
              <a:alpha val="10000"/>
            </a:srgbClr>
          </a:solidFill>
          <a:ln w="12700">
            <a:solidFill>
              <a:srgbClr val="3B82F6">
                <a:alpha val="24000"/>
              </a:srgbClr>
            </a:solidFill>
            <a:prstDash val="solid"/>
          </a:ln>
        </p:spPr>
        <p:txBody>
          <a:bodyPr/>
          <a:p/>
        </p:txBody>
      </p:sp>
      <p:sp>
        <p:nvSpPr>
          <p:cNvPr id="325" name="文本框 324" descr="{&quot;isTemplate&quot;:true,&quot;type&quot;:&quot;text&quot;}"/>
          <p:cNvSpPr txBox="1"/>
          <p:nvPr>
            <p:custDataLst>
              <p:tags r:id="rId6"/>
            </p:custDataLst>
          </p:nvPr>
        </p:nvSpPr>
        <p:spPr>
          <a:xfrm>
            <a:off x="4914900" y="1504950"/>
            <a:ext cx="5486400" cy="276225"/>
          </a:xfrm>
          <a:prstGeom prst="rect">
            <a:avLst/>
          </a:prstGeom>
        </p:spPr>
        <p:txBody>
          <a:bodyPr wrap="none" lIns="0" tIns="0" rIns="0" bIns="0"/>
          <a:p>
            <a:pPr>
              <a:lnSpc>
                <a:spcPct val="100000"/>
              </a:lnSpc>
            </a:pPr>
            <a:r>
              <a:rPr lang="zh-CN" sz="1800" b="1">
                <a:solidFill>
                  <a:srgbClr val="E6EEF9"/>
                </a:solidFill>
                <a:latin typeface="微软雅黑" panose="020B0503020204020204" charset="-122"/>
                <a:ea typeface="微软雅黑" panose="020B0503020204020204" charset="-122"/>
              </a:rPr>
              <a:t>困局</a:t>
            </a:r>
            <a:r>
              <a:rPr lang="en-US" sz="1800" b="1">
                <a:solidFill>
                  <a:srgbClr val="E6EEF9"/>
                </a:solidFill>
                <a:latin typeface="微软雅黑" panose="020B0503020204020204" charset="-122"/>
                <a:ea typeface="微软雅黑" panose="020B0503020204020204" charset="-122"/>
              </a:rPr>
              <a:t> · </a:t>
            </a:r>
            <a:r>
              <a:rPr lang="zh-CN" sz="1800" b="1">
                <a:solidFill>
                  <a:srgbClr val="E6EEF9"/>
                </a:solidFill>
                <a:latin typeface="微软雅黑" panose="020B0503020204020204" charset="-122"/>
                <a:ea typeface="微软雅黑" panose="020B0503020204020204" charset="-122"/>
              </a:rPr>
              <a:t>电梯为什么不听话</a:t>
            </a:r>
            <a:endParaRPr lang="zh-CN" sz="1800" b="1">
              <a:solidFill>
                <a:srgbClr val="E6EEF9"/>
              </a:solidFill>
              <a:latin typeface="微软雅黑" panose="020B0503020204020204" charset="-122"/>
              <a:ea typeface="微软雅黑" panose="020B0503020204020204" charset="-122"/>
            </a:endParaRPr>
          </a:p>
        </p:txBody>
      </p:sp>
      <p:sp>
        <p:nvSpPr>
          <p:cNvPr id="326" name="圆角矩形 325"/>
          <p:cNvSpPr/>
          <p:nvPr>
            <p:custDataLst>
              <p:tags r:id="rId7"/>
            </p:custDataLst>
          </p:nvPr>
        </p:nvSpPr>
        <p:spPr>
          <a:xfrm>
            <a:off x="3695700" y="3771900"/>
            <a:ext cx="7886700" cy="1143000"/>
          </a:xfrm>
          <a:prstGeom prst="roundRect">
            <a:avLst>
              <a:gd name="adj" fmla="val 8333"/>
            </a:avLst>
          </a:prstGeom>
          <a:solidFill>
            <a:srgbClr val="3B82F6">
              <a:alpha val="10000"/>
            </a:srgbClr>
          </a:solidFill>
          <a:ln w="12700">
            <a:solidFill>
              <a:srgbClr val="3B82F6">
                <a:alpha val="24000"/>
              </a:srgbClr>
            </a:solidFill>
            <a:prstDash val="solid"/>
          </a:ln>
        </p:spPr>
        <p:txBody>
          <a:bodyPr/>
          <a:p/>
        </p:txBody>
      </p:sp>
      <p:sp>
        <p:nvSpPr>
          <p:cNvPr id="327" name="文本框 326" descr="{&quot;isTemplate&quot;:true,&quot;type&quot;:&quot;text&quot;}"/>
          <p:cNvSpPr txBox="1"/>
          <p:nvPr>
            <p:custDataLst>
              <p:tags r:id="rId8"/>
            </p:custDataLst>
          </p:nvPr>
        </p:nvSpPr>
        <p:spPr>
          <a:xfrm>
            <a:off x="4914900" y="4055110"/>
            <a:ext cx="5486400" cy="276225"/>
          </a:xfrm>
          <a:prstGeom prst="rect">
            <a:avLst/>
          </a:prstGeom>
        </p:spPr>
        <p:txBody>
          <a:bodyPr wrap="none" lIns="0" tIns="0" rIns="0" bIns="0"/>
          <a:p>
            <a:pPr>
              <a:lnSpc>
                <a:spcPct val="100000"/>
              </a:lnSpc>
            </a:pPr>
            <a:r>
              <a:rPr lang="zh-CN" sz="1800" b="1">
                <a:solidFill>
                  <a:srgbClr val="E6EEF9"/>
                </a:solidFill>
                <a:latin typeface="微软雅黑" panose="020B0503020204020204" charset="-122"/>
                <a:ea typeface="微软雅黑" panose="020B0503020204020204" charset="-122"/>
              </a:rPr>
              <a:t>建模</a:t>
            </a:r>
            <a:r>
              <a:rPr lang="en-US" sz="1800" b="1">
                <a:solidFill>
                  <a:srgbClr val="E6EEF9"/>
                </a:solidFill>
                <a:latin typeface="微软雅黑" panose="020B0503020204020204" charset="-122"/>
                <a:ea typeface="微软雅黑" panose="020B0503020204020204" charset="-122"/>
              </a:rPr>
              <a:t> · </a:t>
            </a:r>
            <a:r>
              <a:rPr lang="zh-CN" sz="1800" b="1">
                <a:solidFill>
                  <a:srgbClr val="E6EEF9"/>
                </a:solidFill>
                <a:latin typeface="微软雅黑" panose="020B0503020204020204" charset="-122"/>
                <a:ea typeface="微软雅黑" panose="020B0503020204020204" charset="-122"/>
              </a:rPr>
              <a:t>把一栋宿舍搬进计算机</a:t>
            </a:r>
            <a:endParaRPr lang="zh-CN" sz="1800" b="1">
              <a:solidFill>
                <a:srgbClr val="E6EEF9"/>
              </a:solidFill>
              <a:latin typeface="微软雅黑" panose="020B0503020204020204" charset="-122"/>
              <a:ea typeface="微软雅黑" panose="020B0503020204020204" charset="-122"/>
            </a:endParaRPr>
          </a:p>
        </p:txBody>
      </p:sp>
      <p:sp>
        <p:nvSpPr>
          <p:cNvPr id="328" name="圆角矩形 327"/>
          <p:cNvSpPr/>
          <p:nvPr>
            <p:custDataLst>
              <p:tags r:id="rId9"/>
            </p:custDataLst>
          </p:nvPr>
        </p:nvSpPr>
        <p:spPr>
          <a:xfrm>
            <a:off x="3695700" y="5047615"/>
            <a:ext cx="7886700" cy="1143000"/>
          </a:xfrm>
          <a:prstGeom prst="roundRect">
            <a:avLst>
              <a:gd name="adj" fmla="val 8333"/>
            </a:avLst>
          </a:prstGeom>
          <a:solidFill>
            <a:srgbClr val="3B82F6">
              <a:alpha val="10000"/>
            </a:srgbClr>
          </a:solidFill>
          <a:ln w="12700">
            <a:solidFill>
              <a:srgbClr val="3B82F6">
                <a:alpha val="24000"/>
              </a:srgbClr>
            </a:solidFill>
            <a:prstDash val="solid"/>
          </a:ln>
        </p:spPr>
        <p:txBody>
          <a:bodyPr/>
          <a:p/>
        </p:txBody>
      </p:sp>
      <p:sp>
        <p:nvSpPr>
          <p:cNvPr id="329" name="文本框 328" descr="{&quot;isTemplate&quot;:true,&quot;type&quot;:&quot;text&quot;}"/>
          <p:cNvSpPr txBox="1"/>
          <p:nvPr>
            <p:custDataLst>
              <p:tags r:id="rId10"/>
            </p:custDataLst>
          </p:nvPr>
        </p:nvSpPr>
        <p:spPr>
          <a:xfrm>
            <a:off x="4914900" y="2833370"/>
            <a:ext cx="5486400" cy="276225"/>
          </a:xfrm>
          <a:prstGeom prst="rect">
            <a:avLst/>
          </a:prstGeom>
        </p:spPr>
        <p:txBody>
          <a:bodyPr wrap="none" lIns="0" tIns="0" rIns="0" bIns="0"/>
          <a:p>
            <a:pPr>
              <a:lnSpc>
                <a:spcPct val="100000"/>
              </a:lnSpc>
            </a:pPr>
            <a:r>
              <a:rPr lang="zh-CN" sz="1800" b="1">
                <a:solidFill>
                  <a:srgbClr val="E6EEF9"/>
                </a:solidFill>
                <a:latin typeface="微软雅黑" panose="020B0503020204020204" charset="-122"/>
                <a:ea typeface="微软雅黑" panose="020B0503020204020204" charset="-122"/>
              </a:rPr>
              <a:t>构想</a:t>
            </a:r>
            <a:r>
              <a:rPr lang="en-US" sz="1800" b="1">
                <a:solidFill>
                  <a:srgbClr val="E6EEF9"/>
                </a:solidFill>
                <a:latin typeface="微软雅黑" panose="020B0503020204020204" charset="-122"/>
                <a:ea typeface="微软雅黑" panose="020B0503020204020204" charset="-122"/>
              </a:rPr>
              <a:t> · </a:t>
            </a:r>
            <a:r>
              <a:rPr lang="zh-CN" sz="1800" b="1">
                <a:solidFill>
                  <a:srgbClr val="E6EEF9"/>
                </a:solidFill>
                <a:latin typeface="微软雅黑" panose="020B0503020204020204" charset="-122"/>
                <a:ea typeface="微软雅黑" panose="020B0503020204020204" charset="-122"/>
              </a:rPr>
              <a:t>让电梯学会思考</a:t>
            </a:r>
            <a:endParaRPr lang="zh-CN" sz="1800" b="1">
              <a:solidFill>
                <a:srgbClr val="E6EEF9"/>
              </a:solidFill>
              <a:latin typeface="微软雅黑" panose="020B0503020204020204" charset="-122"/>
              <a:ea typeface="微软雅黑" panose="020B0503020204020204" charset="-122"/>
            </a:endParaRPr>
          </a:p>
        </p:txBody>
      </p:sp>
      <p:sp>
        <p:nvSpPr>
          <p:cNvPr id="330" name="圆角矩形 329"/>
          <p:cNvSpPr/>
          <p:nvPr>
            <p:custDataLst>
              <p:tags r:id="rId11"/>
            </p:custDataLst>
          </p:nvPr>
        </p:nvSpPr>
        <p:spPr>
          <a:xfrm>
            <a:off x="3695700" y="2533015"/>
            <a:ext cx="7886700" cy="1143000"/>
          </a:xfrm>
          <a:prstGeom prst="roundRect">
            <a:avLst>
              <a:gd name="adj" fmla="val 8333"/>
            </a:avLst>
          </a:prstGeom>
          <a:solidFill>
            <a:srgbClr val="22D3EE">
              <a:alpha val="10000"/>
            </a:srgbClr>
          </a:solidFill>
          <a:ln w="12700">
            <a:solidFill>
              <a:srgbClr val="22D3EE">
                <a:alpha val="30000"/>
              </a:srgbClr>
            </a:solidFill>
            <a:prstDash val="solid"/>
          </a:ln>
        </p:spPr>
        <p:txBody>
          <a:bodyPr/>
          <a:p/>
        </p:txBody>
      </p:sp>
      <p:sp>
        <p:nvSpPr>
          <p:cNvPr id="331" name="文本框 330" descr="{&quot;isTemplate&quot;:true,&quot;type&quot;:&quot;text&quot;}"/>
          <p:cNvSpPr txBox="1"/>
          <p:nvPr>
            <p:custDataLst>
              <p:tags r:id="rId12"/>
            </p:custDataLst>
          </p:nvPr>
        </p:nvSpPr>
        <p:spPr>
          <a:xfrm>
            <a:off x="4914900" y="5276850"/>
            <a:ext cx="5486400" cy="276225"/>
          </a:xfrm>
          <a:prstGeom prst="rect">
            <a:avLst/>
          </a:prstGeom>
        </p:spPr>
        <p:txBody>
          <a:bodyPr wrap="none" lIns="0" tIns="0" rIns="0" bIns="0"/>
          <a:p>
            <a:pPr>
              <a:lnSpc>
                <a:spcPct val="100000"/>
              </a:lnSpc>
            </a:pPr>
            <a:r>
              <a:rPr lang="zh-CN" sz="1800" b="1">
                <a:solidFill>
                  <a:srgbClr val="E6EEF9"/>
                </a:solidFill>
                <a:latin typeface="微软雅黑" panose="020B0503020204020204" charset="-122"/>
                <a:ea typeface="微软雅黑" panose="020B0503020204020204" charset="-122"/>
              </a:rPr>
              <a:t>验证</a:t>
            </a:r>
            <a:r>
              <a:rPr lang="en-US" sz="1800" b="1">
                <a:solidFill>
                  <a:srgbClr val="E6EEF9"/>
                </a:solidFill>
                <a:latin typeface="微软雅黑" panose="020B0503020204020204" charset="-122"/>
                <a:ea typeface="微软雅黑" panose="020B0503020204020204" charset="-122"/>
              </a:rPr>
              <a:t> · </a:t>
            </a:r>
            <a:r>
              <a:rPr lang="zh-CN" sz="1800" b="1">
                <a:solidFill>
                  <a:srgbClr val="E6EEF9"/>
                </a:solidFill>
                <a:latin typeface="微软雅黑" panose="020B0503020204020204" charset="-122"/>
                <a:ea typeface="微软雅黑" panose="020B0503020204020204" charset="-122"/>
              </a:rPr>
              <a:t>数据怎么说</a:t>
            </a:r>
            <a:endParaRPr lang="zh-CN" sz="1800" b="1">
              <a:solidFill>
                <a:srgbClr val="E6EEF9"/>
              </a:solidFill>
              <a:latin typeface="微软雅黑" panose="020B0503020204020204" charset="-122"/>
              <a:ea typeface="微软雅黑" panose="020B0503020204020204" charset="-122"/>
            </a:endParaRPr>
          </a:p>
        </p:txBody>
      </p:sp>
      <p:sp>
        <p:nvSpPr>
          <p:cNvPr id="332" name="文本框 331" descr="{&quot;isTemplate&quot;:true,&quot;type&quot;:&quot;text&quot;}"/>
          <p:cNvSpPr txBox="1"/>
          <p:nvPr/>
        </p:nvSpPr>
        <p:spPr>
          <a:xfrm>
            <a:off x="609600" y="1257300"/>
            <a:ext cx="2857500" cy="1562100"/>
          </a:xfrm>
          <a:prstGeom prst="rect">
            <a:avLst/>
          </a:prstGeom>
        </p:spPr>
        <p:txBody>
          <a:bodyPr wrap="square" lIns="0" tIns="0" rIns="0" bIns="0">
            <a:normAutofit/>
          </a:bodyPr>
          <a:p>
            <a:pPr>
              <a:lnSpc>
                <a:spcPct val="170000"/>
              </a:lnSpc>
            </a:pPr>
            <a:r>
              <a:rPr lang="zh-CN" sz="1500">
                <a:solidFill>
                  <a:srgbClr val="E6EEF9">
                    <a:alpha val="66000"/>
                  </a:srgbClr>
                </a:solidFill>
                <a:latin typeface="微软雅黑" panose="020B0503020204020204" charset="-122"/>
                <a:ea typeface="微软雅黑" panose="020B0503020204020204" charset="-122"/>
              </a:rPr>
              <a:t>一次完整的推演：先确认问题真实存在，再让它变得可测量，然后提出改造，最后用 20 组重复实验去检验改造究竟省下了什么。</a:t>
            </a:r>
            <a:endParaRPr lang="zh-CN" sz="1500">
              <a:solidFill>
                <a:srgbClr val="E6EEF9">
                  <a:alpha val="66000"/>
                </a:srgbClr>
              </a:solidFill>
              <a:latin typeface="微软雅黑" panose="020B0503020204020204" charset="-122"/>
              <a:ea typeface="微软雅黑" panose="020B0503020204020204" charset="-122"/>
            </a:endParaRPr>
          </a:p>
        </p:txBody>
      </p:sp>
      <p:sp>
        <p:nvSpPr>
          <p:cNvPr id="333" name="文本框 332" descr="{&quot;isTemplate&quot;:true,&quot;type&quot;:&quot;text&quot;}"/>
          <p:cNvSpPr txBox="1"/>
          <p:nvPr/>
        </p:nvSpPr>
        <p:spPr>
          <a:xfrm>
            <a:off x="914400" y="6029325"/>
            <a:ext cx="1209675"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红豆斋</a:t>
            </a:r>
            <a:r>
              <a:rPr lang="en-US" sz="1050">
                <a:solidFill>
                  <a:srgbClr val="E6EEF9">
                    <a:alpha val="45000"/>
                  </a:srgbClr>
                </a:solidFill>
                <a:latin typeface="微软雅黑" panose="020B0503020204020204" charset="-122"/>
                <a:ea typeface="微软雅黑" panose="020B0503020204020204" charset="-122"/>
              </a:rPr>
              <a:t> · 15 </a:t>
            </a:r>
            <a:r>
              <a:rPr lang="zh-CN" sz="1050">
                <a:solidFill>
                  <a:srgbClr val="E6EEF9">
                    <a:alpha val="45000"/>
                  </a:srgbClr>
                </a:solidFill>
                <a:latin typeface="微软雅黑" panose="020B0503020204020204" charset="-122"/>
                <a:ea typeface="微软雅黑" panose="020B0503020204020204" charset="-122"/>
              </a:rPr>
              <a:t>层</a:t>
            </a:r>
            <a:r>
              <a:rPr lang="en-US" sz="1050">
                <a:solidFill>
                  <a:srgbClr val="E6EEF9">
                    <a:alpha val="45000"/>
                  </a:srgbClr>
                </a:solidFill>
                <a:latin typeface="微软雅黑" panose="020B0503020204020204" charset="-122"/>
                <a:ea typeface="微软雅黑" panose="020B0503020204020204" charset="-122"/>
              </a:rPr>
              <a:t> · 3 </a:t>
            </a:r>
            <a:r>
              <a:rPr lang="zh-CN" sz="1050">
                <a:solidFill>
                  <a:srgbClr val="E6EEF9">
                    <a:alpha val="45000"/>
                  </a:srgbClr>
                </a:solidFill>
                <a:latin typeface="微软雅黑" panose="020B0503020204020204" charset="-122"/>
                <a:ea typeface="微软雅黑" panose="020B0503020204020204" charset="-122"/>
              </a:rPr>
              <a:t>梯</a:t>
            </a:r>
            <a:endParaRPr lang="zh-CN" sz="1050">
              <a:solidFill>
                <a:srgbClr val="E6EEF9">
                  <a:alpha val="45000"/>
                </a:srgbClr>
              </a:solidFill>
              <a:latin typeface="微软雅黑" panose="020B0503020204020204" charset="-122"/>
              <a:ea typeface="微软雅黑" panose="020B0503020204020204" charset="-122"/>
            </a:endParaRPr>
          </a:p>
        </p:txBody>
      </p:sp>
      <p:sp>
        <p:nvSpPr>
          <p:cNvPr id="334" name="文本框 333" descr="{&quot;isTemplate&quot;:true,&quot;type&quot;:&quot;text&quot;}"/>
          <p:cNvSpPr txBox="1"/>
          <p:nvPr>
            <p:custDataLst>
              <p:tags r:id="rId13"/>
            </p:custDataLst>
          </p:nvPr>
        </p:nvSpPr>
        <p:spPr>
          <a:xfrm>
            <a:off x="3943350" y="1581150"/>
            <a:ext cx="723900" cy="504825"/>
          </a:xfrm>
          <a:prstGeom prst="rect">
            <a:avLst/>
          </a:prstGeom>
        </p:spPr>
        <p:txBody>
          <a:bodyPr wrap="none" lIns="0" tIns="0" rIns="0" bIns="0"/>
          <a:p>
            <a:pPr>
              <a:lnSpc>
                <a:spcPct val="100000"/>
              </a:lnSpc>
            </a:pPr>
            <a:r>
              <a:rPr lang="en-US" sz="3300" b="1">
                <a:solidFill>
                  <a:srgbClr val="22D3EE">
                    <a:alpha val="85000"/>
                  </a:srgbClr>
                </a:solidFill>
                <a:latin typeface="Segoe UI" panose="020B0502040204020203"/>
                <a:ea typeface="Segoe UI" panose="020B0502040204020203"/>
              </a:rPr>
              <a:t>01</a:t>
            </a:r>
            <a:endParaRPr lang="en-US" sz="3300" b="1">
              <a:solidFill>
                <a:srgbClr val="22D3EE">
                  <a:alpha val="85000"/>
                </a:srgbClr>
              </a:solidFill>
              <a:latin typeface="Segoe UI" panose="020B0502040204020203"/>
              <a:ea typeface="Segoe UI" panose="020B0502040204020203"/>
            </a:endParaRPr>
          </a:p>
        </p:txBody>
      </p:sp>
      <p:sp>
        <p:nvSpPr>
          <p:cNvPr id="335" name="文本框 334" descr="{&quot;isTemplate&quot;:true,&quot;type&quot;:&quot;text&quot;}"/>
          <p:cNvSpPr txBox="1"/>
          <p:nvPr>
            <p:custDataLst>
              <p:tags r:id="rId14"/>
            </p:custDataLst>
          </p:nvPr>
        </p:nvSpPr>
        <p:spPr>
          <a:xfrm>
            <a:off x="4914900" y="1857375"/>
            <a:ext cx="5486400" cy="295275"/>
          </a:xfrm>
          <a:prstGeom prst="rect">
            <a:avLst/>
          </a:prstGeom>
        </p:spPr>
        <p:txBody>
          <a:bodyPr wrap="none" lIns="0" tIns="0" rIns="0" bIns="0"/>
          <a:p>
            <a:pPr>
              <a:lnSpc>
                <a:spcPct val="150000"/>
              </a:lnSpc>
            </a:pPr>
            <a:r>
              <a:rPr lang="zh-CN" sz="1275">
                <a:solidFill>
                  <a:srgbClr val="E6EEF9">
                    <a:alpha val="62000"/>
                  </a:srgbClr>
                </a:solidFill>
                <a:latin typeface="微软雅黑" panose="020B0503020204020204" charset="-122"/>
                <a:ea typeface="微软雅黑" panose="020B0503020204020204" charset="-122"/>
              </a:rPr>
              <a:t>从四个每天发生的抱怨出发，确认「慢」是系统性问题而非运气问题</a:t>
            </a:r>
            <a:endParaRPr lang="zh-CN" sz="1275">
              <a:solidFill>
                <a:srgbClr val="E6EEF9">
                  <a:alpha val="62000"/>
                </a:srgbClr>
              </a:solidFill>
              <a:latin typeface="微软雅黑" panose="020B0503020204020204" charset="-122"/>
              <a:ea typeface="微软雅黑" panose="020B0503020204020204" charset="-122"/>
            </a:endParaRPr>
          </a:p>
        </p:txBody>
      </p:sp>
      <p:sp>
        <p:nvSpPr>
          <p:cNvPr id="336" name="文本框 335" descr="{&quot;isTemplate&quot;:true,&quot;type&quot;:&quot;text&quot;}"/>
          <p:cNvSpPr txBox="1"/>
          <p:nvPr>
            <p:custDataLst>
              <p:tags r:id="rId15"/>
            </p:custDataLst>
          </p:nvPr>
        </p:nvSpPr>
        <p:spPr>
          <a:xfrm>
            <a:off x="10648950" y="1733550"/>
            <a:ext cx="685800" cy="190500"/>
          </a:xfrm>
          <a:prstGeom prst="rect">
            <a:avLst/>
          </a:prstGeom>
        </p:spPr>
        <p:txBody>
          <a:bodyPr wrap="none" lIns="0" tIns="0" rIns="0" bIns="0"/>
          <a:p>
            <a:pPr algn="r">
              <a:lnSpc>
                <a:spcPct val="100000"/>
              </a:lnSpc>
            </a:pPr>
            <a:r>
              <a:rPr lang="en-US" sz="1200">
                <a:solidFill>
                  <a:srgbClr val="E6EEF9">
                    <a:alpha val="45000"/>
                  </a:srgbClr>
                </a:solidFill>
                <a:latin typeface="Segoe UI" panose="020B0502040204020203"/>
                <a:ea typeface="Segoe UI" panose="020B0502040204020203"/>
              </a:rPr>
              <a:t>03–05</a:t>
            </a:r>
            <a:endParaRPr lang="en-US" sz="1200">
              <a:solidFill>
                <a:srgbClr val="E6EEF9">
                  <a:alpha val="45000"/>
                </a:srgbClr>
              </a:solidFill>
              <a:latin typeface="Segoe UI" panose="020B0502040204020203"/>
              <a:ea typeface="Segoe UI" panose="020B0502040204020203"/>
            </a:endParaRPr>
          </a:p>
        </p:txBody>
      </p:sp>
      <p:sp>
        <p:nvSpPr>
          <p:cNvPr id="337" name="文本框 336" descr="{&quot;isTemplate&quot;:true,&quot;type&quot;:&quot;text&quot;}"/>
          <p:cNvSpPr txBox="1"/>
          <p:nvPr>
            <p:custDataLst>
              <p:tags r:id="rId16"/>
            </p:custDataLst>
          </p:nvPr>
        </p:nvSpPr>
        <p:spPr>
          <a:xfrm>
            <a:off x="3943350" y="2838450"/>
            <a:ext cx="723900" cy="504825"/>
          </a:xfrm>
          <a:prstGeom prst="rect">
            <a:avLst/>
          </a:prstGeom>
        </p:spPr>
        <p:txBody>
          <a:bodyPr wrap="none" lIns="0" tIns="0" rIns="0" bIns="0"/>
          <a:p>
            <a:pPr>
              <a:lnSpc>
                <a:spcPct val="100000"/>
              </a:lnSpc>
            </a:pPr>
            <a:r>
              <a:rPr lang="en-US" sz="3300" b="1">
                <a:solidFill>
                  <a:srgbClr val="22D3EE">
                    <a:alpha val="70000"/>
                  </a:srgbClr>
                </a:solidFill>
                <a:latin typeface="Segoe UI" panose="020B0502040204020203"/>
                <a:ea typeface="Segoe UI" panose="020B0502040204020203"/>
              </a:rPr>
              <a:t>02</a:t>
            </a:r>
            <a:endParaRPr lang="en-US" sz="3300" b="1">
              <a:solidFill>
                <a:srgbClr val="22D3EE">
                  <a:alpha val="70000"/>
                </a:srgbClr>
              </a:solidFill>
              <a:latin typeface="Segoe UI" panose="020B0502040204020203"/>
              <a:ea typeface="Segoe UI" panose="020B0502040204020203"/>
            </a:endParaRPr>
          </a:p>
        </p:txBody>
      </p:sp>
      <p:sp>
        <p:nvSpPr>
          <p:cNvPr id="338" name="文本框 337" descr="{&quot;isTemplate&quot;:true,&quot;type&quot;:&quot;text&quot;}"/>
          <p:cNvSpPr txBox="1"/>
          <p:nvPr>
            <p:custDataLst>
              <p:tags r:id="rId17"/>
            </p:custDataLst>
          </p:nvPr>
        </p:nvSpPr>
        <p:spPr>
          <a:xfrm>
            <a:off x="4914900" y="4445635"/>
            <a:ext cx="5486400" cy="295275"/>
          </a:xfrm>
          <a:prstGeom prst="rect">
            <a:avLst/>
          </a:prstGeom>
        </p:spPr>
        <p:txBody>
          <a:bodyPr wrap="none" lIns="0" tIns="0" rIns="0" bIns="0"/>
          <a:p>
            <a:pPr>
              <a:lnSpc>
                <a:spcPct val="150000"/>
              </a:lnSpc>
            </a:pPr>
            <a:r>
              <a:rPr lang="zh-CN" sz="1275">
                <a:solidFill>
                  <a:srgbClr val="E6EEF9">
                    <a:alpha val="62000"/>
                  </a:srgbClr>
                </a:solidFill>
                <a:latin typeface="微软雅黑" panose="020B0503020204020204" charset="-122"/>
                <a:ea typeface="微软雅黑" panose="020B0503020204020204" charset="-122"/>
              </a:rPr>
              <a:t>真实楼宇参数</a:t>
            </a:r>
            <a:r>
              <a:rPr lang="en-US" sz="1275">
                <a:solidFill>
                  <a:srgbClr val="E6EEF9">
                    <a:alpha val="62000"/>
                  </a:srgbClr>
                </a:solidFill>
                <a:latin typeface="微软雅黑" panose="020B0503020204020204" charset="-122"/>
                <a:ea typeface="微软雅黑" panose="020B0503020204020204" charset="-122"/>
              </a:rPr>
              <a:t> + </a:t>
            </a:r>
            <a:r>
              <a:rPr lang="zh-CN" sz="1275">
                <a:solidFill>
                  <a:srgbClr val="E6EEF9">
                    <a:alpha val="62000"/>
                  </a:srgbClr>
                </a:solidFill>
                <a:latin typeface="微软雅黑" panose="020B0503020204020204" charset="-122"/>
                <a:ea typeface="微软雅黑" panose="020B0503020204020204" charset="-122"/>
              </a:rPr>
              <a:t>行为模式</a:t>
            </a:r>
            <a:r>
              <a:rPr lang="zh-CN" sz="1275">
                <a:solidFill>
                  <a:srgbClr val="E6EEF9">
                    <a:alpha val="62000"/>
                  </a:srgbClr>
                </a:solidFill>
                <a:latin typeface="微软雅黑" panose="020B0503020204020204" charset="-122"/>
                <a:ea typeface="微软雅黑" panose="020B0503020204020204" charset="-122"/>
              </a:rPr>
              <a:t>研究，把不可控的抱怨变成可计算的指标</a:t>
            </a:r>
            <a:endParaRPr lang="zh-CN" sz="1275">
              <a:solidFill>
                <a:srgbClr val="E6EEF9">
                  <a:alpha val="62000"/>
                </a:srgbClr>
              </a:solidFill>
              <a:latin typeface="微软雅黑" panose="020B0503020204020204" charset="-122"/>
              <a:ea typeface="微软雅黑" panose="020B0503020204020204" charset="-122"/>
            </a:endParaRPr>
          </a:p>
        </p:txBody>
      </p:sp>
      <p:sp>
        <p:nvSpPr>
          <p:cNvPr id="339" name="文本框 338" descr="{&quot;isTemplate&quot;:true,&quot;type&quot;:&quot;text&quot;}"/>
          <p:cNvSpPr txBox="1"/>
          <p:nvPr>
            <p:custDataLst>
              <p:tags r:id="rId18"/>
            </p:custDataLst>
          </p:nvPr>
        </p:nvSpPr>
        <p:spPr>
          <a:xfrm>
            <a:off x="10648950" y="2990850"/>
            <a:ext cx="685800" cy="190500"/>
          </a:xfrm>
          <a:prstGeom prst="rect">
            <a:avLst/>
          </a:prstGeom>
        </p:spPr>
        <p:txBody>
          <a:bodyPr wrap="none" lIns="0" tIns="0" rIns="0" bIns="0"/>
          <a:p>
            <a:pPr algn="r">
              <a:lnSpc>
                <a:spcPct val="100000"/>
              </a:lnSpc>
            </a:pPr>
            <a:r>
              <a:rPr lang="en-US" sz="1200">
                <a:solidFill>
                  <a:srgbClr val="E6EEF9">
                    <a:alpha val="45000"/>
                  </a:srgbClr>
                </a:solidFill>
                <a:latin typeface="Segoe UI" panose="020B0502040204020203"/>
                <a:ea typeface="Segoe UI" panose="020B0502040204020203"/>
              </a:rPr>
              <a:t>06–09</a:t>
            </a:r>
            <a:endParaRPr lang="en-US" sz="1200">
              <a:solidFill>
                <a:srgbClr val="E6EEF9">
                  <a:alpha val="45000"/>
                </a:srgbClr>
              </a:solidFill>
              <a:latin typeface="Segoe UI" panose="020B0502040204020203"/>
              <a:ea typeface="Segoe UI" panose="020B0502040204020203"/>
            </a:endParaRPr>
          </a:p>
        </p:txBody>
      </p:sp>
      <p:sp>
        <p:nvSpPr>
          <p:cNvPr id="340" name="文本框 339" descr="{&quot;isTemplate&quot;:true,&quot;type&quot;:&quot;text&quot;}"/>
          <p:cNvSpPr txBox="1"/>
          <p:nvPr>
            <p:custDataLst>
              <p:tags r:id="rId19"/>
            </p:custDataLst>
          </p:nvPr>
        </p:nvSpPr>
        <p:spPr>
          <a:xfrm>
            <a:off x="3943350" y="4095750"/>
            <a:ext cx="723900" cy="504825"/>
          </a:xfrm>
          <a:prstGeom prst="rect">
            <a:avLst/>
          </a:prstGeom>
        </p:spPr>
        <p:txBody>
          <a:bodyPr wrap="none" lIns="0" tIns="0" rIns="0" bIns="0"/>
          <a:p>
            <a:pPr>
              <a:lnSpc>
                <a:spcPct val="100000"/>
              </a:lnSpc>
            </a:pPr>
            <a:r>
              <a:rPr lang="en-US" sz="3300" b="1">
                <a:solidFill>
                  <a:srgbClr val="22D3EE">
                    <a:alpha val="55000"/>
                  </a:srgbClr>
                </a:solidFill>
                <a:latin typeface="Segoe UI" panose="020B0502040204020203"/>
                <a:ea typeface="Segoe UI" panose="020B0502040204020203"/>
              </a:rPr>
              <a:t>03</a:t>
            </a:r>
            <a:endParaRPr lang="en-US" sz="3300" b="1">
              <a:solidFill>
                <a:srgbClr val="22D3EE">
                  <a:alpha val="55000"/>
                </a:srgbClr>
              </a:solidFill>
              <a:latin typeface="Segoe UI" panose="020B0502040204020203"/>
              <a:ea typeface="Segoe UI" panose="020B0502040204020203"/>
            </a:endParaRPr>
          </a:p>
        </p:txBody>
      </p:sp>
      <p:sp>
        <p:nvSpPr>
          <p:cNvPr id="341" name="文本框 340" descr="{&quot;isTemplate&quot;:true,&quot;type&quot;:&quot;text&quot;}"/>
          <p:cNvSpPr txBox="1"/>
          <p:nvPr>
            <p:custDataLst>
              <p:tags r:id="rId20"/>
            </p:custDataLst>
          </p:nvPr>
        </p:nvSpPr>
        <p:spPr>
          <a:xfrm>
            <a:off x="4895850" y="3151505"/>
            <a:ext cx="5486400" cy="295275"/>
          </a:xfrm>
          <a:prstGeom prst="rect">
            <a:avLst/>
          </a:prstGeom>
        </p:spPr>
        <p:txBody>
          <a:bodyPr wrap="none" lIns="0" tIns="0" rIns="0" bIns="0"/>
          <a:p>
            <a:pPr>
              <a:lnSpc>
                <a:spcPct val="150000"/>
              </a:lnSpc>
            </a:pPr>
            <a:r>
              <a:rPr lang="zh-CN" sz="1275">
                <a:solidFill>
                  <a:srgbClr val="E6EEF9">
                    <a:alpha val="62000"/>
                  </a:srgbClr>
                </a:solidFill>
                <a:latin typeface="微软雅黑" panose="020B0503020204020204" charset="-122"/>
                <a:ea typeface="微软雅黑" panose="020B0503020204020204" charset="-122"/>
              </a:rPr>
              <a:t>感知、决策、交互三层改造，把「按哪个按钮」的选择权从人交给系统</a:t>
            </a:r>
            <a:endParaRPr lang="zh-CN" sz="1275">
              <a:solidFill>
                <a:srgbClr val="E6EEF9">
                  <a:alpha val="62000"/>
                </a:srgbClr>
              </a:solidFill>
              <a:latin typeface="微软雅黑" panose="020B0503020204020204" charset="-122"/>
              <a:ea typeface="微软雅黑" panose="020B0503020204020204" charset="-122"/>
            </a:endParaRPr>
          </a:p>
        </p:txBody>
      </p:sp>
      <p:sp>
        <p:nvSpPr>
          <p:cNvPr id="342" name="文本框 341" descr="{&quot;isTemplate&quot;:true,&quot;type&quot;:&quot;text&quot;}"/>
          <p:cNvSpPr txBox="1"/>
          <p:nvPr>
            <p:custDataLst>
              <p:tags r:id="rId21"/>
            </p:custDataLst>
          </p:nvPr>
        </p:nvSpPr>
        <p:spPr>
          <a:xfrm>
            <a:off x="10648950" y="4248150"/>
            <a:ext cx="685800" cy="190500"/>
          </a:xfrm>
          <a:prstGeom prst="rect">
            <a:avLst/>
          </a:prstGeom>
        </p:spPr>
        <p:txBody>
          <a:bodyPr wrap="none" lIns="0" tIns="0" rIns="0" bIns="0"/>
          <a:p>
            <a:pPr algn="r">
              <a:lnSpc>
                <a:spcPct val="100000"/>
              </a:lnSpc>
            </a:pPr>
            <a:r>
              <a:rPr lang="en-US" sz="1200">
                <a:solidFill>
                  <a:srgbClr val="E6EEF9">
                    <a:alpha val="45000"/>
                  </a:srgbClr>
                </a:solidFill>
                <a:latin typeface="Segoe UI" panose="020B0502040204020203"/>
                <a:ea typeface="Segoe UI" panose="020B0502040204020203"/>
              </a:rPr>
              <a:t>10–13</a:t>
            </a:r>
            <a:endParaRPr lang="en-US" sz="1200">
              <a:solidFill>
                <a:srgbClr val="E6EEF9">
                  <a:alpha val="45000"/>
                </a:srgbClr>
              </a:solidFill>
              <a:latin typeface="Segoe UI" panose="020B0502040204020203"/>
              <a:ea typeface="Segoe UI" panose="020B0502040204020203"/>
            </a:endParaRPr>
          </a:p>
        </p:txBody>
      </p:sp>
      <p:sp>
        <p:nvSpPr>
          <p:cNvPr id="343" name="文本框 342" descr="{&quot;isTemplate&quot;:true,&quot;type&quot;:&quot;text&quot;}"/>
          <p:cNvSpPr txBox="1"/>
          <p:nvPr>
            <p:custDataLst>
              <p:tags r:id="rId22"/>
            </p:custDataLst>
          </p:nvPr>
        </p:nvSpPr>
        <p:spPr>
          <a:xfrm>
            <a:off x="3943350" y="5353050"/>
            <a:ext cx="723900" cy="504825"/>
          </a:xfrm>
          <a:prstGeom prst="rect">
            <a:avLst/>
          </a:prstGeom>
        </p:spPr>
        <p:txBody>
          <a:bodyPr wrap="none" lIns="0" tIns="0" rIns="0" bIns="0"/>
          <a:p>
            <a:pPr>
              <a:lnSpc>
                <a:spcPct val="100000"/>
              </a:lnSpc>
            </a:pPr>
            <a:r>
              <a:rPr lang="en-US" sz="3300" b="1">
                <a:solidFill>
                  <a:srgbClr val="22D3EE">
                    <a:alpha val="40000"/>
                  </a:srgbClr>
                </a:solidFill>
                <a:latin typeface="Segoe UI" panose="020B0502040204020203"/>
                <a:ea typeface="Segoe UI" panose="020B0502040204020203"/>
              </a:rPr>
              <a:t>04</a:t>
            </a:r>
            <a:endParaRPr lang="en-US" sz="3300" b="1">
              <a:solidFill>
                <a:srgbClr val="22D3EE">
                  <a:alpha val="40000"/>
                </a:srgbClr>
              </a:solidFill>
              <a:latin typeface="Segoe UI" panose="020B0502040204020203"/>
              <a:ea typeface="Segoe UI" panose="020B0502040204020203"/>
            </a:endParaRPr>
          </a:p>
        </p:txBody>
      </p:sp>
      <p:sp>
        <p:nvSpPr>
          <p:cNvPr id="344" name="文本框 343" descr="{&quot;isTemplate&quot;:true,&quot;type&quot;:&quot;text&quot;}"/>
          <p:cNvSpPr txBox="1"/>
          <p:nvPr>
            <p:custDataLst>
              <p:tags r:id="rId23"/>
            </p:custDataLst>
          </p:nvPr>
        </p:nvSpPr>
        <p:spPr>
          <a:xfrm>
            <a:off x="4914900" y="5629275"/>
            <a:ext cx="5486400" cy="295275"/>
          </a:xfrm>
          <a:prstGeom prst="rect">
            <a:avLst/>
          </a:prstGeom>
        </p:spPr>
        <p:txBody>
          <a:bodyPr wrap="none" lIns="0" tIns="0" rIns="0" bIns="0"/>
          <a:p>
            <a:pPr>
              <a:lnSpc>
                <a:spcPct val="150000"/>
              </a:lnSpc>
            </a:pPr>
            <a:r>
              <a:rPr lang="en-US" sz="1275">
                <a:solidFill>
                  <a:srgbClr val="E6EEF9">
                    <a:alpha val="62000"/>
                  </a:srgbClr>
                </a:solidFill>
                <a:latin typeface="微软雅黑" panose="020B0503020204020204" charset="-122"/>
                <a:ea typeface="微软雅黑" panose="020B0503020204020204" charset="-122"/>
              </a:rPr>
              <a:t>20 组重复实验，如实呈现收益，也如实呈现代价</a:t>
            </a:r>
            <a:endParaRPr lang="zh-CN" sz="1275">
              <a:solidFill>
                <a:srgbClr val="E6EEF9">
                  <a:alpha val="62000"/>
                </a:srgbClr>
              </a:solidFill>
              <a:latin typeface="微软雅黑" panose="020B0503020204020204" charset="-122"/>
              <a:ea typeface="微软雅黑" panose="020B0503020204020204" charset="-122"/>
            </a:endParaRPr>
          </a:p>
        </p:txBody>
      </p:sp>
      <p:sp>
        <p:nvSpPr>
          <p:cNvPr id="345" name="文本框 344" descr="{&quot;isTemplate&quot;:true,&quot;type&quot;:&quot;text&quot;}"/>
          <p:cNvSpPr txBox="1"/>
          <p:nvPr>
            <p:custDataLst>
              <p:tags r:id="rId24"/>
            </p:custDataLst>
          </p:nvPr>
        </p:nvSpPr>
        <p:spPr>
          <a:xfrm>
            <a:off x="10648950" y="5505450"/>
            <a:ext cx="685800" cy="190500"/>
          </a:xfrm>
          <a:prstGeom prst="rect">
            <a:avLst/>
          </a:prstGeom>
        </p:spPr>
        <p:txBody>
          <a:bodyPr wrap="none" lIns="0" tIns="0" rIns="0" bIns="0"/>
          <a:p>
            <a:pPr algn="r">
              <a:lnSpc>
                <a:spcPct val="100000"/>
              </a:lnSpc>
            </a:pPr>
            <a:r>
              <a:rPr lang="en-US" sz="1200">
                <a:solidFill>
                  <a:srgbClr val="E6EEF9">
                    <a:alpha val="45000"/>
                  </a:srgbClr>
                </a:solidFill>
                <a:latin typeface="Segoe UI" panose="020B0502040204020203"/>
                <a:ea typeface="Segoe UI" panose="020B0502040204020203"/>
              </a:rPr>
              <a:t>14–17</a:t>
            </a:r>
            <a:endParaRPr lang="en-US" sz="1200">
              <a:solidFill>
                <a:srgbClr val="E6EEF9">
                  <a:alpha val="45000"/>
                </a:srgbClr>
              </a:solidFill>
              <a:latin typeface="Segoe UI" panose="020B0502040204020203"/>
              <a:ea typeface="Segoe UI" panose="020B0502040204020203"/>
            </a:endParaRPr>
          </a:p>
        </p:txBody>
      </p:sp>
      <p:sp>
        <p:nvSpPr>
          <p:cNvPr id="346" name="任意多边形 345"/>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347" name="文本框 346"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348" name="文本框 347"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02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49"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linearGradient id='fade' x1='0' y1='0' x2='1' y2='0'&gt;&#10;                    &lt;stop offset='0%' stopColor='#3B82F6' stopOpacity='0.30' /&gt;&#10;                    &lt;stop offset='70%' stopColor='#3B82F6' stopOpacity='0.04' /&gt;&#10;                    &lt;stop offset='100%' stopColor='#3B82F6' stopOpacity='0' /&gt;&#10;                &lt;/linearGradient&gt;&#10;            &lt;/defs&gt;&#10;            &lt;path d='M0 120 H1280' stroke='url(#fade)' strokeWidth='2' /&gt;&#10;            &lt;path d='M0 176 H1280' stroke='url(#fade)' strokeWidth='2' /&gt;&#10;            &lt;path d='M0 232 H1280' stroke='url(#fade)' strokeWidth='2' /&gt;&#10;            &lt;path d='M0 288 H1280' stroke='url(#fade)' strokeWidth='2' /&gt;&#10;            &lt;path d='M0 344 H1280' stroke='url(#fade)' strokeWidth='2' /&gt;&#10;            &lt;path d='M0 400 H1280' stroke='url(#fade)' strokeWidth='2' /&gt;&#10;            &lt;path d='M0 456 H1280' stroke='url(#fade)' strokeWidth='2' /&gt;&#10;            &lt;path d='M0 512 H1280' stroke='url(#fade)' strokeWidth='2' /&gt;&#10;            &lt;path d='M0 568 H1280' stroke='url(#fade)' strokeWidth='2' /&gt;&#10;            &lt;path d='M0 624 H1280' stroke='url(#fade)' strokeWidth='2' /&gt;&#10;            &lt;path d='M320 60 V680' stroke='#22D3EE' strokeOpacity='0.10' strokeWidth='3' /&gt;&#10;            &lt;path d='M640 60 V680' stroke='#22D3EE' strokeOpacity='0.14' strokeWidth='3' /&gt;&#10;            &lt;path d='M960 60 V680' stroke='#22D3EE' strokeOpacity='0.10' strokeWidth='3' /&gt;&#10;            &lt;circle cx='320' cy='288' r='5' fill='#22D3EE' fillOpacity='0.5' /&gt;&#10;            &lt;circle cx='640' cy='456' r='5' fill='#22D3EE' fillOpacity='0.65' /&gt;&#10;            &lt;circle cx='960' cy='344' r='5' fill='#22D3EE' fillOpacity='0.4' /&gt;&#10;            &lt;circle cx='640' cy='624' r='5' fill='#22D3EE' fillOpacity='0.3' /&gt;&#10;        &lt;/svg&gt;&#10;    &lt;/Box&gt;&#10;&#10;    &lt;Box&#10;        style={{&#10;            position: 'relative',&#10;            zIndex: 1,&#10;            flex: 1,&#10;            display: 'flex',&#10;            flexDirection: 'column',&#10;            justifyContent: 'center',&#10;            padding: '0px 0px 40px 0px',&#10;        }}&#10;    &gt;&#10;        &lt;Text style={{ fontSize: 140, fontWeight: 'bold', color: '#22D3EE', opacity: 0.18, lineHeight: 1.0, fontFamily: 'Segoe UI' }}&gt;01&lt;/Text&gt;&#10;        &lt;Box style={{ height: 4 }} /&gt;&#10;        &lt;Text style={{ fontSize: 60, fontWeight: 'bold', color: '#E6EEF9', lineHeight: 1.15 }}&gt;困局 · 电梯为什么不听话&lt;/Text&gt;&#10;        &lt;Box style={{ height: 24 }} /&gt;&#10;        &lt;Box style={{ width: '88px', height: '4px', background: '#22D3EE' }} /&gt;&#10;        &lt;Box style={{ height: 28 }} /&gt;&#10;        &lt;Text style={{ fontSize: 24, color: '#E6EEF9', opacity: 0.7, lineHeight: 1.6 }}&gt;&#10;            电梯为什么不听话：四个每天都会遇到的瞬间&#10;        &lt;/Text&gt;&#10;        &lt;Box style={{ height: 34 }} /&gt;&#10;        &lt;Text style={{ fontSize: 16, color: '#E6EEF9', opacity: 0.45, letterSpacing: 3, fontFamily: 'Segoe UI' }}&gt;03 – 05&lt;/Text&gt;&#10;    &lt;/Box&gt;&#10;&lt;/Slide&gt;&#10;"/>
        <p:cNvGrpSpPr/>
        <p:nvPr/>
      </p:nvGrpSpPr>
      <p:grpSpPr>
        <a:xfrm>
          <a:off x="0" y="0"/>
          <a:ext cx="0" cy="0"/>
          <a:chOff x="0" y="0"/>
          <a:chExt cx="0" cy="0"/>
        </a:xfrm>
      </p:grpSpPr>
      <p:sp>
        <p:nvSpPr>
          <p:cNvPr id="350" name="矩形 349"/>
          <p:cNvSpPr/>
          <p:nvPr/>
        </p:nvSpPr>
        <p:spPr>
          <a:xfrm>
            <a:off x="0" y="0"/>
            <a:ext cx="12192000" cy="6858000"/>
          </a:xfrm>
          <a:prstGeom prst="rect">
            <a:avLst/>
          </a:prstGeom>
          <a:solidFill>
            <a:srgbClr val="0A1424"/>
          </a:solidFill>
        </p:spPr>
        <p:txBody>
          <a:bodyPr/>
          <a:p/>
        </p:txBody>
      </p:sp>
      <p:pic>
        <p:nvPicPr>
          <p:cNvPr id="351" name="图片 35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52" name="文本框 351" descr="{&quot;isTemplate&quot;:true,&quot;type&quot;:&quot;text&quot;}"/>
          <p:cNvSpPr txBox="1"/>
          <p:nvPr/>
        </p:nvSpPr>
        <p:spPr>
          <a:xfrm>
            <a:off x="609600" y="2952750"/>
            <a:ext cx="10972800" cy="790575"/>
          </a:xfrm>
          <a:prstGeom prst="rect">
            <a:avLst/>
          </a:prstGeom>
        </p:spPr>
        <p:txBody>
          <a:bodyPr wrap="none" lIns="0" tIns="0" rIns="0" bIns="0"/>
          <a:p>
            <a:pPr>
              <a:lnSpc>
                <a:spcPct val="115000"/>
              </a:lnSpc>
            </a:pPr>
            <a:r>
              <a:rPr lang="zh-CN" sz="4500" b="1">
                <a:solidFill>
                  <a:srgbClr val="E6EEF9"/>
                </a:solidFill>
                <a:latin typeface="微软雅黑" panose="020B0503020204020204" charset="-122"/>
                <a:ea typeface="微软雅黑" panose="020B0503020204020204" charset="-122"/>
              </a:rPr>
              <a:t>困局</a:t>
            </a:r>
            <a:r>
              <a:rPr lang="en-US" sz="4500" b="1">
                <a:solidFill>
                  <a:srgbClr val="E6EEF9"/>
                </a:solidFill>
                <a:latin typeface="微软雅黑" panose="020B0503020204020204" charset="-122"/>
                <a:ea typeface="微软雅黑" panose="020B0503020204020204" charset="-122"/>
              </a:rPr>
              <a:t> · </a:t>
            </a:r>
            <a:r>
              <a:rPr lang="zh-CN" sz="4500" b="1">
                <a:solidFill>
                  <a:srgbClr val="E6EEF9"/>
                </a:solidFill>
                <a:latin typeface="微软雅黑" panose="020B0503020204020204" charset="-122"/>
                <a:ea typeface="微软雅黑" panose="020B0503020204020204" charset="-122"/>
              </a:rPr>
              <a:t>电梯为什么不听话</a:t>
            </a:r>
            <a:endParaRPr lang="zh-CN" sz="4500" b="1">
              <a:solidFill>
                <a:srgbClr val="E6EEF9"/>
              </a:solidFill>
              <a:latin typeface="微软雅黑" panose="020B0503020204020204" charset="-122"/>
              <a:ea typeface="微软雅黑" panose="020B0503020204020204" charset="-122"/>
            </a:endParaRPr>
          </a:p>
        </p:txBody>
      </p:sp>
      <p:sp>
        <p:nvSpPr>
          <p:cNvPr id="353" name="矩形 352"/>
          <p:cNvSpPr/>
          <p:nvPr/>
        </p:nvSpPr>
        <p:spPr>
          <a:xfrm>
            <a:off x="609600" y="3971925"/>
            <a:ext cx="838200" cy="38100"/>
          </a:xfrm>
          <a:prstGeom prst="rect">
            <a:avLst/>
          </a:prstGeom>
          <a:solidFill>
            <a:srgbClr val="22D3EE"/>
          </a:solidFill>
        </p:spPr>
        <p:txBody>
          <a:bodyPr/>
          <a:p/>
        </p:txBody>
      </p:sp>
      <p:sp>
        <p:nvSpPr>
          <p:cNvPr id="354" name="文本框 353" descr="{&quot;isTemplate&quot;:true,&quot;type&quot;:&quot;text&quot;}"/>
          <p:cNvSpPr txBox="1"/>
          <p:nvPr/>
        </p:nvSpPr>
        <p:spPr>
          <a:xfrm>
            <a:off x="609600" y="1314450"/>
            <a:ext cx="10972800" cy="1600200"/>
          </a:xfrm>
          <a:prstGeom prst="rect">
            <a:avLst/>
          </a:prstGeom>
        </p:spPr>
        <p:txBody>
          <a:bodyPr wrap="none" lIns="0" tIns="0" rIns="0" bIns="0"/>
          <a:p>
            <a:pPr>
              <a:lnSpc>
                <a:spcPct val="100000"/>
              </a:lnSpc>
            </a:pPr>
            <a:r>
              <a:rPr lang="en-US" sz="10500" b="1">
                <a:solidFill>
                  <a:srgbClr val="22D3EE">
                    <a:alpha val="18000"/>
                  </a:srgbClr>
                </a:solidFill>
                <a:latin typeface="Segoe UI" panose="020B0502040204020203"/>
                <a:ea typeface="Segoe UI" panose="020B0502040204020203"/>
              </a:rPr>
              <a:t>01</a:t>
            </a:r>
            <a:endParaRPr lang="en-US" sz="10500" b="1">
              <a:solidFill>
                <a:srgbClr val="22D3EE">
                  <a:alpha val="18000"/>
                </a:srgbClr>
              </a:solidFill>
              <a:latin typeface="Segoe UI" panose="020B0502040204020203"/>
              <a:ea typeface="Segoe UI" panose="020B0502040204020203"/>
            </a:endParaRPr>
          </a:p>
        </p:txBody>
      </p:sp>
      <p:sp>
        <p:nvSpPr>
          <p:cNvPr id="355" name="文本框 354" descr="{&quot;isTemplate&quot;:true,&quot;type&quot;:&quot;text&quot;}"/>
          <p:cNvSpPr txBox="1"/>
          <p:nvPr/>
        </p:nvSpPr>
        <p:spPr>
          <a:xfrm>
            <a:off x="609600" y="4276725"/>
            <a:ext cx="10972800" cy="447675"/>
          </a:xfrm>
          <a:prstGeom prst="rect">
            <a:avLst/>
          </a:prstGeom>
        </p:spPr>
        <p:txBody>
          <a:bodyPr wrap="none" lIns="0" tIns="0" rIns="0" bIns="0"/>
          <a:p>
            <a:pPr>
              <a:lnSpc>
                <a:spcPct val="160000"/>
              </a:lnSpc>
            </a:pPr>
            <a:r>
              <a:rPr lang="zh-CN" sz="1800">
                <a:solidFill>
                  <a:srgbClr val="E6EEF9">
                    <a:alpha val="70000"/>
                  </a:srgbClr>
                </a:solidFill>
                <a:latin typeface="微软雅黑" panose="020B0503020204020204" charset="-122"/>
                <a:ea typeface="微软雅黑" panose="020B0503020204020204" charset="-122"/>
              </a:rPr>
              <a:t>电梯为什么不听话：四个每天都会遇到的瞬间</a:t>
            </a:r>
            <a:endParaRPr lang="zh-CN" sz="1800">
              <a:solidFill>
                <a:srgbClr val="E6EEF9">
                  <a:alpha val="70000"/>
                </a:srgbClr>
              </a:solidFill>
              <a:latin typeface="微软雅黑" panose="020B0503020204020204" charset="-122"/>
              <a:ea typeface="微软雅黑" panose="020B0503020204020204" charset="-122"/>
            </a:endParaRPr>
          </a:p>
        </p:txBody>
      </p:sp>
      <p:sp>
        <p:nvSpPr>
          <p:cNvPr id="356" name="文本框 355" descr="{&quot;isTemplate&quot;:true,&quot;type&quot;:&quot;text&quot;}"/>
          <p:cNvSpPr txBox="1"/>
          <p:nvPr/>
        </p:nvSpPr>
        <p:spPr>
          <a:xfrm>
            <a:off x="609600" y="5048250"/>
            <a:ext cx="10972800" cy="190500"/>
          </a:xfrm>
          <a:prstGeom prst="rect">
            <a:avLst/>
          </a:prstGeom>
        </p:spPr>
        <p:txBody>
          <a:bodyPr wrap="none" lIns="0" tIns="0" rIns="0" bIns="0"/>
          <a:p>
            <a:pPr>
              <a:lnSpc>
                <a:spcPct val="100000"/>
              </a:lnSpc>
            </a:pPr>
            <a:r>
              <a:rPr lang="en-US" sz="1200" spc="225">
                <a:solidFill>
                  <a:srgbClr val="E6EEF9">
                    <a:alpha val="45000"/>
                  </a:srgbClr>
                </a:solidFill>
                <a:latin typeface="Segoe UI" panose="020B0502040204020203"/>
                <a:ea typeface="Segoe UI" panose="020B0502040204020203"/>
              </a:rPr>
              <a:t>03 – 05</a:t>
            </a:r>
            <a:endParaRPr lang="en-US" sz="1200" spc="225">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57" name="" descr="&lt;Slide&#13;&#10;    style={{&#13;&#10;        width: '1280px',&#13;&#10;        height: '720px',&#13;&#10;        background: '#0A1424',&#13;&#10;        padding: '32px 64px 24px 64px',&#13;&#10;        display: 'flex',&#13;&#10;        flexDirection: 'column',&#13;&#10;        fontFamily: 'Microsoft YaHei',&#13;&#10;        position: 'relative',&#13;&#10;    }}&#13;&#10;&gt;&#13;&#10;    &lt;Box style={{ position: 'absolute', top: 0, left: 0, width: '1280px', height: '720px', zIndex: 0 }}&gt;&#13;&#10;        &lt;svg width={1280} height={720} viewBox='0 0 1280 720'&gt;&#13;&#10;            &lt;defs&gt;&#13;&#10;                &lt;pattern id='grid' width='40' height='40' patternUnits='userSpaceOnUse'&gt;&#13;&#10;                    &lt;path d='M40 0 L0 0 0 40' fill='none' stroke='#3B82F6' strokeOpacity='0.08' strokeWidth='1' /&gt;&#13;&#10;                &lt;/pattern&gt;&#13;&#10;            &lt;/defs&gt;&#13;&#10;            &lt;rect width='1280' height='720' fill='url(#grid)' /&gt;&#13;&#10;        &lt;/svg&gt;&#13;&#10;    &lt;/Box&gt;&#13;&#10;&#13;&#10;    &lt;Box style={{ position: 'relative', zIndex: 1, height: 84, display: 'flex', flexDirection: 'column' }}&gt;&#13;&#10;        &lt;Text style={{ fontSize: 14, color: '#22D3EE', letterSpacing: 3, fontFamily: 'Segoe UI' }}&gt;CHAPTER 01 · 困局&lt;/Text&gt;&#13;&#10;        &lt;Box style={{ height: 8 }} /&gt;&#13;&#10;        &lt;Text style={{ fontSize: 32, fontWeight: 'bold', color: '#E6EEF9' }}&gt;四个高频痛点&lt;/Text&gt;&#13;&#10;        &lt;Box style={{ height: 10 }} /&gt;&#13;&#10;        &lt;Box style={{ width: '56px', height: '3px', background: '#22D3EE' }} /&gt;&#13;&#10;    &lt;/Box&gt;&#13;&#10;&#13;&#10;    &lt;Box style={{ position: 'relative', zIndex: 1, height: 520, marginTop: 16, flexDirection: 'row', gap: 24 }}&gt;&#13;&#10;        &lt;Box&#13;&#10;            style={{&#13;&#10;                width: '380px',&#13;&#10;                display: 'flex',&#13;&#10;                flexDirection: 'column',&#13;&#10;                padding: '28px 30px',&#13;&#10;                background: 'linear-gradient(160deg, rgba(34,211,238,0.16) 0%, rgba(59,130,246,0.06) 100%)',&#13;&#10;                border: '1px solid rgba(34,211,238,0.32)',&#13;&#10;                borderRadius: 12,&#13;&#10;            }}&#13;&#10;        &gt;&#13;&#10;            &lt;Text style={{ fontSize: 128, fontWeight: 'bold', color: '#22D3EE', lineHeight: 1.0, fontFamily: 'Segoe UI', letterSpacing: -2 }}&gt;04&lt;/Text&gt;&#13;&#10;            &lt;Box style={{ height: 8 }} /&gt;&#13;&#10;            &lt;Text style={{ fontSize: 26, fontWeight: 'bold', color: '#E6EEF9' }}&gt;类高频抱怨&lt;/Text&gt;&#13;&#10;            &lt;Box style={{ marginTop: 'auto', width: '48px', height: '3px', background: '#22D3EE', marginBottom: 18 }} /&gt;&#13;&#10;            &lt;Text style={{ fontSize: 18, color: '#E6EEF9', opacity: 0.68, lineHeight: 1.65 }}&gt;&#13;&#10;                它们不是偶发的运气问题，而是同一套调度逻辑的四种外在表现。&#13;&#10;            &lt;/Text&gt;&#13;&#10;        &lt;/Box&gt;&#13;&#10;&#13;&#10;        &lt;Box style={{ flex: 1, display: 'flex', flexDirection: 'column', gap: 8 }}&gt;&#13;&#10;            &lt;Box&#13;&#10;                style={{&#13;&#10;                    height: 100,&#13;&#10;                    flexDirection: 'row',&#13;&#10;                    alignItems: 'center',&#13;&#10;                    gap: 18,&#13;&#10;                    padding: '0px 22px',&#13;&#10;                    background: 'rgba(59,130,246,0.10)',&#13;&#10;                    border: '1px solid rgba(59,130,246,0.24)',&#13;&#10;                    borderRadius: 10,&#13;&#10;                }}&#13;&#10;            &gt;&#13;&#10;                &lt;Box&#13;&#10;                    style={{&#13;&#10;                        width: 46,&#13;&#10;                        height: 46,&#13;&#10;                        borderRadius: 23,&#13;&#10;                        background: 'rgba(34,211,238,0.14)',&#13;&#10;                        alignItems: 'center',&#13;&#10;                        justifyContent: 'center',&#13;&#10;                    }}&#13;&#10;                &gt;&#13;&#10;                    &lt;Text style={{ fontSize: 20, fontWeight: 'bold', color: '#22D3EE', fontFamily: 'Segoe UI' }}&gt;1&lt;/Text&gt;&#13;&#10;                &lt;/Box&gt;&#13;&#10;                &lt;Box style={{ flex: 1 }}&gt;&#13;&#10;                    &lt;Text style={{ fontSize: 22, fontWeight: 'bold', color: '#E6EEF9' }}&gt;等待时间极长&lt;/Text&gt;&#13;&#10;                    &lt;Box style={{ height: 6 }} /&gt;&#13;&#10;                    &lt;Text style={{ fontSize: 17, color: '#E6EEF9', opacity: 0.62 }}&gt;&#13;&#10;                        早课前按下多个呼梯按钮，电梯仍然姗姗来迟，按得越多越无效&#13;&#10;                    &lt;/Text&gt;&#13;&#10;                &lt;/Box&gt;&#13;&#10;            &lt;/Box&gt;&#13;&#10;&#13;&#10;            &lt;Box&#13;&#10;                style={{&#13;&#10;                    height: 100,&#13;&#10;                    flexDirection: 'row',&#13;&#10;                    alignItems: 'center',&#13;&#10;                    gap: 18,&#13;&#10;                    padding: '0px 22px',&#13;&#10;                    background: 'rgba(59,130,246,0.10)',&#13;&#10;                    border: '1px solid rgba(59,130,246,0.24)',&#13;&#10;                    borderRadius: 10,&#13;&#10;                }}&#13;&#10;            &gt;&#13;&#10;                &lt;Box&#13;&#10;                    style={{&#13;&#10;                        width: 46,&#13;&#10;                        height: 46,&#13;&#10;                        borderRadius: 23,&#13;&#10;                        background: 'rgba(34,211,238,0.14)',&#13;&#10;                        alignItems: 'center',&#13;&#10;                        justifyContent: 'center',&#13;&#10;                    }}&#13;&#10;                &gt;&#13;&#10;                    &lt;Text style={{ fontSize: 20, fontWeight: 'bold', color: '#22D3EE', fontFamily: 'Segoe UI' }}&gt;2&lt;/Text&gt;&#13;&#10;                &lt;/Box&gt;&#13;&#10;                &lt;Box style={{ flex: 1 }}&gt;&#13;&#10;                    &lt;Text style={{ fontSize: 22, fontWeight: 'bold', color: '#E6EEF9' }}&gt;空开门&lt;/Text&gt;&#13;&#10;                    &lt;Box style={{ height: 6 }} /&gt;&#13;&#10;                    &lt;Text style={{ fontSize: 17, color: '#E6EEF9', opacity: 0.62 }}&gt;&#13;&#10;                        门开了却没有人，还要伸手补按按钮，关门再占掉一次时间&#13;&#10;                    &lt;/Text&gt;&#13;&#10;                &lt;/Box&gt;&#13;&#10;            &lt;/Box&gt;&#13;&#10;&#13;&#10;            &lt;Box&#13;&#10;                style={{&#13;&#10;                    height: 100,&#13;&#10;                    flexDirection: 'row',&#13;&#10;                    alignItems: 'center',&#13;&#10;                    gap: 18,&#13;&#10;                    padding: '0px 22px',&#13;&#10;                    background: 'rgba(59,130,246,0.10)',&#13;&#10;                    border: '1px solid rgba(59,130,246,0.24)',&#13;&#10;                    borderRadius: 10,&#13;&#10;                }}&#13;&#10;            &gt;&#13;&#10;                &lt;Box&#13;&#10;                    style={{&#13;&#10;                        width: 46,&#13;&#10;                        height: 46,&#13;&#10;                        borderRadius: 23,&#13;&#10;                        background: 'rgba(34,211,238,0.14)',&#13;&#10;                        alignItems: 'center',&#13;&#10;                        justifyContent: 'center',&#13;&#10;                    }}&#13;&#10;                &gt;&#13;&#10;                    &lt;Text style={{ fontSize: 20, fontWeight: 'bold', color: '#22D3EE', fontFamily: 'Segoe UI' }}&gt;3&lt;/Text&gt;&#13;&#10;                &lt;/Box&gt;&#13;&#10;                &lt;Box style={{ flex: 1 }}&gt;&#13;&#10;                    &lt;Text style={{ fontSize: 22, fontWeight: 'bold', color: '#E6EEF9' }}&gt;停停走走&lt;/Text&gt;&#13;&#10;                    &lt;Box style={{ height: 6 }} /&gt;&#13;&#10;                    &lt;Text style={{ fontSize: 17, color: '#E6EEF9', opacity: 0.62 }}&gt;&#13;&#10;                        一趟电梯接连接送多个楼层的学生，完整行程被打成碎片&#13;&#10;                    &lt;/Text&gt;&#13;&#10;                &lt;/Box&gt;&#13;&#10;            &lt;/Box&gt;&#13;&#10;&#13;&#10;            &lt;Box&#13;&#10;                style={{&#13;&#10;                    height: 100,&#13;&#10;                    flexDirection: 'row',&#13;&#10;                    alignItems: 'center',&#13;&#10;                    gap: 18,&#13;&#10;                    padding: '0px 22px',&#13;&#10;                    background: 'rgba(59,130,246,0.10)',&#13;&#10;                    border: '1px solid rgba(59,130,246,0.24)',&#13;&#10;                    borderRadius: 10,&#13;&#10;                }}&#13;&#10;            &gt;&#13;&#10;                &lt;Box&#13;&#10;                    style={{&#13;&#10;                        width: 46,&#13;&#10;                        height: 46,&#13;&#10;                        borderRadius: 23,&#13;&#10;                        background: 'rgba(34,211,238,0.14)',&#13;&#10;                        alignItems: 'center',&#13;&#10;                        justifyContent: 'center',&#13;&#10;                    }}&#13;&#10;                &gt;&#13;&#10;                    &lt;Text style={{ fontSize: 20, fontWeight: 'bold', color: '#22D3EE', fontFamily: 'Segoe UI' }}&gt;4&lt;/Text&gt;&#13;&#10;                &lt;/Box&gt;&#13;&#10;                &lt;Box style={{ flex: 1 }}&gt;&#13;&#10;                    &lt;Text style={{ fontSize: 22, fontWeight: 'bold', color: '#E6EEF9' }}&gt;满载后仍无效运行&lt;/Text&gt;&#13;&#10;                    &lt;Box style={{ height: 6 }} /&gt;&#13;&#10;                    &lt;Text style={{ fontSize: 17, color: '#E6EEF9', opacity: 0.62 }}&gt;&#13;&#10;                        已经挤满了人，仍然逐层响应外呼，做一堆无用停靠&#13;&#10;                    &lt;/Text&gt;&#13;&#10;                &lt;/Box&gt;&#13;&#10;            &lt;/Box&gt;&#13;&#10;&#13;&#10;            &lt;Box&#13;&#10;                style={{&#13;&#10;                    marginTop: 'auto',&#13;&#10;                    padding: '14px 22px',&#13;&#10;                    background: 'rgba(34,211,238,0.10)',&#13;&#10;                    borderLeft: '3px solid #22D3EE',&#13;&#10;                    borderRadius: 4,&#13;&#10;                }}&#13;&#10;            &gt;&#13;&#10;                &lt;Text style={{ fontSize: 17, color: '#E6EEF9', opacity: 0.85, lineHeight: 1.55 }}&gt;&#13;&#10;                    四条抱怨指向同一个根因：电梯在没有人、也没有真实需求的地方，做了太多无用功。&#13;&#10;                &lt;/Text&gt;&#13;&#10;            &lt;/Box&gt;&#13;&#10;        &lt;/Box&gt;&#13;&#10;    &lt;/Box&gt;&#13;&#10;&#13;&#10;    &lt;Box&#13;&#10;        style={{&#13;&#10;            position: 'relative',&#13;&#10;            zIndex: 1,&#13;&#10;            height: 36,&#13;&#10;            marginTop: 8,&#13;&#10;            flexDirection: 'row',&#13;&#10;            alignItems: 'center',&#13;&#10;            justifyContent: 'space-between',&#13;&#10;            borderTop: '1px solid rgba(59,130,246,0.22)',&#13;&#10;        }}&#13;&#10;    &gt;&#13;&#10;        &lt;Text style={{ fontSize: 14, color: '#E6EEF9', opacity: 0.45 }}&gt;宿舍电梯运行策略优化 · 红豆斋&lt;/Text&gt;&#13;&#10;        &lt;Text style={{ fontSize: 14, color: '#E6EEF9', opacity: 0.45, fontFamily: 'Segoe UI' }}&gt;04 / 18&lt;/Text&gt;&#13;&#10;    &lt;/Box&gt;&#13;&#10;&lt;/Slide&gt;&#13;&#10;"/>
        <p:cNvGrpSpPr/>
        <p:nvPr/>
      </p:nvGrpSpPr>
      <p:grpSpPr>
        <a:xfrm>
          <a:off x="0" y="0"/>
          <a:ext cx="0" cy="0"/>
          <a:chOff x="0" y="0"/>
          <a:chExt cx="0" cy="0"/>
        </a:xfrm>
      </p:grpSpPr>
      <p:sp>
        <p:nvSpPr>
          <p:cNvPr id="358" name="矩形 357"/>
          <p:cNvSpPr/>
          <p:nvPr/>
        </p:nvSpPr>
        <p:spPr>
          <a:xfrm>
            <a:off x="0" y="0"/>
            <a:ext cx="12192000" cy="6858000"/>
          </a:xfrm>
          <a:prstGeom prst="rect">
            <a:avLst/>
          </a:prstGeom>
          <a:solidFill>
            <a:srgbClr val="0A1424"/>
          </a:solidFill>
        </p:spPr>
        <p:txBody>
          <a:bodyPr/>
          <a:p/>
        </p:txBody>
      </p:sp>
      <p:pic>
        <p:nvPicPr>
          <p:cNvPr id="359" name="图片 35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60" name="文本框 359"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01 · </a:t>
            </a:r>
            <a:r>
              <a:rPr lang="zh-CN" sz="1050" spc="225">
                <a:solidFill>
                  <a:srgbClr val="22D3EE"/>
                </a:solidFill>
                <a:latin typeface="Segoe UI" panose="020B0502040204020203"/>
                <a:ea typeface="Segoe UI" panose="020B0502040204020203"/>
              </a:rPr>
              <a:t>困局</a:t>
            </a:r>
            <a:endParaRPr lang="zh-CN" sz="1050" spc="225">
              <a:solidFill>
                <a:srgbClr val="22D3EE"/>
              </a:solidFill>
              <a:latin typeface="Segoe UI" panose="020B0502040204020203"/>
              <a:ea typeface="Segoe UI" panose="020B0502040204020203"/>
            </a:endParaRPr>
          </a:p>
        </p:txBody>
      </p:sp>
      <p:sp>
        <p:nvSpPr>
          <p:cNvPr id="361" name="文本框 360"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四个高频痛点</a:t>
            </a:r>
            <a:endParaRPr lang="zh-CN" sz="2400" b="1">
              <a:solidFill>
                <a:srgbClr val="E6EEF9"/>
              </a:solidFill>
              <a:latin typeface="微软雅黑" panose="020B0503020204020204" charset="-122"/>
              <a:ea typeface="微软雅黑" panose="020B0503020204020204" charset="-122"/>
            </a:endParaRPr>
          </a:p>
        </p:txBody>
      </p:sp>
      <p:sp>
        <p:nvSpPr>
          <p:cNvPr id="362" name="矩形 361"/>
          <p:cNvSpPr/>
          <p:nvPr/>
        </p:nvSpPr>
        <p:spPr>
          <a:xfrm>
            <a:off x="609600" y="1009650"/>
            <a:ext cx="533400" cy="28575"/>
          </a:xfrm>
          <a:prstGeom prst="rect">
            <a:avLst/>
          </a:prstGeom>
          <a:solidFill>
            <a:srgbClr val="22D3EE"/>
          </a:solidFill>
        </p:spPr>
        <p:txBody>
          <a:bodyPr/>
          <a:p/>
        </p:txBody>
      </p:sp>
      <p:sp>
        <p:nvSpPr>
          <p:cNvPr id="363" name="圆角矩形 362"/>
          <p:cNvSpPr/>
          <p:nvPr/>
        </p:nvSpPr>
        <p:spPr>
          <a:xfrm>
            <a:off x="609600" y="1257300"/>
            <a:ext cx="3619500" cy="4953000"/>
          </a:xfrm>
          <a:prstGeom prst="roundRect">
            <a:avLst>
              <a:gd name="adj" fmla="val 3158"/>
            </a:avLst>
          </a:prstGeom>
          <a:gradFill>
            <a:gsLst>
              <a:gs pos="0">
                <a:srgbClr val="22D3EE">
                  <a:alpha val="16000"/>
                </a:srgbClr>
              </a:gs>
              <a:gs pos="100000">
                <a:srgbClr val="3B82F6">
                  <a:alpha val="6000"/>
                </a:srgbClr>
              </a:gs>
            </a:gsLst>
            <a:lin ang="4200000" scaled="1"/>
          </a:gradFill>
          <a:ln w="12700">
            <a:solidFill>
              <a:srgbClr val="22D3EE">
                <a:alpha val="32000"/>
              </a:srgbClr>
            </a:solidFill>
            <a:prstDash val="solid"/>
          </a:ln>
        </p:spPr>
        <p:txBody>
          <a:bodyPr/>
          <a:p/>
        </p:txBody>
      </p:sp>
      <p:sp>
        <p:nvSpPr>
          <p:cNvPr id="364" name="文本框 363" descr="{&quot;isTemplate&quot;:true,&quot;type&quot;:&quot;text&quot;}"/>
          <p:cNvSpPr txBox="1"/>
          <p:nvPr/>
        </p:nvSpPr>
        <p:spPr>
          <a:xfrm>
            <a:off x="895350" y="1524000"/>
            <a:ext cx="3048000" cy="1466850"/>
          </a:xfrm>
          <a:prstGeom prst="rect">
            <a:avLst/>
          </a:prstGeom>
        </p:spPr>
        <p:txBody>
          <a:bodyPr wrap="none" lIns="0" tIns="0" rIns="0" bIns="0"/>
          <a:p>
            <a:pPr>
              <a:lnSpc>
                <a:spcPct val="100000"/>
              </a:lnSpc>
            </a:pPr>
            <a:r>
              <a:rPr lang="en-US" sz="9600" b="1" spc="-150">
                <a:solidFill>
                  <a:srgbClr val="22D3EE"/>
                </a:solidFill>
                <a:latin typeface="Segoe UI" panose="020B0502040204020203"/>
                <a:ea typeface="Segoe UI" panose="020B0502040204020203"/>
              </a:rPr>
              <a:t>4</a:t>
            </a:r>
            <a:endParaRPr lang="en-US" sz="9600" b="1" spc="-150">
              <a:solidFill>
                <a:srgbClr val="22D3EE"/>
              </a:solidFill>
              <a:latin typeface="Segoe UI" panose="020B0502040204020203"/>
              <a:ea typeface="Segoe UI" panose="020B0502040204020203"/>
            </a:endParaRPr>
          </a:p>
        </p:txBody>
      </p:sp>
      <p:sp>
        <p:nvSpPr>
          <p:cNvPr id="365" name="文本框 364" descr="{&quot;isTemplate&quot;:true,&quot;type&quot;:&quot;text&quot;}"/>
          <p:cNvSpPr txBox="1"/>
          <p:nvPr/>
        </p:nvSpPr>
        <p:spPr>
          <a:xfrm>
            <a:off x="895350" y="3067050"/>
            <a:ext cx="3048000" cy="304800"/>
          </a:xfrm>
          <a:prstGeom prst="rect">
            <a:avLst/>
          </a:prstGeom>
        </p:spPr>
        <p:txBody>
          <a:bodyPr wrap="none" lIns="0" tIns="0" rIns="0" bIns="0"/>
          <a:p>
            <a:pPr>
              <a:lnSpc>
                <a:spcPct val="100000"/>
              </a:lnSpc>
            </a:pPr>
            <a:r>
              <a:rPr lang="zh-CN" sz="1950" b="1">
                <a:solidFill>
                  <a:srgbClr val="E6EEF9"/>
                </a:solidFill>
                <a:latin typeface="微软雅黑" panose="020B0503020204020204" charset="-122"/>
                <a:ea typeface="微软雅黑" panose="020B0503020204020204" charset="-122"/>
              </a:rPr>
              <a:t>类高频抱怨</a:t>
            </a:r>
            <a:endParaRPr lang="zh-CN" sz="1950" b="1">
              <a:solidFill>
                <a:srgbClr val="E6EEF9"/>
              </a:solidFill>
              <a:latin typeface="微软雅黑" panose="020B0503020204020204" charset="-122"/>
              <a:ea typeface="微软雅黑" panose="020B0503020204020204" charset="-122"/>
            </a:endParaRPr>
          </a:p>
        </p:txBody>
      </p:sp>
      <p:sp>
        <p:nvSpPr>
          <p:cNvPr id="366" name="矩形 365"/>
          <p:cNvSpPr/>
          <p:nvPr/>
        </p:nvSpPr>
        <p:spPr>
          <a:xfrm>
            <a:off x="895350" y="5057775"/>
            <a:ext cx="457200" cy="28575"/>
          </a:xfrm>
          <a:prstGeom prst="rect">
            <a:avLst/>
          </a:prstGeom>
          <a:solidFill>
            <a:srgbClr val="22D3EE"/>
          </a:solidFill>
        </p:spPr>
        <p:txBody>
          <a:bodyPr/>
          <a:p/>
        </p:txBody>
      </p:sp>
      <p:sp>
        <p:nvSpPr>
          <p:cNvPr id="367" name="圆角矩形 366"/>
          <p:cNvSpPr/>
          <p:nvPr/>
        </p:nvSpPr>
        <p:spPr>
          <a:xfrm>
            <a:off x="4457700" y="1257300"/>
            <a:ext cx="7124700" cy="952500"/>
          </a:xfrm>
          <a:prstGeom prst="roundRect">
            <a:avLst>
              <a:gd name="adj" fmla="val 10000"/>
            </a:avLst>
          </a:prstGeom>
          <a:solidFill>
            <a:srgbClr val="3B82F6">
              <a:alpha val="10000"/>
            </a:srgbClr>
          </a:solidFill>
          <a:ln w="12700">
            <a:solidFill>
              <a:srgbClr val="3B82F6">
                <a:alpha val="24000"/>
              </a:srgbClr>
            </a:solidFill>
            <a:prstDash val="solid"/>
          </a:ln>
        </p:spPr>
        <p:txBody>
          <a:bodyPr/>
          <a:p/>
        </p:txBody>
      </p:sp>
      <p:sp>
        <p:nvSpPr>
          <p:cNvPr id="368" name="圆角矩形 367"/>
          <p:cNvSpPr/>
          <p:nvPr/>
        </p:nvSpPr>
        <p:spPr>
          <a:xfrm>
            <a:off x="4667250" y="1514475"/>
            <a:ext cx="438150" cy="438150"/>
          </a:xfrm>
          <a:prstGeom prst="roundRect">
            <a:avLst>
              <a:gd name="adj" fmla="val 50000"/>
            </a:avLst>
          </a:prstGeom>
          <a:solidFill>
            <a:srgbClr val="22D3EE">
              <a:alpha val="14000"/>
            </a:srgbClr>
          </a:solidFill>
        </p:spPr>
        <p:txBody>
          <a:bodyPr/>
          <a:p/>
        </p:txBody>
      </p:sp>
      <p:sp>
        <p:nvSpPr>
          <p:cNvPr id="369" name="文本框 368" descr="{&quot;isTemplate&quot;:true,&quot;type&quot;:&quot;text&quot;}"/>
          <p:cNvSpPr txBox="1"/>
          <p:nvPr/>
        </p:nvSpPr>
        <p:spPr>
          <a:xfrm>
            <a:off x="4829175" y="1619250"/>
            <a:ext cx="114300" cy="228600"/>
          </a:xfrm>
          <a:prstGeom prst="rect">
            <a:avLst/>
          </a:prstGeom>
        </p:spPr>
        <p:txBody>
          <a:bodyPr wrap="none" lIns="0" tIns="0" rIns="0" bIns="0"/>
          <a:p>
            <a:pPr>
              <a:lnSpc>
                <a:spcPct val="100000"/>
              </a:lnSpc>
            </a:pPr>
            <a:r>
              <a:rPr lang="en-US" sz="1500" b="1">
                <a:solidFill>
                  <a:srgbClr val="22D3EE"/>
                </a:solidFill>
                <a:latin typeface="Segoe UI" panose="020B0502040204020203"/>
                <a:ea typeface="Segoe UI" panose="020B0502040204020203"/>
              </a:rPr>
              <a:t>1</a:t>
            </a:r>
            <a:endParaRPr lang="en-US" sz="1500" b="1">
              <a:solidFill>
                <a:srgbClr val="22D3EE"/>
              </a:solidFill>
              <a:latin typeface="Segoe UI" panose="020B0502040204020203"/>
              <a:ea typeface="Segoe UI" panose="020B0502040204020203"/>
            </a:endParaRPr>
          </a:p>
        </p:txBody>
      </p:sp>
      <p:sp>
        <p:nvSpPr>
          <p:cNvPr id="370" name="文本框 369" descr="{&quot;isTemplate&quot;:true,&quot;type&quot;:&quot;text&quot;}"/>
          <p:cNvSpPr txBox="1"/>
          <p:nvPr/>
        </p:nvSpPr>
        <p:spPr>
          <a:xfrm>
            <a:off x="5276850" y="1476375"/>
            <a:ext cx="6096000" cy="257175"/>
          </a:xfrm>
          <a:prstGeom prst="rect">
            <a:avLst/>
          </a:prstGeom>
        </p:spPr>
        <p:txBody>
          <a:bodyPr wrap="none" lIns="0" tIns="0" rIns="0" bIns="0"/>
          <a:p>
            <a:pPr>
              <a:lnSpc>
                <a:spcPct val="100000"/>
              </a:lnSpc>
            </a:pPr>
            <a:r>
              <a:rPr lang="zh-CN" sz="1650" b="1">
                <a:solidFill>
                  <a:srgbClr val="E6EEF9"/>
                </a:solidFill>
                <a:latin typeface="微软雅黑" panose="020B0503020204020204" charset="-122"/>
                <a:ea typeface="微软雅黑" panose="020B0503020204020204" charset="-122"/>
              </a:rPr>
              <a:t>等待时间极长</a:t>
            </a:r>
            <a:endParaRPr lang="zh-CN" sz="1650" b="1">
              <a:solidFill>
                <a:srgbClr val="E6EEF9"/>
              </a:solidFill>
              <a:latin typeface="微软雅黑" panose="020B0503020204020204" charset="-122"/>
              <a:ea typeface="微软雅黑" panose="020B0503020204020204" charset="-122"/>
            </a:endParaRPr>
          </a:p>
        </p:txBody>
      </p:sp>
      <p:sp>
        <p:nvSpPr>
          <p:cNvPr id="371" name="圆角矩形 370"/>
          <p:cNvSpPr/>
          <p:nvPr/>
        </p:nvSpPr>
        <p:spPr>
          <a:xfrm>
            <a:off x="4457700" y="2286000"/>
            <a:ext cx="7124700" cy="952500"/>
          </a:xfrm>
          <a:prstGeom prst="roundRect">
            <a:avLst>
              <a:gd name="adj" fmla="val 10000"/>
            </a:avLst>
          </a:prstGeom>
          <a:solidFill>
            <a:srgbClr val="3B82F6">
              <a:alpha val="10000"/>
            </a:srgbClr>
          </a:solidFill>
          <a:ln w="12700">
            <a:solidFill>
              <a:srgbClr val="3B82F6">
                <a:alpha val="24000"/>
              </a:srgbClr>
            </a:solidFill>
            <a:prstDash val="solid"/>
          </a:ln>
        </p:spPr>
        <p:txBody>
          <a:bodyPr/>
          <a:p/>
        </p:txBody>
      </p:sp>
      <p:sp>
        <p:nvSpPr>
          <p:cNvPr id="372" name="圆角矩形 371"/>
          <p:cNvSpPr/>
          <p:nvPr/>
        </p:nvSpPr>
        <p:spPr>
          <a:xfrm>
            <a:off x="4667250" y="2543175"/>
            <a:ext cx="438150" cy="438150"/>
          </a:xfrm>
          <a:prstGeom prst="roundRect">
            <a:avLst>
              <a:gd name="adj" fmla="val 50000"/>
            </a:avLst>
          </a:prstGeom>
          <a:solidFill>
            <a:srgbClr val="22D3EE">
              <a:alpha val="14000"/>
            </a:srgbClr>
          </a:solidFill>
        </p:spPr>
        <p:txBody>
          <a:bodyPr/>
          <a:p/>
        </p:txBody>
      </p:sp>
      <p:sp>
        <p:nvSpPr>
          <p:cNvPr id="373" name="文本框 372" descr="{&quot;isTemplate&quot;:true,&quot;type&quot;:&quot;text&quot;}"/>
          <p:cNvSpPr txBox="1"/>
          <p:nvPr/>
        </p:nvSpPr>
        <p:spPr>
          <a:xfrm>
            <a:off x="4829175" y="2647950"/>
            <a:ext cx="114300" cy="228600"/>
          </a:xfrm>
          <a:prstGeom prst="rect">
            <a:avLst/>
          </a:prstGeom>
        </p:spPr>
        <p:txBody>
          <a:bodyPr wrap="none" lIns="0" tIns="0" rIns="0" bIns="0"/>
          <a:p>
            <a:pPr>
              <a:lnSpc>
                <a:spcPct val="100000"/>
              </a:lnSpc>
            </a:pPr>
            <a:r>
              <a:rPr lang="en-US" sz="1500" b="1">
                <a:solidFill>
                  <a:srgbClr val="22D3EE"/>
                </a:solidFill>
                <a:latin typeface="Segoe UI" panose="020B0502040204020203"/>
                <a:ea typeface="Segoe UI" panose="020B0502040204020203"/>
              </a:rPr>
              <a:t>2</a:t>
            </a:r>
            <a:endParaRPr lang="en-US" sz="1500" b="1">
              <a:solidFill>
                <a:srgbClr val="22D3EE"/>
              </a:solidFill>
              <a:latin typeface="Segoe UI" panose="020B0502040204020203"/>
              <a:ea typeface="Segoe UI" panose="020B0502040204020203"/>
            </a:endParaRPr>
          </a:p>
        </p:txBody>
      </p:sp>
      <p:sp>
        <p:nvSpPr>
          <p:cNvPr id="374" name="文本框 373" descr="{&quot;isTemplate&quot;:true,&quot;type&quot;:&quot;text&quot;}"/>
          <p:cNvSpPr txBox="1"/>
          <p:nvPr/>
        </p:nvSpPr>
        <p:spPr>
          <a:xfrm>
            <a:off x="5276850" y="2505075"/>
            <a:ext cx="6096000" cy="257175"/>
          </a:xfrm>
          <a:prstGeom prst="rect">
            <a:avLst/>
          </a:prstGeom>
        </p:spPr>
        <p:txBody>
          <a:bodyPr wrap="none" lIns="0" tIns="0" rIns="0" bIns="0"/>
          <a:p>
            <a:pPr>
              <a:lnSpc>
                <a:spcPct val="100000"/>
              </a:lnSpc>
            </a:pPr>
            <a:r>
              <a:rPr lang="zh-CN" sz="1650" b="1">
                <a:solidFill>
                  <a:srgbClr val="E6EEF9"/>
                </a:solidFill>
                <a:latin typeface="微软雅黑" panose="020B0503020204020204" charset="-122"/>
                <a:ea typeface="微软雅黑" panose="020B0503020204020204" charset="-122"/>
              </a:rPr>
              <a:t>空开门</a:t>
            </a:r>
            <a:endParaRPr lang="zh-CN" sz="1650" b="1">
              <a:solidFill>
                <a:srgbClr val="E6EEF9"/>
              </a:solidFill>
              <a:latin typeface="微软雅黑" panose="020B0503020204020204" charset="-122"/>
              <a:ea typeface="微软雅黑" panose="020B0503020204020204" charset="-122"/>
            </a:endParaRPr>
          </a:p>
        </p:txBody>
      </p:sp>
      <p:sp>
        <p:nvSpPr>
          <p:cNvPr id="375" name="圆角矩形 374"/>
          <p:cNvSpPr/>
          <p:nvPr/>
        </p:nvSpPr>
        <p:spPr>
          <a:xfrm>
            <a:off x="4457700" y="3314700"/>
            <a:ext cx="7124700" cy="952500"/>
          </a:xfrm>
          <a:prstGeom prst="roundRect">
            <a:avLst>
              <a:gd name="adj" fmla="val 10000"/>
            </a:avLst>
          </a:prstGeom>
          <a:solidFill>
            <a:srgbClr val="3B82F6">
              <a:alpha val="10000"/>
            </a:srgbClr>
          </a:solidFill>
          <a:ln w="12700">
            <a:solidFill>
              <a:srgbClr val="3B82F6">
                <a:alpha val="24000"/>
              </a:srgbClr>
            </a:solidFill>
            <a:prstDash val="solid"/>
          </a:ln>
        </p:spPr>
        <p:txBody>
          <a:bodyPr/>
          <a:p/>
        </p:txBody>
      </p:sp>
      <p:sp>
        <p:nvSpPr>
          <p:cNvPr id="376" name="圆角矩形 375"/>
          <p:cNvSpPr/>
          <p:nvPr/>
        </p:nvSpPr>
        <p:spPr>
          <a:xfrm>
            <a:off x="4667250" y="3571875"/>
            <a:ext cx="438150" cy="438150"/>
          </a:xfrm>
          <a:prstGeom prst="roundRect">
            <a:avLst>
              <a:gd name="adj" fmla="val 50000"/>
            </a:avLst>
          </a:prstGeom>
          <a:solidFill>
            <a:srgbClr val="22D3EE">
              <a:alpha val="14000"/>
            </a:srgbClr>
          </a:solidFill>
        </p:spPr>
        <p:txBody>
          <a:bodyPr/>
          <a:p/>
        </p:txBody>
      </p:sp>
      <p:sp>
        <p:nvSpPr>
          <p:cNvPr id="377" name="文本框 376" descr="{&quot;isTemplate&quot;:true,&quot;type&quot;:&quot;text&quot;}"/>
          <p:cNvSpPr txBox="1"/>
          <p:nvPr/>
        </p:nvSpPr>
        <p:spPr>
          <a:xfrm>
            <a:off x="4829175" y="3676650"/>
            <a:ext cx="114300" cy="228600"/>
          </a:xfrm>
          <a:prstGeom prst="rect">
            <a:avLst/>
          </a:prstGeom>
        </p:spPr>
        <p:txBody>
          <a:bodyPr wrap="none" lIns="0" tIns="0" rIns="0" bIns="0"/>
          <a:p>
            <a:pPr>
              <a:lnSpc>
                <a:spcPct val="100000"/>
              </a:lnSpc>
            </a:pPr>
            <a:r>
              <a:rPr lang="en-US" sz="1500" b="1">
                <a:solidFill>
                  <a:srgbClr val="22D3EE"/>
                </a:solidFill>
                <a:latin typeface="Segoe UI" panose="020B0502040204020203"/>
                <a:ea typeface="Segoe UI" panose="020B0502040204020203"/>
              </a:rPr>
              <a:t>3</a:t>
            </a:r>
            <a:endParaRPr lang="en-US" sz="1500" b="1">
              <a:solidFill>
                <a:srgbClr val="22D3EE"/>
              </a:solidFill>
              <a:latin typeface="Segoe UI" panose="020B0502040204020203"/>
              <a:ea typeface="Segoe UI" panose="020B0502040204020203"/>
            </a:endParaRPr>
          </a:p>
        </p:txBody>
      </p:sp>
      <p:sp>
        <p:nvSpPr>
          <p:cNvPr id="378" name="文本框 377" descr="{&quot;isTemplate&quot;:true,&quot;type&quot;:&quot;text&quot;}"/>
          <p:cNvSpPr txBox="1"/>
          <p:nvPr/>
        </p:nvSpPr>
        <p:spPr>
          <a:xfrm>
            <a:off x="5276850" y="3533775"/>
            <a:ext cx="6096000" cy="257175"/>
          </a:xfrm>
          <a:prstGeom prst="rect">
            <a:avLst/>
          </a:prstGeom>
        </p:spPr>
        <p:txBody>
          <a:bodyPr wrap="none" lIns="0" tIns="0" rIns="0" bIns="0"/>
          <a:p>
            <a:pPr>
              <a:lnSpc>
                <a:spcPct val="100000"/>
              </a:lnSpc>
            </a:pPr>
            <a:r>
              <a:rPr lang="zh-CN" sz="1650" b="1">
                <a:solidFill>
                  <a:srgbClr val="E6EEF9"/>
                </a:solidFill>
                <a:latin typeface="微软雅黑" panose="020B0503020204020204" charset="-122"/>
                <a:ea typeface="微软雅黑" panose="020B0503020204020204" charset="-122"/>
              </a:rPr>
              <a:t>停停走走</a:t>
            </a:r>
            <a:endParaRPr lang="zh-CN" sz="1650" b="1">
              <a:solidFill>
                <a:srgbClr val="E6EEF9"/>
              </a:solidFill>
              <a:latin typeface="微软雅黑" panose="020B0503020204020204" charset="-122"/>
              <a:ea typeface="微软雅黑" panose="020B0503020204020204" charset="-122"/>
            </a:endParaRPr>
          </a:p>
        </p:txBody>
      </p:sp>
      <p:sp>
        <p:nvSpPr>
          <p:cNvPr id="379" name="圆角矩形 378"/>
          <p:cNvSpPr/>
          <p:nvPr/>
        </p:nvSpPr>
        <p:spPr>
          <a:xfrm>
            <a:off x="4457700" y="4343400"/>
            <a:ext cx="7124700" cy="952500"/>
          </a:xfrm>
          <a:prstGeom prst="roundRect">
            <a:avLst>
              <a:gd name="adj" fmla="val 10000"/>
            </a:avLst>
          </a:prstGeom>
          <a:solidFill>
            <a:srgbClr val="3B82F6">
              <a:alpha val="10000"/>
            </a:srgbClr>
          </a:solidFill>
          <a:ln w="12700">
            <a:solidFill>
              <a:srgbClr val="3B82F6">
                <a:alpha val="24000"/>
              </a:srgbClr>
            </a:solidFill>
            <a:prstDash val="solid"/>
          </a:ln>
        </p:spPr>
        <p:txBody>
          <a:bodyPr/>
          <a:p/>
        </p:txBody>
      </p:sp>
      <p:sp>
        <p:nvSpPr>
          <p:cNvPr id="380" name="圆角矩形 379"/>
          <p:cNvSpPr/>
          <p:nvPr/>
        </p:nvSpPr>
        <p:spPr>
          <a:xfrm>
            <a:off x="4667250" y="4600575"/>
            <a:ext cx="438150" cy="438150"/>
          </a:xfrm>
          <a:prstGeom prst="roundRect">
            <a:avLst>
              <a:gd name="adj" fmla="val 50000"/>
            </a:avLst>
          </a:prstGeom>
          <a:solidFill>
            <a:srgbClr val="22D3EE">
              <a:alpha val="14000"/>
            </a:srgbClr>
          </a:solidFill>
        </p:spPr>
        <p:txBody>
          <a:bodyPr/>
          <a:p/>
        </p:txBody>
      </p:sp>
      <p:sp>
        <p:nvSpPr>
          <p:cNvPr id="381" name="文本框 380" descr="{&quot;isTemplate&quot;:true,&quot;type&quot;:&quot;text&quot;}"/>
          <p:cNvSpPr txBox="1"/>
          <p:nvPr/>
        </p:nvSpPr>
        <p:spPr>
          <a:xfrm>
            <a:off x="4829175" y="4705350"/>
            <a:ext cx="114300" cy="228600"/>
          </a:xfrm>
          <a:prstGeom prst="rect">
            <a:avLst/>
          </a:prstGeom>
        </p:spPr>
        <p:txBody>
          <a:bodyPr wrap="none" lIns="0" tIns="0" rIns="0" bIns="0"/>
          <a:p>
            <a:pPr>
              <a:lnSpc>
                <a:spcPct val="100000"/>
              </a:lnSpc>
            </a:pPr>
            <a:r>
              <a:rPr lang="en-US" sz="1500" b="1">
                <a:solidFill>
                  <a:srgbClr val="22D3EE"/>
                </a:solidFill>
                <a:latin typeface="Segoe UI" panose="020B0502040204020203"/>
                <a:ea typeface="Segoe UI" panose="020B0502040204020203"/>
              </a:rPr>
              <a:t>4</a:t>
            </a:r>
            <a:endParaRPr lang="en-US" sz="1500" b="1">
              <a:solidFill>
                <a:srgbClr val="22D3EE"/>
              </a:solidFill>
              <a:latin typeface="Segoe UI" panose="020B0502040204020203"/>
              <a:ea typeface="Segoe UI" panose="020B0502040204020203"/>
            </a:endParaRPr>
          </a:p>
        </p:txBody>
      </p:sp>
      <p:sp>
        <p:nvSpPr>
          <p:cNvPr id="382" name="文本框 381" descr="{&quot;isTemplate&quot;:true,&quot;type&quot;:&quot;text&quot;}"/>
          <p:cNvSpPr txBox="1"/>
          <p:nvPr/>
        </p:nvSpPr>
        <p:spPr>
          <a:xfrm>
            <a:off x="5276850" y="4562475"/>
            <a:ext cx="6096000" cy="257175"/>
          </a:xfrm>
          <a:prstGeom prst="rect">
            <a:avLst/>
          </a:prstGeom>
        </p:spPr>
        <p:txBody>
          <a:bodyPr wrap="none" lIns="0" tIns="0" rIns="0" bIns="0"/>
          <a:p>
            <a:pPr>
              <a:lnSpc>
                <a:spcPct val="100000"/>
              </a:lnSpc>
            </a:pPr>
            <a:r>
              <a:rPr lang="zh-CN" sz="1650" b="1">
                <a:solidFill>
                  <a:srgbClr val="E6EEF9"/>
                </a:solidFill>
                <a:latin typeface="微软雅黑" panose="020B0503020204020204" charset="-122"/>
                <a:ea typeface="微软雅黑" panose="020B0503020204020204" charset="-122"/>
              </a:rPr>
              <a:t>满载后仍无效运行</a:t>
            </a:r>
            <a:endParaRPr lang="zh-CN" sz="1650" b="1">
              <a:solidFill>
                <a:srgbClr val="E6EEF9"/>
              </a:solidFill>
              <a:latin typeface="微软雅黑" panose="020B0503020204020204" charset="-122"/>
              <a:ea typeface="微软雅黑" panose="020B0503020204020204" charset="-122"/>
            </a:endParaRPr>
          </a:p>
        </p:txBody>
      </p:sp>
      <p:sp>
        <p:nvSpPr>
          <p:cNvPr id="383" name="圆角矩形 382"/>
          <p:cNvSpPr/>
          <p:nvPr/>
        </p:nvSpPr>
        <p:spPr>
          <a:xfrm>
            <a:off x="4486275" y="5638800"/>
            <a:ext cx="7124700" cy="571500"/>
          </a:xfrm>
          <a:prstGeom prst="roundRect">
            <a:avLst>
              <a:gd name="adj" fmla="val 6667"/>
            </a:avLst>
          </a:prstGeom>
          <a:solidFill>
            <a:srgbClr val="22D3EE">
              <a:alpha val="10000"/>
            </a:srgbClr>
          </a:solidFill>
        </p:spPr>
        <p:txBody>
          <a:bodyPr/>
          <a:p/>
        </p:txBody>
      </p:sp>
      <p:sp>
        <p:nvSpPr>
          <p:cNvPr id="384" name="任意多边形 383"/>
          <p:cNvSpPr/>
          <p:nvPr/>
        </p:nvSpPr>
        <p:spPr>
          <a:xfrm>
            <a:off x="4486275" y="5638800"/>
            <a:ext cx="7124700" cy="571500"/>
          </a:xfrm>
          <a:custGeom>
            <a:avLst/>
            <a:gdLst/>
            <a:ahLst/>
            <a:cxnLst/>
            <a:pathLst>
              <a:path w="748" h="60">
                <a:moveTo>
                  <a:pt x="4" y="0"/>
                </a:moveTo>
                <a:cubicBezTo>
                  <a:pt x="3" y="0"/>
                  <a:pt x="3" y="0"/>
                  <a:pt x="3" y="1"/>
                </a:cubicBezTo>
                <a:lnTo>
                  <a:pt x="3" y="59"/>
                </a:lnTo>
                <a:cubicBezTo>
                  <a:pt x="3" y="59"/>
                  <a:pt x="3" y="60"/>
                  <a:pt x="4" y="60"/>
                </a:cubicBezTo>
                <a:cubicBezTo>
                  <a:pt x="2" y="60"/>
                  <a:pt x="0" y="58"/>
                  <a:pt x="0" y="56"/>
                </a:cubicBezTo>
                <a:lnTo>
                  <a:pt x="0" y="4"/>
                </a:lnTo>
                <a:cubicBezTo>
                  <a:pt x="0" y="2"/>
                  <a:pt x="2" y="0"/>
                  <a:pt x="4" y="0"/>
                </a:cubicBezTo>
                <a:close/>
              </a:path>
            </a:pathLst>
          </a:custGeom>
          <a:solidFill>
            <a:srgbClr val="22D3EE"/>
          </a:solidFill>
        </p:spPr>
        <p:txBody>
          <a:bodyPr/>
          <a:p/>
        </p:txBody>
      </p:sp>
      <p:sp>
        <p:nvSpPr>
          <p:cNvPr id="385" name="文本框 384" descr="{&quot;isTemplate&quot;:true,&quot;type&quot;:&quot;text&quot;}"/>
          <p:cNvSpPr txBox="1"/>
          <p:nvPr/>
        </p:nvSpPr>
        <p:spPr>
          <a:xfrm>
            <a:off x="895350" y="5257800"/>
            <a:ext cx="3048000" cy="685800"/>
          </a:xfrm>
          <a:prstGeom prst="rect">
            <a:avLst/>
          </a:prstGeom>
        </p:spPr>
        <p:txBody>
          <a:bodyPr wrap="square" lIns="0" tIns="0" rIns="0" bIns="0">
            <a:normAutofit/>
          </a:bodyPr>
          <a:p>
            <a:pPr>
              <a:lnSpc>
                <a:spcPct val="165000"/>
              </a:lnSpc>
            </a:pPr>
            <a:r>
              <a:rPr lang="zh-CN" sz="1350">
                <a:solidFill>
                  <a:srgbClr val="E6EEF9">
                    <a:alpha val="68000"/>
                  </a:srgbClr>
                </a:solidFill>
                <a:latin typeface="微软雅黑" panose="020B0503020204020204" charset="-122"/>
                <a:ea typeface="微软雅黑" panose="020B0503020204020204" charset="-122"/>
              </a:rPr>
              <a:t>它们不是偶发的运气问题，而是同一套调度逻辑的四种外在表现。</a:t>
            </a:r>
            <a:endParaRPr lang="zh-CN" sz="1350">
              <a:solidFill>
                <a:srgbClr val="E6EEF9">
                  <a:alpha val="68000"/>
                </a:srgbClr>
              </a:solidFill>
              <a:latin typeface="微软雅黑" panose="020B0503020204020204" charset="-122"/>
              <a:ea typeface="微软雅黑" panose="020B0503020204020204" charset="-122"/>
            </a:endParaRPr>
          </a:p>
        </p:txBody>
      </p:sp>
      <p:sp>
        <p:nvSpPr>
          <p:cNvPr id="386" name="文本框 385" descr="{&quot;isTemplate&quot;:true,&quot;type&quot;:&quot;text&quot;}"/>
          <p:cNvSpPr txBox="1"/>
          <p:nvPr/>
        </p:nvSpPr>
        <p:spPr>
          <a:xfrm>
            <a:off x="5276850" y="1790700"/>
            <a:ext cx="6096000" cy="200025"/>
          </a:xfrm>
          <a:prstGeom prst="rect">
            <a:avLst/>
          </a:prstGeom>
        </p:spPr>
        <p:txBody>
          <a:bodyPr wrap="none" lIns="0" tIns="0" rIns="0" bIns="0"/>
          <a:p>
            <a:pPr>
              <a:lnSpc>
                <a:spcPct val="100000"/>
              </a:lnSpc>
            </a:pPr>
            <a:r>
              <a:rPr lang="zh-CN" sz="1275">
                <a:solidFill>
                  <a:srgbClr val="E6EEF9">
                    <a:alpha val="62000"/>
                  </a:srgbClr>
                </a:solidFill>
                <a:latin typeface="微软雅黑" panose="020B0503020204020204" charset="-122"/>
                <a:ea typeface="微软雅黑" panose="020B0503020204020204" charset="-122"/>
              </a:rPr>
              <a:t>按下多个呼梯按钮，电梯仍然姗姗来迟，按得越多越无效</a:t>
            </a:r>
            <a:endParaRPr lang="zh-CN" sz="1275">
              <a:solidFill>
                <a:srgbClr val="E6EEF9">
                  <a:alpha val="62000"/>
                </a:srgbClr>
              </a:solidFill>
              <a:latin typeface="微软雅黑" panose="020B0503020204020204" charset="-122"/>
              <a:ea typeface="微软雅黑" panose="020B0503020204020204" charset="-122"/>
            </a:endParaRPr>
          </a:p>
        </p:txBody>
      </p:sp>
      <p:sp>
        <p:nvSpPr>
          <p:cNvPr id="387" name="文本框 386" descr="{&quot;isTemplate&quot;:true,&quot;type&quot;:&quot;text&quot;}"/>
          <p:cNvSpPr txBox="1"/>
          <p:nvPr/>
        </p:nvSpPr>
        <p:spPr>
          <a:xfrm>
            <a:off x="5276850" y="2819400"/>
            <a:ext cx="6096000" cy="200025"/>
          </a:xfrm>
          <a:prstGeom prst="rect">
            <a:avLst/>
          </a:prstGeom>
        </p:spPr>
        <p:txBody>
          <a:bodyPr wrap="none" lIns="0" tIns="0" rIns="0" bIns="0"/>
          <a:p>
            <a:pPr>
              <a:lnSpc>
                <a:spcPct val="100000"/>
              </a:lnSpc>
            </a:pPr>
            <a:r>
              <a:rPr lang="zh-CN" sz="1275">
                <a:solidFill>
                  <a:srgbClr val="E6EEF9">
                    <a:alpha val="62000"/>
                  </a:srgbClr>
                </a:solidFill>
                <a:latin typeface="微软雅黑" panose="020B0503020204020204" charset="-122"/>
                <a:ea typeface="微软雅黑" panose="020B0503020204020204" charset="-122"/>
              </a:rPr>
              <a:t>门开了却没有人，还要伸手补按按钮，关门再占掉一次时间</a:t>
            </a:r>
            <a:endParaRPr lang="zh-CN" sz="1275">
              <a:solidFill>
                <a:srgbClr val="E6EEF9">
                  <a:alpha val="62000"/>
                </a:srgbClr>
              </a:solidFill>
              <a:latin typeface="微软雅黑" panose="020B0503020204020204" charset="-122"/>
              <a:ea typeface="微软雅黑" panose="020B0503020204020204" charset="-122"/>
            </a:endParaRPr>
          </a:p>
        </p:txBody>
      </p:sp>
      <p:sp>
        <p:nvSpPr>
          <p:cNvPr id="388" name="文本框 387" descr="{&quot;isTemplate&quot;:true,&quot;type&quot;:&quot;text&quot;}"/>
          <p:cNvSpPr txBox="1"/>
          <p:nvPr/>
        </p:nvSpPr>
        <p:spPr>
          <a:xfrm>
            <a:off x="5276850" y="3848100"/>
            <a:ext cx="6096000" cy="200025"/>
          </a:xfrm>
          <a:prstGeom prst="rect">
            <a:avLst/>
          </a:prstGeom>
        </p:spPr>
        <p:txBody>
          <a:bodyPr wrap="none" lIns="0" tIns="0" rIns="0" bIns="0"/>
          <a:p>
            <a:pPr>
              <a:lnSpc>
                <a:spcPct val="100000"/>
              </a:lnSpc>
            </a:pPr>
            <a:r>
              <a:rPr lang="zh-CN" sz="1275">
                <a:solidFill>
                  <a:srgbClr val="E6EEF9">
                    <a:alpha val="62000"/>
                  </a:srgbClr>
                </a:solidFill>
                <a:latin typeface="微软雅黑" panose="020B0503020204020204" charset="-122"/>
                <a:ea typeface="微软雅黑" panose="020B0503020204020204" charset="-122"/>
              </a:rPr>
              <a:t>一趟电梯接连接送多个楼层的学生，完整行程被打成碎片</a:t>
            </a:r>
            <a:endParaRPr lang="zh-CN" sz="1275">
              <a:solidFill>
                <a:srgbClr val="E6EEF9">
                  <a:alpha val="62000"/>
                </a:srgbClr>
              </a:solidFill>
              <a:latin typeface="微软雅黑" panose="020B0503020204020204" charset="-122"/>
              <a:ea typeface="微软雅黑" panose="020B0503020204020204" charset="-122"/>
            </a:endParaRPr>
          </a:p>
        </p:txBody>
      </p:sp>
      <p:sp>
        <p:nvSpPr>
          <p:cNvPr id="389" name="文本框 388" descr="{&quot;isTemplate&quot;:true,&quot;type&quot;:&quot;text&quot;}"/>
          <p:cNvSpPr txBox="1"/>
          <p:nvPr/>
        </p:nvSpPr>
        <p:spPr>
          <a:xfrm>
            <a:off x="5276850" y="4876800"/>
            <a:ext cx="6096000" cy="200025"/>
          </a:xfrm>
          <a:prstGeom prst="rect">
            <a:avLst/>
          </a:prstGeom>
        </p:spPr>
        <p:txBody>
          <a:bodyPr wrap="none" lIns="0" tIns="0" rIns="0" bIns="0"/>
          <a:p>
            <a:pPr>
              <a:lnSpc>
                <a:spcPct val="100000"/>
              </a:lnSpc>
            </a:pPr>
            <a:r>
              <a:rPr lang="zh-CN" sz="1275">
                <a:solidFill>
                  <a:srgbClr val="E6EEF9">
                    <a:alpha val="62000"/>
                  </a:srgbClr>
                </a:solidFill>
                <a:latin typeface="微软雅黑" panose="020B0503020204020204" charset="-122"/>
                <a:ea typeface="微软雅黑" panose="020B0503020204020204" charset="-122"/>
              </a:rPr>
              <a:t>满载后仍然逐层响应外呼，开门后发现全是人，冗余停靠</a:t>
            </a:r>
            <a:r>
              <a:rPr lang="zh-CN" sz="1275">
                <a:solidFill>
                  <a:srgbClr val="E6EEF9">
                    <a:alpha val="62000"/>
                  </a:srgbClr>
                </a:solidFill>
                <a:latin typeface="微软雅黑" panose="020B0503020204020204" charset="-122"/>
                <a:ea typeface="微软雅黑" panose="020B0503020204020204" charset="-122"/>
              </a:rPr>
              <a:t>多</a:t>
            </a:r>
            <a:endParaRPr lang="zh-CN" sz="1275">
              <a:solidFill>
                <a:srgbClr val="E6EEF9">
                  <a:alpha val="62000"/>
                </a:srgbClr>
              </a:solidFill>
              <a:latin typeface="微软雅黑" panose="020B0503020204020204" charset="-122"/>
              <a:ea typeface="微软雅黑" panose="020B0503020204020204" charset="-122"/>
            </a:endParaRPr>
          </a:p>
        </p:txBody>
      </p:sp>
      <p:sp>
        <p:nvSpPr>
          <p:cNvPr id="390" name="文本框 389" descr="{&quot;isTemplate&quot;:true,&quot;type&quot;:&quot;text&quot;}"/>
          <p:cNvSpPr txBox="1"/>
          <p:nvPr/>
        </p:nvSpPr>
        <p:spPr>
          <a:xfrm>
            <a:off x="4695825" y="5772150"/>
            <a:ext cx="6677025" cy="304800"/>
          </a:xfrm>
          <a:prstGeom prst="rect">
            <a:avLst/>
          </a:prstGeom>
        </p:spPr>
        <p:txBody>
          <a:bodyPr wrap="none" lIns="0" tIns="0" rIns="0" bIns="0"/>
          <a:p>
            <a:pPr>
              <a:lnSpc>
                <a:spcPct val="155000"/>
              </a:lnSpc>
            </a:pPr>
            <a:r>
              <a:rPr lang="zh-CN" sz="1275">
                <a:solidFill>
                  <a:srgbClr val="E6EEF9">
                    <a:alpha val="85000"/>
                  </a:srgbClr>
                </a:solidFill>
                <a:latin typeface="微软雅黑" panose="020B0503020204020204" charset="-122"/>
                <a:ea typeface="微软雅黑" panose="020B0503020204020204" charset="-122"/>
              </a:rPr>
              <a:t>四条抱怨指向同一个根因：电梯在没有人、也没有真实需求的地方，做了太多无用功。</a:t>
            </a:r>
            <a:endParaRPr lang="zh-CN" sz="1275">
              <a:solidFill>
                <a:srgbClr val="E6EEF9">
                  <a:alpha val="85000"/>
                </a:srgbClr>
              </a:solidFill>
              <a:latin typeface="微软雅黑" panose="020B0503020204020204" charset="-122"/>
              <a:ea typeface="微软雅黑" panose="020B0503020204020204" charset="-122"/>
            </a:endParaRPr>
          </a:p>
        </p:txBody>
      </p:sp>
      <p:sp>
        <p:nvSpPr>
          <p:cNvPr id="391" name="任意多边形 390"/>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392" name="文本框 391"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393" name="文本框 392"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04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94"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defs&gt;&#10;            &lt;rect width='1280' height='720' fill='url(#grid)' /&gt;&#10;        &lt;/svg&gt;&#10;    &lt;/Box&gt;&#10;&#10;    &lt;Box style={{ position: 'relative', zIndex: 1, height: 84, display: 'flex', flexDirection: 'column' }}&gt;&#10;        &lt;Text style={{ fontSize: 14, color: '#22D3EE', letterSpacing: 3, fontFamily: 'Segoe UI' }}&gt;CHAPTER 01 · 困局&lt;/Text&gt;&#10;        &lt;Box style={{ height: 8 }} /&gt;&#10;        &lt;Text style={{ fontSize: 32, fontWeight: 'bold', color: '#E6EEF9' }}&gt;短板归因：安全 · 运作 · 维保&lt;/Text&gt;&#10;        &lt;Box style={{ height: 10 }} /&gt;&#10;        &lt;Box style={{ width: '56px', height: '3px', background: '#22D3EE' }} /&gt;&#10;    &lt;/Box&gt;&#10;&#10;    &lt;Box style={{ position: 'relative', zIndex: 1, height: 520, marginTop: 16, flexDirection: 'row', gap: 24 }}&gt;&#10;        &lt;Box style={{ width: '320px', display: 'flex', flexDirection: 'column' }}&gt;&#10;            &lt;Text style={{ fontSize: 110, fontWeight: 'bold', color: '#22D3EE', lineHeight: 1.0, fontFamily: 'Segoe UI', letterSpacing: -2 }}&gt;13&lt;/Text&gt;&#10;            &lt;Box style={{ height: 6 }} /&gt;&#10;            &lt;Text style={{ fontSize: 24, fontWeight: 'bold', color: '#E6EEF9' }}&gt;项具体问题&lt;/Text&gt;&#10;            &lt;Box style={{ height: 20 }} /&gt;&#10;            &lt;Box style={{ width: '48px', height: '3px', background: '#22D3EE' }} /&gt;&#10;            &lt;Box style={{ height: 20 }} /&gt;&#10;            &lt;Text style={{ fontSize: 18, color: '#E6EEF9', opacity: 0.68, lineHeight: 1.65 }}&gt;&#10;                其中运作维度独占 7 项，是本次改造的靶心。&#10;            &lt;/Text&gt;&#10;            &lt;Box style={{ marginTop: 'auto', flexDirection: 'row', gap: 8, alignItems: 'flex-end', height: 120 }}&gt;&#10;                &lt;Box style={{ width: 40, background: 'rgba(59,130,246,0.55)', height: 34 }} /&gt;&#10;                &lt;Box style={{ width: 40, background: '#22D3EE', height: 96 }} /&gt;&#10;                &lt;Box style={{ width: 40, background: 'rgba(59,130,246,0.55)', height: 40 }} /&gt;&#10;                &lt;Text style={{ fontSize: 15, color: '#E6EEF9', opacity: 0.45, marginLeft: 8 }}&gt;安全 3 / 运作 7 / 维保 3&lt;/Text&gt;&#10;            &lt;/Box&gt;&#10;        &lt;/Box&gt;&#10;&#10;        &lt;Box style={{ flex: 1, display: 'flex', flexDirection: 'column', gap: 16 }}&gt;&#10;            &lt;Box&#10;                style={{&#10;                    height: 118,&#10;                    flexDirection: 'row',&#10;                    gap: 18,&#10;                    padding: '16px 20px',&#10;                    background: 'rgba(59,130,246,0.10)',&#10;                    border: '1px solid rgba(59,130,246,0.24)',&#10;                    borderRadius: 10,&#10;                }}&#10;            &gt;&#10;                &lt;Box style={{ width: '112px' }}&gt;&#10;                    &lt;Text style={{ fontSize: 22, fontWeight: 'bold', color: '#E6EEF9' }}&gt;安全&lt;/Text&gt;&#10;                    &lt;Box style={{ height: 6 }} /&gt;&#10;                    &lt;Text style={{ fontSize: 15, color: '#22D3EE', fontFamily: 'Segoe UI' }}&gt;3 项&lt;/Text&gt;&#10;                &lt;/Box&gt;&#10;                &lt;Box style={{ flex: 1 }}&gt;&#10;                    &lt;Text style={{ fontSize: 15, color: '#E6EEF9', opacity: 0.72, lineHeight: 1.55 }}&gt;&#10;                        · 安全以被动保护为主，故障预警能力不足&#10;                        &lt;br /&gt;&#10;                        · 被困时通讯求救容易失效（应急铃失灵、网络异常）&#10;                        &lt;br /&gt;&#10;                        · 火灾下井道受烟囱效应灌入浓烟，缺少气密隔烟结构，断电极易困人&#10;                    &lt;/Text&gt;&#10;                &lt;/Box&gt;&#10;            &lt;/Box&gt;&#10;&#10;            &lt;Box&#10;                style={{&#10;                    height: 140,&#10;                    flexDirection: 'row',&#10;                    gap: 18,&#10;                    padding: '16px 20px',&#10;                    background: 'rgba(34,211,238,0.10)',&#10;                    border: '1px solid rgba(34,211,238,0.32)',&#10;                    borderRadius: 10,&#10;                }}&#10;            &gt;&#10;                &lt;Box style={{ width: '112px' }}&gt;&#10;                    &lt;Text style={{ fontSize: 22, fontWeight: 'bold', color: '#22D3EE' }}&gt;运作&lt;/Text&gt;&#10;                    &lt;Box style={{ height: 6 }} /&gt;&#10;                    &lt;Text style={{ fontSize: 15, color: '#22D3EE', fontFamily: 'Segoe UI' }}&gt;7 项&lt;/Text&gt;&#10;                    &lt;Box style={{ height: 10 }} /&gt;&#10;                    &lt;Text style={{ fontSize: 13, color: '#E6EEF9', opacity: 0.5 }}&gt;改造靶心&lt;/Text&gt;&#10;                &lt;/Box&gt;&#10;                &lt;Box style={{ flex: 1, flexDirection: 'row', gap: 16 }}&gt;&#10;                    &lt;Box style={{ flex: 1 }}&gt;&#10;                        &lt;Text style={{ fontSize: 15, color: '#E6EEF9', opacity: 0.78, lineHeight: 1.55 }}&gt;&#10;                            · 运行调度算法落后，高峰期等候时间长&#10;                            &lt;br /&gt;&#10;                            · 缺少智能识别，难以阻止电动车进入&#10;                            &lt;br /&gt;&#10;                            · 对轿厢内异常行为无法响应（小孩跑跳）&#10;                            &lt;br /&gt;&#10;                            · 会做出冗余停靠响应（开空门）&#10;                        &lt;/Text&gt;&#10;                    &lt;/Box&gt;&#10;                    &lt;Box style={{ flex: 1 }}&gt;&#10;                        &lt;Text style={{ fontSize: 15, color: '#E6EEF9', opacity: 0.78, lineHeight: 1.55 }}&gt;&#10;                            · 电梯门结构故障率偏高（异响、反复开关）&#10;                            &lt;br /&gt;&#10;                            · 通风、降噪、无障碍设计仍有提升空间&#10;                            &lt;br /&gt;&#10;                            · 无自适应节能，空载上下仍高耗电&#10;                        &lt;/Text&gt;&#10;                    &lt;/Box&gt;&#10;                &lt;/Box&gt;&#10;            &lt;/Box&gt;&#10;&#10;            &lt;Box&#10;                style={{&#10;                    height: 118,&#10;                    flexDirection: 'row',&#10;                    gap: 18,&#10;                    padding: '16px 20px',&#10;                    background: 'rgba(59,130,246,0.10)',&#10;                    border: '1px solid rgba(59,130,246,0.24)',&#10;                    borderRadius: 10,&#10;                }}&#10;            &gt;&#10;                &lt;Box style={{ width: '112px' }}&gt;&#10;                    &lt;Text style={{ fontSize: 22, fontWeight: 'bold', color: '#E6EEF9' }}&gt;维保&lt;/Text&gt;&#10;                    &lt;Box style={{ height: 6 }} /&gt;&#10;                    &lt;Text style={{ fontSize: 15, color: '#22D3EE', fontFamily: 'Segoe UI' }}&gt;3 项&lt;/Text&gt;&#10;                &lt;/Box&gt;&#10;                &lt;Box style={{ flex: 1 }}&gt;&#10;                    &lt;Text style={{ fontSize: 15, color: '#E6EEF9', opacity: 0.72, lineHeight: 1.55 }}&gt;&#10;                        · 按键老化、接触不良、失灵，按下后指示灯不亮&#10;                        &lt;br /&gt;&#10;                        · 老旧电梯配件老化稀缺，难以维保&#10;                        &lt;br /&gt;&#10;                        · 传统定期维保易流于形式，有待向智能化按需维保转型&#10;                    &lt;/Text&gt;&#10;                &lt;/Box&gt;&#10;            &lt;/Box&gt;&#10;&#10;            &lt;Box&#10;                style={{&#10;                    marginTop: 'auto',&#10;                    padding: '16px 22px',&#10;                    background: 'rgba(34,211,238,0.10)',&#10;                    borderLeft: '3px solid #22D3EE',&#10;                    borderRadius: 4,&#10;                }}&#10;            &gt;&#10;                &lt;Text style={{ fontSize: 17, color: '#E6EEF9', opacity: 0.85, lineHeight: 1.55 }}&gt;&#10;                    改造只聚焦运作维度中「能被算法与感知消除」的那一部分 —— 不新增电梯、不改井道；安全与维保留到下一步。&#10;                &lt;/Text&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05 / 18&lt;/Text&gt;&#10;    &lt;/Box&gt;&#10;&lt;/Slide&gt;&#10;"/>
        <p:cNvGrpSpPr/>
        <p:nvPr/>
      </p:nvGrpSpPr>
      <p:grpSpPr>
        <a:xfrm>
          <a:off x="0" y="0"/>
          <a:ext cx="0" cy="0"/>
          <a:chOff x="0" y="0"/>
          <a:chExt cx="0" cy="0"/>
        </a:xfrm>
      </p:grpSpPr>
      <p:sp>
        <p:nvSpPr>
          <p:cNvPr id="395" name="矩形 394"/>
          <p:cNvSpPr/>
          <p:nvPr/>
        </p:nvSpPr>
        <p:spPr>
          <a:xfrm>
            <a:off x="0" y="0"/>
            <a:ext cx="12192000" cy="6858000"/>
          </a:xfrm>
          <a:prstGeom prst="rect">
            <a:avLst/>
          </a:prstGeom>
          <a:solidFill>
            <a:srgbClr val="0A1424"/>
          </a:solidFill>
        </p:spPr>
        <p:txBody>
          <a:bodyPr/>
          <a:p/>
        </p:txBody>
      </p:sp>
      <p:pic>
        <p:nvPicPr>
          <p:cNvPr id="396" name="图片 39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97" name="文本框 396"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01 · </a:t>
            </a:r>
            <a:r>
              <a:rPr lang="zh-CN" sz="1050" spc="225">
                <a:solidFill>
                  <a:srgbClr val="22D3EE"/>
                </a:solidFill>
                <a:latin typeface="Segoe UI" panose="020B0502040204020203"/>
                <a:ea typeface="Segoe UI" panose="020B0502040204020203"/>
              </a:rPr>
              <a:t>困局</a:t>
            </a:r>
            <a:endParaRPr lang="zh-CN" sz="1050" spc="225">
              <a:solidFill>
                <a:srgbClr val="22D3EE"/>
              </a:solidFill>
              <a:latin typeface="Segoe UI" panose="020B0502040204020203"/>
              <a:ea typeface="Segoe UI" panose="020B0502040204020203"/>
            </a:endParaRPr>
          </a:p>
        </p:txBody>
      </p:sp>
      <p:sp>
        <p:nvSpPr>
          <p:cNvPr id="398" name="文本框 397"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短板归因：安全</a:t>
            </a:r>
            <a:r>
              <a:rPr lang="en-US" sz="2400" b="1">
                <a:solidFill>
                  <a:srgbClr val="E6EEF9"/>
                </a:solidFill>
                <a:latin typeface="微软雅黑" panose="020B0503020204020204" charset="-122"/>
                <a:ea typeface="微软雅黑" panose="020B0503020204020204" charset="-122"/>
              </a:rPr>
              <a:t> · </a:t>
            </a:r>
            <a:r>
              <a:rPr lang="zh-CN" sz="2400" b="1">
                <a:solidFill>
                  <a:srgbClr val="E6EEF9"/>
                </a:solidFill>
                <a:latin typeface="微软雅黑" panose="020B0503020204020204" charset="-122"/>
                <a:ea typeface="微软雅黑" panose="020B0503020204020204" charset="-122"/>
              </a:rPr>
              <a:t>运作</a:t>
            </a:r>
            <a:r>
              <a:rPr lang="en-US" sz="2400" b="1">
                <a:solidFill>
                  <a:srgbClr val="E6EEF9"/>
                </a:solidFill>
                <a:latin typeface="微软雅黑" panose="020B0503020204020204" charset="-122"/>
                <a:ea typeface="微软雅黑" panose="020B0503020204020204" charset="-122"/>
              </a:rPr>
              <a:t> · </a:t>
            </a:r>
            <a:r>
              <a:rPr lang="zh-CN" sz="2400" b="1">
                <a:solidFill>
                  <a:srgbClr val="E6EEF9"/>
                </a:solidFill>
                <a:latin typeface="微软雅黑" panose="020B0503020204020204" charset="-122"/>
                <a:ea typeface="微软雅黑" panose="020B0503020204020204" charset="-122"/>
              </a:rPr>
              <a:t>维保</a:t>
            </a:r>
            <a:endParaRPr lang="zh-CN" sz="2400" b="1">
              <a:solidFill>
                <a:srgbClr val="E6EEF9"/>
              </a:solidFill>
              <a:latin typeface="微软雅黑" panose="020B0503020204020204" charset="-122"/>
              <a:ea typeface="微软雅黑" panose="020B0503020204020204" charset="-122"/>
            </a:endParaRPr>
          </a:p>
        </p:txBody>
      </p:sp>
      <p:sp>
        <p:nvSpPr>
          <p:cNvPr id="399" name="矩形 398"/>
          <p:cNvSpPr/>
          <p:nvPr/>
        </p:nvSpPr>
        <p:spPr>
          <a:xfrm>
            <a:off x="609600" y="1009650"/>
            <a:ext cx="533400" cy="28575"/>
          </a:xfrm>
          <a:prstGeom prst="rect">
            <a:avLst/>
          </a:prstGeom>
          <a:solidFill>
            <a:srgbClr val="22D3EE"/>
          </a:solidFill>
        </p:spPr>
        <p:txBody>
          <a:bodyPr/>
          <a:p/>
        </p:txBody>
      </p:sp>
      <p:sp>
        <p:nvSpPr>
          <p:cNvPr id="400" name="文本框 399" descr="{&quot;isTemplate&quot;:true,&quot;type&quot;:&quot;text&quot;}"/>
          <p:cNvSpPr txBox="1"/>
          <p:nvPr/>
        </p:nvSpPr>
        <p:spPr>
          <a:xfrm>
            <a:off x="609600" y="1257300"/>
            <a:ext cx="3048000" cy="1257300"/>
          </a:xfrm>
          <a:prstGeom prst="rect">
            <a:avLst/>
          </a:prstGeom>
        </p:spPr>
        <p:txBody>
          <a:bodyPr wrap="none" lIns="0" tIns="0" rIns="0" bIns="0"/>
          <a:p>
            <a:pPr>
              <a:lnSpc>
                <a:spcPct val="100000"/>
              </a:lnSpc>
            </a:pPr>
            <a:r>
              <a:rPr lang="en-US" sz="8250" b="1" spc="-150">
                <a:solidFill>
                  <a:srgbClr val="22D3EE"/>
                </a:solidFill>
                <a:latin typeface="Segoe UI" panose="020B0502040204020203"/>
                <a:ea typeface="Segoe UI" panose="020B0502040204020203"/>
              </a:rPr>
              <a:t>12</a:t>
            </a:r>
            <a:endParaRPr lang="en-US" sz="8250" b="1" spc="-150">
              <a:solidFill>
                <a:srgbClr val="22D3EE"/>
              </a:solidFill>
              <a:latin typeface="Segoe UI" panose="020B0502040204020203"/>
              <a:ea typeface="Segoe UI" panose="020B0502040204020203"/>
            </a:endParaRPr>
          </a:p>
        </p:txBody>
      </p:sp>
      <p:sp>
        <p:nvSpPr>
          <p:cNvPr id="401" name="文本框 400" descr="{&quot;isTemplate&quot;:true,&quot;type&quot;:&quot;text&quot;}"/>
          <p:cNvSpPr txBox="1"/>
          <p:nvPr/>
        </p:nvSpPr>
        <p:spPr>
          <a:xfrm>
            <a:off x="609600" y="2571750"/>
            <a:ext cx="3048000" cy="276225"/>
          </a:xfrm>
          <a:prstGeom prst="rect">
            <a:avLst/>
          </a:prstGeom>
        </p:spPr>
        <p:txBody>
          <a:bodyPr wrap="none" lIns="0" tIns="0" rIns="0" bIns="0"/>
          <a:p>
            <a:pPr>
              <a:lnSpc>
                <a:spcPct val="100000"/>
              </a:lnSpc>
            </a:pPr>
            <a:r>
              <a:rPr lang="zh-CN" sz="1800" b="1">
                <a:solidFill>
                  <a:srgbClr val="E6EEF9"/>
                </a:solidFill>
                <a:latin typeface="微软雅黑" panose="020B0503020204020204" charset="-122"/>
                <a:ea typeface="微软雅黑" panose="020B0503020204020204" charset="-122"/>
              </a:rPr>
              <a:t>项具体问题</a:t>
            </a:r>
            <a:endParaRPr lang="zh-CN" sz="1800" b="1">
              <a:solidFill>
                <a:srgbClr val="E6EEF9"/>
              </a:solidFill>
              <a:latin typeface="微软雅黑" panose="020B0503020204020204" charset="-122"/>
              <a:ea typeface="微软雅黑" panose="020B0503020204020204" charset="-122"/>
            </a:endParaRPr>
          </a:p>
        </p:txBody>
      </p:sp>
      <p:sp>
        <p:nvSpPr>
          <p:cNvPr id="402" name="矩形 401"/>
          <p:cNvSpPr/>
          <p:nvPr/>
        </p:nvSpPr>
        <p:spPr>
          <a:xfrm>
            <a:off x="609600" y="3038475"/>
            <a:ext cx="457200" cy="28575"/>
          </a:xfrm>
          <a:prstGeom prst="rect">
            <a:avLst/>
          </a:prstGeom>
          <a:solidFill>
            <a:srgbClr val="22D3EE"/>
          </a:solidFill>
        </p:spPr>
        <p:txBody>
          <a:bodyPr/>
          <a:p/>
        </p:txBody>
      </p:sp>
      <p:sp>
        <p:nvSpPr>
          <p:cNvPr id="403" name="矩形 402"/>
          <p:cNvSpPr/>
          <p:nvPr/>
        </p:nvSpPr>
        <p:spPr>
          <a:xfrm>
            <a:off x="609600" y="5886450"/>
            <a:ext cx="381000" cy="323850"/>
          </a:xfrm>
          <a:prstGeom prst="rect">
            <a:avLst/>
          </a:prstGeom>
          <a:solidFill>
            <a:srgbClr val="3B82F6">
              <a:alpha val="55000"/>
            </a:srgbClr>
          </a:solidFill>
        </p:spPr>
        <p:txBody>
          <a:bodyPr/>
          <a:p/>
        </p:txBody>
      </p:sp>
      <p:sp>
        <p:nvSpPr>
          <p:cNvPr id="404" name="矩形 403"/>
          <p:cNvSpPr/>
          <p:nvPr/>
        </p:nvSpPr>
        <p:spPr>
          <a:xfrm>
            <a:off x="1066800" y="5295900"/>
            <a:ext cx="381000" cy="914400"/>
          </a:xfrm>
          <a:prstGeom prst="rect">
            <a:avLst/>
          </a:prstGeom>
          <a:solidFill>
            <a:srgbClr val="22D3EE"/>
          </a:solidFill>
        </p:spPr>
        <p:txBody>
          <a:bodyPr/>
          <a:p/>
        </p:txBody>
      </p:sp>
      <p:sp>
        <p:nvSpPr>
          <p:cNvPr id="405" name="矩形 404"/>
          <p:cNvSpPr/>
          <p:nvPr/>
        </p:nvSpPr>
        <p:spPr>
          <a:xfrm>
            <a:off x="1524000" y="5829300"/>
            <a:ext cx="381000" cy="381000"/>
          </a:xfrm>
          <a:prstGeom prst="rect">
            <a:avLst/>
          </a:prstGeom>
          <a:solidFill>
            <a:srgbClr val="3B82F6">
              <a:alpha val="55000"/>
            </a:srgbClr>
          </a:solidFill>
        </p:spPr>
        <p:txBody>
          <a:bodyPr/>
          <a:p/>
        </p:txBody>
      </p:sp>
      <p:sp>
        <p:nvSpPr>
          <p:cNvPr id="406" name="圆角矩形 405"/>
          <p:cNvSpPr/>
          <p:nvPr/>
        </p:nvSpPr>
        <p:spPr>
          <a:xfrm>
            <a:off x="3886200" y="1257300"/>
            <a:ext cx="7696200" cy="1123950"/>
          </a:xfrm>
          <a:prstGeom prst="roundRect">
            <a:avLst>
              <a:gd name="adj" fmla="val 8475"/>
            </a:avLst>
          </a:prstGeom>
          <a:solidFill>
            <a:srgbClr val="3B82F6">
              <a:alpha val="10000"/>
            </a:srgbClr>
          </a:solidFill>
          <a:ln w="12700">
            <a:solidFill>
              <a:srgbClr val="3B82F6">
                <a:alpha val="24000"/>
              </a:srgbClr>
            </a:solidFill>
            <a:prstDash val="solid"/>
          </a:ln>
        </p:spPr>
        <p:txBody>
          <a:bodyPr/>
          <a:p/>
        </p:txBody>
      </p:sp>
      <p:sp>
        <p:nvSpPr>
          <p:cNvPr id="407" name="文本框 406" descr="{&quot;isTemplate&quot;:true,&quot;type&quot;:&quot;text&quot;}"/>
          <p:cNvSpPr txBox="1"/>
          <p:nvPr/>
        </p:nvSpPr>
        <p:spPr>
          <a:xfrm>
            <a:off x="4076700" y="1409700"/>
            <a:ext cx="1066800" cy="257175"/>
          </a:xfrm>
          <a:prstGeom prst="rect">
            <a:avLst/>
          </a:prstGeom>
        </p:spPr>
        <p:txBody>
          <a:bodyPr wrap="none" lIns="0" tIns="0" rIns="0" bIns="0"/>
          <a:p>
            <a:pPr>
              <a:lnSpc>
                <a:spcPct val="100000"/>
              </a:lnSpc>
            </a:pPr>
            <a:r>
              <a:rPr lang="zh-CN" sz="1650" b="1">
                <a:solidFill>
                  <a:srgbClr val="E6EEF9"/>
                </a:solidFill>
                <a:latin typeface="微软雅黑" panose="020B0503020204020204" charset="-122"/>
                <a:ea typeface="微软雅黑" panose="020B0503020204020204" charset="-122"/>
              </a:rPr>
              <a:t>安全</a:t>
            </a:r>
            <a:endParaRPr lang="zh-CN" sz="1650" b="1">
              <a:solidFill>
                <a:srgbClr val="E6EEF9"/>
              </a:solidFill>
              <a:latin typeface="微软雅黑" panose="020B0503020204020204" charset="-122"/>
              <a:ea typeface="微软雅黑" panose="020B0503020204020204" charset="-122"/>
            </a:endParaRPr>
          </a:p>
        </p:txBody>
      </p:sp>
      <p:sp>
        <p:nvSpPr>
          <p:cNvPr id="408" name="文本框 407" descr="{&quot;isTemplate&quot;:true,&quot;type&quot;:&quot;text&quot;}"/>
          <p:cNvSpPr txBox="1"/>
          <p:nvPr/>
        </p:nvSpPr>
        <p:spPr>
          <a:xfrm>
            <a:off x="4076700" y="1724025"/>
            <a:ext cx="1066800" cy="171450"/>
          </a:xfrm>
          <a:prstGeom prst="rect">
            <a:avLst/>
          </a:prstGeom>
        </p:spPr>
        <p:txBody>
          <a:bodyPr wrap="none" lIns="0" tIns="0" rIns="0" bIns="0"/>
          <a:p>
            <a:pPr>
              <a:lnSpc>
                <a:spcPct val="100000"/>
              </a:lnSpc>
            </a:pPr>
            <a:r>
              <a:rPr lang="en-US" sz="1125">
                <a:solidFill>
                  <a:srgbClr val="22D3EE"/>
                </a:solidFill>
                <a:latin typeface="Segoe UI" panose="020B0502040204020203"/>
                <a:ea typeface="Segoe UI" panose="020B0502040204020203"/>
              </a:rPr>
              <a:t>3 </a:t>
            </a:r>
            <a:r>
              <a:rPr lang="zh-CN" sz="1125">
                <a:solidFill>
                  <a:srgbClr val="22D3EE"/>
                </a:solidFill>
                <a:latin typeface="Segoe UI" panose="020B0502040204020203"/>
                <a:ea typeface="Segoe UI" panose="020B0502040204020203"/>
              </a:rPr>
              <a:t>项</a:t>
            </a:r>
            <a:endParaRPr lang="zh-CN" sz="1125">
              <a:solidFill>
                <a:srgbClr val="22D3EE"/>
              </a:solidFill>
              <a:latin typeface="Segoe UI" panose="020B0502040204020203"/>
              <a:ea typeface="Segoe UI" panose="020B0502040204020203"/>
            </a:endParaRPr>
          </a:p>
        </p:txBody>
      </p:sp>
      <p:sp>
        <p:nvSpPr>
          <p:cNvPr id="409" name="圆角矩形 408"/>
          <p:cNvSpPr/>
          <p:nvPr/>
        </p:nvSpPr>
        <p:spPr>
          <a:xfrm>
            <a:off x="3886200" y="2533650"/>
            <a:ext cx="7696200" cy="1333500"/>
          </a:xfrm>
          <a:prstGeom prst="roundRect">
            <a:avLst>
              <a:gd name="adj" fmla="val 7143"/>
            </a:avLst>
          </a:prstGeom>
          <a:solidFill>
            <a:srgbClr val="22D3EE">
              <a:alpha val="10000"/>
            </a:srgbClr>
          </a:solidFill>
          <a:ln w="12700">
            <a:solidFill>
              <a:srgbClr val="22D3EE">
                <a:alpha val="32000"/>
              </a:srgbClr>
            </a:solidFill>
            <a:prstDash val="solid"/>
          </a:ln>
        </p:spPr>
        <p:txBody>
          <a:bodyPr/>
          <a:p/>
        </p:txBody>
      </p:sp>
      <p:sp>
        <p:nvSpPr>
          <p:cNvPr id="410" name="文本框 409" descr="{&quot;isTemplate&quot;:true,&quot;type&quot;:&quot;text&quot;}"/>
          <p:cNvSpPr txBox="1"/>
          <p:nvPr/>
        </p:nvSpPr>
        <p:spPr>
          <a:xfrm>
            <a:off x="4076700" y="2686050"/>
            <a:ext cx="1066800" cy="257175"/>
          </a:xfrm>
          <a:prstGeom prst="rect">
            <a:avLst/>
          </a:prstGeom>
        </p:spPr>
        <p:txBody>
          <a:bodyPr wrap="none" lIns="0" tIns="0" rIns="0" bIns="0"/>
          <a:p>
            <a:pPr>
              <a:lnSpc>
                <a:spcPct val="100000"/>
              </a:lnSpc>
            </a:pPr>
            <a:r>
              <a:rPr lang="zh-CN" sz="1650" b="1">
                <a:solidFill>
                  <a:srgbClr val="22D3EE"/>
                </a:solidFill>
                <a:latin typeface="微软雅黑" panose="020B0503020204020204" charset="-122"/>
                <a:ea typeface="微软雅黑" panose="020B0503020204020204" charset="-122"/>
              </a:rPr>
              <a:t>运作</a:t>
            </a:r>
            <a:endParaRPr lang="zh-CN" sz="1650" b="1">
              <a:solidFill>
                <a:srgbClr val="22D3EE"/>
              </a:solidFill>
              <a:latin typeface="微软雅黑" panose="020B0503020204020204" charset="-122"/>
              <a:ea typeface="微软雅黑" panose="020B0503020204020204" charset="-122"/>
            </a:endParaRPr>
          </a:p>
        </p:txBody>
      </p:sp>
      <p:sp>
        <p:nvSpPr>
          <p:cNvPr id="411" name="文本框 410" descr="{&quot;isTemplate&quot;:true,&quot;type&quot;:&quot;text&quot;}"/>
          <p:cNvSpPr txBox="1"/>
          <p:nvPr/>
        </p:nvSpPr>
        <p:spPr>
          <a:xfrm>
            <a:off x="4076700" y="3000375"/>
            <a:ext cx="1066800" cy="171450"/>
          </a:xfrm>
          <a:prstGeom prst="rect">
            <a:avLst/>
          </a:prstGeom>
        </p:spPr>
        <p:txBody>
          <a:bodyPr wrap="none" lIns="0" tIns="0" rIns="0" bIns="0"/>
          <a:p>
            <a:pPr>
              <a:lnSpc>
                <a:spcPct val="100000"/>
              </a:lnSpc>
            </a:pPr>
            <a:r>
              <a:rPr lang="en-US" sz="1125">
                <a:solidFill>
                  <a:srgbClr val="22D3EE"/>
                </a:solidFill>
                <a:latin typeface="Segoe UI" panose="020B0502040204020203"/>
                <a:ea typeface="Segoe UI" panose="020B0502040204020203"/>
              </a:rPr>
              <a:t>6</a:t>
            </a:r>
            <a:r>
              <a:rPr lang="zh-CN" sz="1125">
                <a:solidFill>
                  <a:srgbClr val="22D3EE"/>
                </a:solidFill>
                <a:latin typeface="Segoe UI" panose="020B0502040204020203"/>
                <a:ea typeface="Segoe UI" panose="020B0502040204020203"/>
              </a:rPr>
              <a:t>项</a:t>
            </a:r>
            <a:endParaRPr lang="zh-CN" sz="1125">
              <a:solidFill>
                <a:srgbClr val="22D3EE"/>
              </a:solidFill>
              <a:latin typeface="Segoe UI" panose="020B0502040204020203"/>
              <a:ea typeface="Segoe UI" panose="020B0502040204020203"/>
            </a:endParaRPr>
          </a:p>
        </p:txBody>
      </p:sp>
      <p:sp>
        <p:nvSpPr>
          <p:cNvPr id="412" name="圆角矩形 411"/>
          <p:cNvSpPr/>
          <p:nvPr/>
        </p:nvSpPr>
        <p:spPr>
          <a:xfrm>
            <a:off x="3886200" y="4019550"/>
            <a:ext cx="7696200" cy="1123950"/>
          </a:xfrm>
          <a:prstGeom prst="roundRect">
            <a:avLst>
              <a:gd name="adj" fmla="val 8475"/>
            </a:avLst>
          </a:prstGeom>
          <a:solidFill>
            <a:srgbClr val="3B82F6">
              <a:alpha val="10000"/>
            </a:srgbClr>
          </a:solidFill>
          <a:ln w="12700">
            <a:solidFill>
              <a:srgbClr val="3B82F6">
                <a:alpha val="24000"/>
              </a:srgbClr>
            </a:solidFill>
            <a:prstDash val="solid"/>
          </a:ln>
        </p:spPr>
        <p:txBody>
          <a:bodyPr/>
          <a:p/>
        </p:txBody>
      </p:sp>
      <p:sp>
        <p:nvSpPr>
          <p:cNvPr id="413" name="文本框 412" descr="{&quot;isTemplate&quot;:true,&quot;type&quot;:&quot;text&quot;}"/>
          <p:cNvSpPr txBox="1"/>
          <p:nvPr/>
        </p:nvSpPr>
        <p:spPr>
          <a:xfrm>
            <a:off x="4076700" y="4171950"/>
            <a:ext cx="1066800" cy="257175"/>
          </a:xfrm>
          <a:prstGeom prst="rect">
            <a:avLst/>
          </a:prstGeom>
        </p:spPr>
        <p:txBody>
          <a:bodyPr wrap="none" lIns="0" tIns="0" rIns="0" bIns="0"/>
          <a:p>
            <a:pPr>
              <a:lnSpc>
                <a:spcPct val="100000"/>
              </a:lnSpc>
            </a:pPr>
            <a:r>
              <a:rPr lang="zh-CN" sz="1650" b="1">
                <a:solidFill>
                  <a:srgbClr val="E6EEF9"/>
                </a:solidFill>
                <a:latin typeface="微软雅黑" panose="020B0503020204020204" charset="-122"/>
                <a:ea typeface="微软雅黑" panose="020B0503020204020204" charset="-122"/>
              </a:rPr>
              <a:t>维保</a:t>
            </a:r>
            <a:endParaRPr lang="zh-CN" sz="1650" b="1">
              <a:solidFill>
                <a:srgbClr val="E6EEF9"/>
              </a:solidFill>
              <a:latin typeface="微软雅黑" panose="020B0503020204020204" charset="-122"/>
              <a:ea typeface="微软雅黑" panose="020B0503020204020204" charset="-122"/>
            </a:endParaRPr>
          </a:p>
        </p:txBody>
      </p:sp>
      <p:sp>
        <p:nvSpPr>
          <p:cNvPr id="414" name="文本框 413" descr="{&quot;isTemplate&quot;:true,&quot;type&quot;:&quot;text&quot;}"/>
          <p:cNvSpPr txBox="1"/>
          <p:nvPr/>
        </p:nvSpPr>
        <p:spPr>
          <a:xfrm>
            <a:off x="4076700" y="4486275"/>
            <a:ext cx="1066800" cy="171450"/>
          </a:xfrm>
          <a:prstGeom prst="rect">
            <a:avLst/>
          </a:prstGeom>
        </p:spPr>
        <p:txBody>
          <a:bodyPr wrap="none" lIns="0" tIns="0" rIns="0" bIns="0"/>
          <a:p>
            <a:pPr>
              <a:lnSpc>
                <a:spcPct val="100000"/>
              </a:lnSpc>
            </a:pPr>
            <a:r>
              <a:rPr lang="en-US" sz="1125">
                <a:solidFill>
                  <a:srgbClr val="22D3EE"/>
                </a:solidFill>
                <a:latin typeface="Segoe UI" panose="020B0502040204020203"/>
                <a:ea typeface="Segoe UI" panose="020B0502040204020203"/>
              </a:rPr>
              <a:t>3 </a:t>
            </a:r>
            <a:r>
              <a:rPr lang="zh-CN" sz="1125">
                <a:solidFill>
                  <a:srgbClr val="22D3EE"/>
                </a:solidFill>
                <a:latin typeface="Segoe UI" panose="020B0502040204020203"/>
                <a:ea typeface="Segoe UI" panose="020B0502040204020203"/>
              </a:rPr>
              <a:t>项</a:t>
            </a:r>
            <a:endParaRPr lang="zh-CN" sz="1125">
              <a:solidFill>
                <a:srgbClr val="22D3EE"/>
              </a:solidFill>
              <a:latin typeface="Segoe UI" panose="020B0502040204020203"/>
              <a:ea typeface="Segoe UI" panose="020B0502040204020203"/>
            </a:endParaRPr>
          </a:p>
        </p:txBody>
      </p:sp>
      <p:sp>
        <p:nvSpPr>
          <p:cNvPr id="415" name="圆角矩形 414"/>
          <p:cNvSpPr/>
          <p:nvPr/>
        </p:nvSpPr>
        <p:spPr>
          <a:xfrm>
            <a:off x="3914775" y="5295900"/>
            <a:ext cx="7696200" cy="914400"/>
          </a:xfrm>
          <a:prstGeom prst="roundRect">
            <a:avLst>
              <a:gd name="adj" fmla="val 4167"/>
            </a:avLst>
          </a:prstGeom>
          <a:solidFill>
            <a:srgbClr val="22D3EE">
              <a:alpha val="10000"/>
            </a:srgbClr>
          </a:solidFill>
        </p:spPr>
        <p:txBody>
          <a:bodyPr/>
          <a:p/>
        </p:txBody>
      </p:sp>
      <p:sp>
        <p:nvSpPr>
          <p:cNvPr id="416" name="任意多边形 415"/>
          <p:cNvSpPr/>
          <p:nvPr/>
        </p:nvSpPr>
        <p:spPr>
          <a:xfrm>
            <a:off x="3914775" y="5295900"/>
            <a:ext cx="7696200" cy="914400"/>
          </a:xfrm>
          <a:custGeom>
            <a:avLst/>
            <a:gdLst/>
            <a:ahLst/>
            <a:cxnLst/>
            <a:pathLst>
              <a:path w="808" h="96">
                <a:moveTo>
                  <a:pt x="4" y="0"/>
                </a:moveTo>
                <a:cubicBezTo>
                  <a:pt x="3" y="0"/>
                  <a:pt x="3" y="0"/>
                  <a:pt x="3" y="1"/>
                </a:cubicBezTo>
                <a:lnTo>
                  <a:pt x="3" y="95"/>
                </a:lnTo>
                <a:cubicBezTo>
                  <a:pt x="3" y="95"/>
                  <a:pt x="3" y="96"/>
                  <a:pt x="4" y="96"/>
                </a:cubicBezTo>
                <a:cubicBezTo>
                  <a:pt x="2" y="96"/>
                  <a:pt x="0" y="94"/>
                  <a:pt x="0" y="92"/>
                </a:cubicBezTo>
                <a:lnTo>
                  <a:pt x="0" y="4"/>
                </a:lnTo>
                <a:cubicBezTo>
                  <a:pt x="0" y="2"/>
                  <a:pt x="2" y="0"/>
                  <a:pt x="4" y="0"/>
                </a:cubicBezTo>
                <a:close/>
              </a:path>
            </a:pathLst>
          </a:custGeom>
          <a:solidFill>
            <a:srgbClr val="22D3EE"/>
          </a:solidFill>
        </p:spPr>
        <p:txBody>
          <a:bodyPr/>
          <a:p/>
        </p:txBody>
      </p:sp>
      <p:sp>
        <p:nvSpPr>
          <p:cNvPr id="417" name="文本框 416" descr="{&quot;isTemplate&quot;:true,&quot;type&quot;:&quot;text&quot;}"/>
          <p:cNvSpPr txBox="1"/>
          <p:nvPr/>
        </p:nvSpPr>
        <p:spPr>
          <a:xfrm>
            <a:off x="609600" y="3257550"/>
            <a:ext cx="3048000" cy="685800"/>
          </a:xfrm>
          <a:prstGeom prst="rect">
            <a:avLst/>
          </a:prstGeom>
        </p:spPr>
        <p:txBody>
          <a:bodyPr wrap="square" lIns="0" tIns="0" rIns="0" bIns="0">
            <a:normAutofit/>
          </a:bodyPr>
          <a:p>
            <a:pPr>
              <a:lnSpc>
                <a:spcPct val="165000"/>
              </a:lnSpc>
            </a:pPr>
            <a:r>
              <a:rPr lang="zh-CN" sz="1350">
                <a:solidFill>
                  <a:srgbClr val="E6EEF9">
                    <a:alpha val="68000"/>
                  </a:srgbClr>
                </a:solidFill>
                <a:latin typeface="微软雅黑" panose="020B0503020204020204" charset="-122"/>
                <a:ea typeface="微软雅黑" panose="020B0503020204020204" charset="-122"/>
              </a:rPr>
              <a:t>其中运作维度独占</a:t>
            </a:r>
            <a:r>
              <a:rPr lang="en-US" sz="1350">
                <a:solidFill>
                  <a:srgbClr val="E6EEF9">
                    <a:alpha val="68000"/>
                  </a:srgbClr>
                </a:solidFill>
                <a:latin typeface="微软雅黑" panose="020B0503020204020204" charset="-122"/>
                <a:ea typeface="微软雅黑" panose="020B0503020204020204" charset="-122"/>
              </a:rPr>
              <a:t> 6 </a:t>
            </a:r>
            <a:r>
              <a:rPr lang="zh-CN" sz="1350">
                <a:solidFill>
                  <a:srgbClr val="E6EEF9">
                    <a:alpha val="68000"/>
                  </a:srgbClr>
                </a:solidFill>
                <a:latin typeface="微软雅黑" panose="020B0503020204020204" charset="-122"/>
                <a:ea typeface="微软雅黑" panose="020B0503020204020204" charset="-122"/>
              </a:rPr>
              <a:t>项，是本次改造的靶心。</a:t>
            </a:r>
            <a:endParaRPr lang="zh-CN" sz="1350">
              <a:solidFill>
                <a:srgbClr val="E6EEF9">
                  <a:alpha val="68000"/>
                </a:srgbClr>
              </a:solidFill>
              <a:latin typeface="微软雅黑" panose="020B0503020204020204" charset="-122"/>
              <a:ea typeface="微软雅黑" panose="020B0503020204020204" charset="-122"/>
            </a:endParaRPr>
          </a:p>
        </p:txBody>
      </p:sp>
      <p:sp>
        <p:nvSpPr>
          <p:cNvPr id="418" name="文本框 417" descr="{&quot;isTemplate&quot;:true,&quot;type&quot;:&quot;text&quot;}"/>
          <p:cNvSpPr txBox="1"/>
          <p:nvPr/>
        </p:nvSpPr>
        <p:spPr>
          <a:xfrm>
            <a:off x="2057400" y="6038850"/>
            <a:ext cx="1533525" cy="171450"/>
          </a:xfrm>
          <a:prstGeom prst="rect">
            <a:avLst/>
          </a:prstGeom>
        </p:spPr>
        <p:txBody>
          <a:bodyPr wrap="none" lIns="0" tIns="0" rIns="0" bIns="0"/>
          <a:p>
            <a:pPr>
              <a:lnSpc>
                <a:spcPct val="100000"/>
              </a:lnSpc>
            </a:pPr>
            <a:r>
              <a:rPr lang="zh-CN" sz="1125">
                <a:solidFill>
                  <a:srgbClr val="E6EEF9">
                    <a:alpha val="45000"/>
                  </a:srgbClr>
                </a:solidFill>
                <a:latin typeface="微软雅黑" panose="020B0503020204020204" charset="-122"/>
                <a:ea typeface="微软雅黑" panose="020B0503020204020204" charset="-122"/>
              </a:rPr>
              <a:t>安全</a:t>
            </a:r>
            <a:r>
              <a:rPr lang="en-US" sz="1125">
                <a:solidFill>
                  <a:srgbClr val="E6EEF9">
                    <a:alpha val="45000"/>
                  </a:srgbClr>
                </a:solidFill>
                <a:latin typeface="微软雅黑" panose="020B0503020204020204" charset="-122"/>
                <a:ea typeface="微软雅黑" panose="020B0503020204020204" charset="-122"/>
              </a:rPr>
              <a:t> 3 / </a:t>
            </a:r>
            <a:r>
              <a:rPr lang="zh-CN" sz="1125">
                <a:solidFill>
                  <a:srgbClr val="E6EEF9">
                    <a:alpha val="45000"/>
                  </a:srgbClr>
                </a:solidFill>
                <a:latin typeface="微软雅黑" panose="020B0503020204020204" charset="-122"/>
                <a:ea typeface="微软雅黑" panose="020B0503020204020204" charset="-122"/>
              </a:rPr>
              <a:t>运作</a:t>
            </a:r>
            <a:r>
              <a:rPr lang="en-US" sz="1125">
                <a:solidFill>
                  <a:srgbClr val="E6EEF9">
                    <a:alpha val="45000"/>
                  </a:srgbClr>
                </a:solidFill>
                <a:latin typeface="微软雅黑" panose="020B0503020204020204" charset="-122"/>
                <a:ea typeface="微软雅黑" panose="020B0503020204020204" charset="-122"/>
              </a:rPr>
              <a:t> 6 / </a:t>
            </a:r>
            <a:r>
              <a:rPr lang="zh-CN" sz="1125">
                <a:solidFill>
                  <a:srgbClr val="E6EEF9">
                    <a:alpha val="45000"/>
                  </a:srgbClr>
                </a:solidFill>
                <a:latin typeface="微软雅黑" panose="020B0503020204020204" charset="-122"/>
                <a:ea typeface="微软雅黑" panose="020B0503020204020204" charset="-122"/>
              </a:rPr>
              <a:t>维保</a:t>
            </a:r>
            <a:r>
              <a:rPr lang="en-US" sz="1125">
                <a:solidFill>
                  <a:srgbClr val="E6EEF9">
                    <a:alpha val="45000"/>
                  </a:srgbClr>
                </a:solidFill>
                <a:latin typeface="微软雅黑" panose="020B0503020204020204" charset="-122"/>
                <a:ea typeface="微软雅黑" panose="020B0503020204020204" charset="-122"/>
              </a:rPr>
              <a:t> 3</a:t>
            </a:r>
            <a:endParaRPr lang="en-US" sz="1125">
              <a:solidFill>
                <a:srgbClr val="E6EEF9">
                  <a:alpha val="45000"/>
                </a:srgbClr>
              </a:solidFill>
              <a:latin typeface="微软雅黑" panose="020B0503020204020204" charset="-122"/>
              <a:ea typeface="微软雅黑" panose="020B0503020204020204" charset="-122"/>
            </a:endParaRPr>
          </a:p>
        </p:txBody>
      </p:sp>
      <p:sp>
        <p:nvSpPr>
          <p:cNvPr id="419" name="文本框 418" descr="{&quot;isTemplate&quot;:true,&quot;type&quot;:&quot;text&quot;}"/>
          <p:cNvSpPr txBox="1"/>
          <p:nvPr/>
        </p:nvSpPr>
        <p:spPr>
          <a:xfrm>
            <a:off x="5314950" y="1409700"/>
            <a:ext cx="6076950" cy="800100"/>
          </a:xfrm>
          <a:prstGeom prst="rect">
            <a:avLst/>
          </a:prstGeom>
        </p:spPr>
        <p:txBody>
          <a:bodyPr wrap="none" lIns="0" tIns="0" rIns="0" bIns="0"/>
          <a:p>
            <a:pPr>
              <a:lnSpc>
                <a:spcPct val="155000"/>
              </a:lnSpc>
            </a:pPr>
            <a:r>
              <a:rPr lang="en-US" sz="1125">
                <a:solidFill>
                  <a:srgbClr val="E6EEF9">
                    <a:alpha val="72000"/>
                  </a:srgbClr>
                </a:solidFill>
                <a:latin typeface="微软雅黑" panose="020B0503020204020204" charset="-122"/>
                <a:ea typeface="微软雅黑" panose="020B0503020204020204" charset="-122"/>
              </a:rPr>
              <a:t>· </a:t>
            </a:r>
            <a:r>
              <a:rPr lang="zh-CN" sz="1125">
                <a:solidFill>
                  <a:srgbClr val="E6EEF9">
                    <a:alpha val="72000"/>
                  </a:srgbClr>
                </a:solidFill>
                <a:latin typeface="微软雅黑" panose="020B0503020204020204" charset="-122"/>
                <a:ea typeface="微软雅黑" panose="020B0503020204020204" charset="-122"/>
              </a:rPr>
              <a:t>安全以被动保护为主，故障预警能力不足</a:t>
            </a:r>
            <a:endParaRPr lang="zh-CN" sz="1125">
              <a:solidFill>
                <a:srgbClr val="E6EEF9">
                  <a:alpha val="72000"/>
                </a:srgbClr>
              </a:solidFill>
              <a:latin typeface="微软雅黑" panose="020B0503020204020204" charset="-122"/>
              <a:ea typeface="微软雅黑" panose="020B0503020204020204" charset="-122"/>
            </a:endParaRPr>
          </a:p>
          <a:p>
            <a:pPr>
              <a:lnSpc>
                <a:spcPct val="155000"/>
              </a:lnSpc>
            </a:pPr>
            <a:r>
              <a:rPr lang="en-US" sz="1125">
                <a:solidFill>
                  <a:srgbClr val="E6EEF9">
                    <a:alpha val="72000"/>
                  </a:srgbClr>
                </a:solidFill>
                <a:latin typeface="微软雅黑" panose="020B0503020204020204" charset="-122"/>
                <a:ea typeface="微软雅黑" panose="020B0503020204020204" charset="-122"/>
              </a:rPr>
              <a:t>· </a:t>
            </a:r>
            <a:r>
              <a:rPr lang="zh-CN" sz="1125">
                <a:solidFill>
                  <a:srgbClr val="E6EEF9">
                    <a:alpha val="72000"/>
                  </a:srgbClr>
                </a:solidFill>
                <a:latin typeface="微软雅黑" panose="020B0503020204020204" charset="-122"/>
                <a:ea typeface="微软雅黑" panose="020B0503020204020204" charset="-122"/>
              </a:rPr>
              <a:t>被困时通讯求救容易失效（应急铃失灵、网络异常）</a:t>
            </a:r>
            <a:endParaRPr lang="zh-CN" sz="1125">
              <a:solidFill>
                <a:srgbClr val="E6EEF9">
                  <a:alpha val="72000"/>
                </a:srgbClr>
              </a:solidFill>
              <a:latin typeface="微软雅黑" panose="020B0503020204020204" charset="-122"/>
              <a:ea typeface="微软雅黑" panose="020B0503020204020204" charset="-122"/>
            </a:endParaRPr>
          </a:p>
          <a:p>
            <a:pPr>
              <a:lnSpc>
                <a:spcPct val="155000"/>
              </a:lnSpc>
            </a:pPr>
            <a:r>
              <a:rPr lang="en-US" sz="1125">
                <a:solidFill>
                  <a:srgbClr val="E6EEF9">
                    <a:alpha val="72000"/>
                  </a:srgbClr>
                </a:solidFill>
                <a:latin typeface="微软雅黑" panose="020B0503020204020204" charset="-122"/>
                <a:ea typeface="微软雅黑" panose="020B0503020204020204" charset="-122"/>
              </a:rPr>
              <a:t>· </a:t>
            </a:r>
            <a:r>
              <a:rPr lang="zh-CN" sz="1125">
                <a:solidFill>
                  <a:srgbClr val="E6EEF9">
                    <a:alpha val="72000"/>
                  </a:srgbClr>
                </a:solidFill>
                <a:latin typeface="微软雅黑" panose="020B0503020204020204" charset="-122"/>
                <a:ea typeface="微软雅黑" panose="020B0503020204020204" charset="-122"/>
              </a:rPr>
              <a:t>火灾下井道受烟囱效应灌入浓烟，缺少气密隔烟结构，断电极易困人</a:t>
            </a:r>
            <a:endParaRPr lang="zh-CN" sz="1125">
              <a:solidFill>
                <a:srgbClr val="E6EEF9">
                  <a:alpha val="72000"/>
                </a:srgbClr>
              </a:solidFill>
              <a:latin typeface="微软雅黑" panose="020B0503020204020204" charset="-122"/>
              <a:ea typeface="微软雅黑" panose="020B0503020204020204" charset="-122"/>
            </a:endParaRPr>
          </a:p>
        </p:txBody>
      </p:sp>
      <p:sp>
        <p:nvSpPr>
          <p:cNvPr id="420" name="文本框 419" descr="{&quot;isTemplate&quot;:true,&quot;type&quot;:&quot;text&quot;}"/>
          <p:cNvSpPr txBox="1"/>
          <p:nvPr/>
        </p:nvSpPr>
        <p:spPr>
          <a:xfrm>
            <a:off x="4076700" y="3267075"/>
            <a:ext cx="1066800" cy="152400"/>
          </a:xfrm>
          <a:prstGeom prst="rect">
            <a:avLst/>
          </a:prstGeom>
        </p:spPr>
        <p:txBody>
          <a:bodyPr wrap="none" lIns="0" tIns="0" rIns="0" bIns="0"/>
          <a:p>
            <a:pPr>
              <a:lnSpc>
                <a:spcPct val="100000"/>
              </a:lnSpc>
            </a:pPr>
            <a:r>
              <a:rPr lang="zh-CN" sz="975">
                <a:solidFill>
                  <a:srgbClr val="E6EEF9">
                    <a:alpha val="50000"/>
                  </a:srgbClr>
                </a:solidFill>
                <a:latin typeface="微软雅黑" panose="020B0503020204020204" charset="-122"/>
                <a:ea typeface="微软雅黑" panose="020B0503020204020204" charset="-122"/>
              </a:rPr>
              <a:t>改造靶心</a:t>
            </a:r>
            <a:endParaRPr lang="zh-CN" sz="975">
              <a:solidFill>
                <a:srgbClr val="E6EEF9">
                  <a:alpha val="50000"/>
                </a:srgbClr>
              </a:solidFill>
              <a:latin typeface="微软雅黑" panose="020B0503020204020204" charset="-122"/>
              <a:ea typeface="微软雅黑" panose="020B0503020204020204" charset="-122"/>
            </a:endParaRPr>
          </a:p>
        </p:txBody>
      </p:sp>
      <p:sp>
        <p:nvSpPr>
          <p:cNvPr id="421" name="文本框 420" descr="{&quot;isTemplate&quot;:true,&quot;type&quot;:&quot;text&quot;}"/>
          <p:cNvSpPr txBox="1"/>
          <p:nvPr/>
        </p:nvSpPr>
        <p:spPr>
          <a:xfrm>
            <a:off x="5314950" y="2743200"/>
            <a:ext cx="2962275" cy="1066800"/>
          </a:xfrm>
          <a:prstGeom prst="rect">
            <a:avLst/>
          </a:prstGeom>
        </p:spPr>
        <p:txBody>
          <a:bodyPr wrap="none" lIns="0" tIns="0" rIns="0" bIns="0"/>
          <a:p>
            <a:pPr>
              <a:lnSpc>
                <a:spcPct val="155000"/>
              </a:lnSpc>
            </a:pPr>
            <a:r>
              <a:rPr lang="en-US" sz="1125">
                <a:solidFill>
                  <a:srgbClr val="E6EEF9">
                    <a:alpha val="78000"/>
                  </a:srgbClr>
                </a:solidFill>
                <a:latin typeface="微软雅黑" panose="020B0503020204020204" charset="-122"/>
                <a:ea typeface="微软雅黑" panose="020B0503020204020204" charset="-122"/>
              </a:rPr>
              <a:t>· </a:t>
            </a:r>
            <a:r>
              <a:rPr lang="zh-CN" sz="1125">
                <a:solidFill>
                  <a:srgbClr val="E6EEF9">
                    <a:alpha val="78000"/>
                  </a:srgbClr>
                </a:solidFill>
                <a:latin typeface="微软雅黑" panose="020B0503020204020204" charset="-122"/>
                <a:ea typeface="微软雅黑" panose="020B0503020204020204" charset="-122"/>
              </a:rPr>
              <a:t>运行调度算法落后，高峰期等候时间长</a:t>
            </a:r>
            <a:endParaRPr lang="zh-CN" sz="1125">
              <a:solidFill>
                <a:srgbClr val="E6EEF9">
                  <a:alpha val="78000"/>
                </a:srgbClr>
              </a:solidFill>
              <a:latin typeface="微软雅黑" panose="020B0503020204020204" charset="-122"/>
              <a:ea typeface="微软雅黑" panose="020B0503020204020204" charset="-122"/>
            </a:endParaRPr>
          </a:p>
          <a:p>
            <a:pPr>
              <a:lnSpc>
                <a:spcPct val="155000"/>
              </a:lnSpc>
            </a:pPr>
            <a:r>
              <a:rPr lang="en-US" sz="1125">
                <a:solidFill>
                  <a:srgbClr val="E6EEF9">
                    <a:alpha val="78000"/>
                  </a:srgbClr>
                </a:solidFill>
                <a:latin typeface="微软雅黑" panose="020B0503020204020204" charset="-122"/>
                <a:ea typeface="微软雅黑" panose="020B0503020204020204" charset="-122"/>
              </a:rPr>
              <a:t>· </a:t>
            </a:r>
            <a:r>
              <a:rPr lang="zh-CN" sz="1125">
                <a:solidFill>
                  <a:srgbClr val="E6EEF9">
                    <a:alpha val="78000"/>
                  </a:srgbClr>
                </a:solidFill>
                <a:latin typeface="微软雅黑" panose="020B0503020204020204" charset="-122"/>
                <a:ea typeface="微软雅黑" panose="020B0503020204020204" charset="-122"/>
              </a:rPr>
              <a:t>缺少智能识别，难以阻止电动车进入</a:t>
            </a:r>
            <a:endParaRPr lang="zh-CN" sz="1125">
              <a:solidFill>
                <a:srgbClr val="E6EEF9">
                  <a:alpha val="78000"/>
                </a:srgbClr>
              </a:solidFill>
              <a:latin typeface="微软雅黑" panose="020B0503020204020204" charset="-122"/>
              <a:ea typeface="微软雅黑" panose="020B0503020204020204" charset="-122"/>
            </a:endParaRPr>
          </a:p>
          <a:p>
            <a:pPr>
              <a:lnSpc>
                <a:spcPct val="155000"/>
              </a:lnSpc>
            </a:pPr>
            <a:r>
              <a:rPr lang="en-US" sz="1125">
                <a:solidFill>
                  <a:srgbClr val="E6EEF9">
                    <a:alpha val="78000"/>
                  </a:srgbClr>
                </a:solidFill>
                <a:latin typeface="微软雅黑" panose="020B0503020204020204" charset="-122"/>
                <a:ea typeface="微软雅黑" panose="020B0503020204020204" charset="-122"/>
              </a:rPr>
              <a:t>· </a:t>
            </a:r>
            <a:r>
              <a:rPr lang="zh-CN" sz="1125">
                <a:solidFill>
                  <a:srgbClr val="E6EEF9">
                    <a:alpha val="78000"/>
                  </a:srgbClr>
                </a:solidFill>
                <a:latin typeface="微软雅黑" panose="020B0503020204020204" charset="-122"/>
                <a:ea typeface="微软雅黑" panose="020B0503020204020204" charset="-122"/>
              </a:rPr>
              <a:t>会做出冗余停靠响应（开空门）</a:t>
            </a:r>
            <a:endParaRPr lang="zh-CN" sz="1125">
              <a:solidFill>
                <a:srgbClr val="E6EEF9">
                  <a:alpha val="78000"/>
                </a:srgbClr>
              </a:solidFill>
              <a:latin typeface="微软雅黑" panose="020B0503020204020204" charset="-122"/>
              <a:ea typeface="微软雅黑" panose="020B0503020204020204" charset="-122"/>
            </a:endParaRPr>
          </a:p>
        </p:txBody>
      </p:sp>
      <p:sp>
        <p:nvSpPr>
          <p:cNvPr id="422" name="文本框 421" descr="{&quot;isTemplate&quot;:true,&quot;type&quot;:&quot;text&quot;}"/>
          <p:cNvSpPr txBox="1"/>
          <p:nvPr/>
        </p:nvSpPr>
        <p:spPr>
          <a:xfrm>
            <a:off x="8429625" y="2743200"/>
            <a:ext cx="2962275" cy="800100"/>
          </a:xfrm>
          <a:prstGeom prst="rect">
            <a:avLst/>
          </a:prstGeom>
        </p:spPr>
        <p:txBody>
          <a:bodyPr wrap="none" lIns="0" tIns="0" rIns="0" bIns="0"/>
          <a:p>
            <a:pPr algn="l">
              <a:lnSpc>
                <a:spcPct val="155000"/>
              </a:lnSpc>
            </a:pPr>
            <a:r>
              <a:rPr lang="en-US" sz="1125">
                <a:solidFill>
                  <a:srgbClr val="E6EEF9">
                    <a:alpha val="78000"/>
                  </a:srgbClr>
                </a:solidFill>
                <a:latin typeface="微软雅黑" panose="020B0503020204020204" charset="-122"/>
                <a:ea typeface="微软雅黑" panose="020B0503020204020204" charset="-122"/>
              </a:rPr>
              <a:t>· </a:t>
            </a:r>
            <a:r>
              <a:rPr lang="zh-CN" sz="1125">
                <a:solidFill>
                  <a:srgbClr val="E6EEF9">
                    <a:alpha val="78000"/>
                  </a:srgbClr>
                </a:solidFill>
                <a:latin typeface="微软雅黑" panose="020B0503020204020204" charset="-122"/>
                <a:ea typeface="微软雅黑" panose="020B0503020204020204" charset="-122"/>
              </a:rPr>
              <a:t>电梯门结构故障率偏高（异响、反复开关）</a:t>
            </a:r>
            <a:endParaRPr lang="zh-CN" sz="1125">
              <a:solidFill>
                <a:srgbClr val="E6EEF9">
                  <a:alpha val="78000"/>
                </a:srgbClr>
              </a:solidFill>
              <a:latin typeface="微软雅黑" panose="020B0503020204020204" charset="-122"/>
              <a:ea typeface="微软雅黑" panose="020B0503020204020204" charset="-122"/>
            </a:endParaRPr>
          </a:p>
          <a:p>
            <a:pPr algn="l">
              <a:lnSpc>
                <a:spcPct val="155000"/>
              </a:lnSpc>
            </a:pPr>
            <a:r>
              <a:rPr lang="en-US" sz="1125">
                <a:solidFill>
                  <a:srgbClr val="E6EEF9">
                    <a:alpha val="78000"/>
                  </a:srgbClr>
                </a:solidFill>
                <a:latin typeface="微软雅黑" panose="020B0503020204020204" charset="-122"/>
                <a:ea typeface="微软雅黑" panose="020B0503020204020204" charset="-122"/>
                <a:sym typeface="+mn-ea"/>
              </a:rPr>
              <a:t>· </a:t>
            </a:r>
            <a:r>
              <a:rPr lang="zh-CN" sz="1125">
                <a:solidFill>
                  <a:srgbClr val="E6EEF9">
                    <a:alpha val="78000"/>
                  </a:srgbClr>
                </a:solidFill>
                <a:latin typeface="微软雅黑" panose="020B0503020204020204" charset="-122"/>
                <a:ea typeface="微软雅黑" panose="020B0503020204020204" charset="-122"/>
                <a:sym typeface="+mn-ea"/>
              </a:rPr>
              <a:t>对轿厢内异常行为无法响应（小孩跑跳）</a:t>
            </a:r>
            <a:endParaRPr lang="zh-CN" sz="1125">
              <a:solidFill>
                <a:srgbClr val="E6EEF9">
                  <a:alpha val="78000"/>
                </a:srgbClr>
              </a:solidFill>
              <a:latin typeface="微软雅黑" panose="020B0503020204020204" charset="-122"/>
              <a:ea typeface="微软雅黑" panose="020B0503020204020204" charset="-122"/>
            </a:endParaRPr>
          </a:p>
          <a:p>
            <a:pPr algn="l">
              <a:lnSpc>
                <a:spcPct val="155000"/>
              </a:lnSpc>
            </a:pPr>
            <a:r>
              <a:rPr lang="en-US" sz="1125">
                <a:solidFill>
                  <a:srgbClr val="E6EEF9">
                    <a:alpha val="78000"/>
                  </a:srgbClr>
                </a:solidFill>
                <a:latin typeface="微软雅黑" panose="020B0503020204020204" charset="-122"/>
                <a:ea typeface="微软雅黑" panose="020B0503020204020204" charset="-122"/>
              </a:rPr>
              <a:t>· </a:t>
            </a:r>
            <a:r>
              <a:rPr lang="zh-CN" sz="1125">
                <a:solidFill>
                  <a:srgbClr val="E6EEF9">
                    <a:alpha val="78000"/>
                  </a:srgbClr>
                </a:solidFill>
                <a:latin typeface="微软雅黑" panose="020B0503020204020204" charset="-122"/>
                <a:ea typeface="微软雅黑" panose="020B0503020204020204" charset="-122"/>
              </a:rPr>
              <a:t>无自适应节能，空载上下仍高耗电</a:t>
            </a:r>
            <a:endParaRPr lang="zh-CN" sz="1125">
              <a:solidFill>
                <a:srgbClr val="E6EEF9">
                  <a:alpha val="78000"/>
                </a:srgbClr>
              </a:solidFill>
              <a:latin typeface="微软雅黑" panose="020B0503020204020204" charset="-122"/>
              <a:ea typeface="微软雅黑" panose="020B0503020204020204" charset="-122"/>
            </a:endParaRPr>
          </a:p>
        </p:txBody>
      </p:sp>
      <p:sp>
        <p:nvSpPr>
          <p:cNvPr id="423" name="文本框 422" descr="{&quot;isTemplate&quot;:true,&quot;type&quot;:&quot;text&quot;}"/>
          <p:cNvSpPr txBox="1"/>
          <p:nvPr/>
        </p:nvSpPr>
        <p:spPr>
          <a:xfrm>
            <a:off x="5314950" y="4171950"/>
            <a:ext cx="6076950" cy="800100"/>
          </a:xfrm>
          <a:prstGeom prst="rect">
            <a:avLst/>
          </a:prstGeom>
        </p:spPr>
        <p:txBody>
          <a:bodyPr wrap="none" lIns="0" tIns="0" rIns="0" bIns="0"/>
          <a:p>
            <a:pPr>
              <a:lnSpc>
                <a:spcPct val="155000"/>
              </a:lnSpc>
            </a:pPr>
            <a:r>
              <a:rPr lang="en-US" sz="1125">
                <a:solidFill>
                  <a:srgbClr val="E6EEF9">
                    <a:alpha val="72000"/>
                  </a:srgbClr>
                </a:solidFill>
                <a:latin typeface="微软雅黑" panose="020B0503020204020204" charset="-122"/>
                <a:ea typeface="微软雅黑" panose="020B0503020204020204" charset="-122"/>
              </a:rPr>
              <a:t>· </a:t>
            </a:r>
            <a:r>
              <a:rPr lang="zh-CN" sz="1125">
                <a:solidFill>
                  <a:srgbClr val="E6EEF9">
                    <a:alpha val="72000"/>
                  </a:srgbClr>
                </a:solidFill>
                <a:latin typeface="微软雅黑" panose="020B0503020204020204" charset="-122"/>
                <a:ea typeface="微软雅黑" panose="020B0503020204020204" charset="-122"/>
              </a:rPr>
              <a:t>按键老化、接触不良、失灵，按下后指示灯不亮</a:t>
            </a:r>
            <a:endParaRPr lang="zh-CN" sz="1125">
              <a:solidFill>
                <a:srgbClr val="E6EEF9">
                  <a:alpha val="72000"/>
                </a:srgbClr>
              </a:solidFill>
              <a:latin typeface="微软雅黑" panose="020B0503020204020204" charset="-122"/>
              <a:ea typeface="微软雅黑" panose="020B0503020204020204" charset="-122"/>
            </a:endParaRPr>
          </a:p>
          <a:p>
            <a:pPr>
              <a:lnSpc>
                <a:spcPct val="155000"/>
              </a:lnSpc>
            </a:pPr>
            <a:r>
              <a:rPr lang="en-US" sz="1125">
                <a:solidFill>
                  <a:srgbClr val="E6EEF9">
                    <a:alpha val="72000"/>
                  </a:srgbClr>
                </a:solidFill>
                <a:latin typeface="微软雅黑" panose="020B0503020204020204" charset="-122"/>
                <a:ea typeface="微软雅黑" panose="020B0503020204020204" charset="-122"/>
              </a:rPr>
              <a:t>· </a:t>
            </a:r>
            <a:r>
              <a:rPr lang="zh-CN" sz="1125">
                <a:solidFill>
                  <a:srgbClr val="E6EEF9">
                    <a:alpha val="72000"/>
                  </a:srgbClr>
                </a:solidFill>
                <a:latin typeface="微软雅黑" panose="020B0503020204020204" charset="-122"/>
                <a:ea typeface="微软雅黑" panose="020B0503020204020204" charset="-122"/>
              </a:rPr>
              <a:t>老旧电梯配件老化稀缺，难以维保</a:t>
            </a:r>
            <a:endParaRPr lang="zh-CN" sz="1125">
              <a:solidFill>
                <a:srgbClr val="E6EEF9">
                  <a:alpha val="72000"/>
                </a:srgbClr>
              </a:solidFill>
              <a:latin typeface="微软雅黑" panose="020B0503020204020204" charset="-122"/>
              <a:ea typeface="微软雅黑" panose="020B0503020204020204" charset="-122"/>
            </a:endParaRPr>
          </a:p>
          <a:p>
            <a:pPr>
              <a:lnSpc>
                <a:spcPct val="155000"/>
              </a:lnSpc>
            </a:pPr>
            <a:r>
              <a:rPr lang="en-US" sz="1125">
                <a:solidFill>
                  <a:srgbClr val="E6EEF9">
                    <a:alpha val="72000"/>
                  </a:srgbClr>
                </a:solidFill>
                <a:latin typeface="微软雅黑" panose="020B0503020204020204" charset="-122"/>
                <a:ea typeface="微软雅黑" panose="020B0503020204020204" charset="-122"/>
              </a:rPr>
              <a:t>· </a:t>
            </a:r>
            <a:r>
              <a:rPr lang="zh-CN" sz="1125">
                <a:solidFill>
                  <a:srgbClr val="E6EEF9">
                    <a:alpha val="72000"/>
                  </a:srgbClr>
                </a:solidFill>
                <a:latin typeface="微软雅黑" panose="020B0503020204020204" charset="-122"/>
                <a:ea typeface="微软雅黑" panose="020B0503020204020204" charset="-122"/>
              </a:rPr>
              <a:t>传统定期维保易流于形式，有待向智能化按需维保转型</a:t>
            </a:r>
            <a:endParaRPr lang="zh-CN" sz="1125">
              <a:solidFill>
                <a:srgbClr val="E6EEF9">
                  <a:alpha val="72000"/>
                </a:srgbClr>
              </a:solidFill>
              <a:latin typeface="微软雅黑" panose="020B0503020204020204" charset="-122"/>
              <a:ea typeface="微软雅黑" panose="020B0503020204020204" charset="-122"/>
            </a:endParaRPr>
          </a:p>
        </p:txBody>
      </p:sp>
      <p:sp>
        <p:nvSpPr>
          <p:cNvPr id="424" name="文本框 423" descr="{&quot;isTemplate&quot;:true,&quot;type&quot;:&quot;text&quot;}"/>
          <p:cNvSpPr txBox="1"/>
          <p:nvPr/>
        </p:nvSpPr>
        <p:spPr>
          <a:xfrm>
            <a:off x="4124325" y="5448300"/>
            <a:ext cx="7248525" cy="609600"/>
          </a:xfrm>
          <a:prstGeom prst="rect">
            <a:avLst/>
          </a:prstGeom>
        </p:spPr>
        <p:txBody>
          <a:bodyPr wrap="square" lIns="0" tIns="0" rIns="0" bIns="0">
            <a:normAutofit/>
          </a:bodyPr>
          <a:p>
            <a:pPr>
              <a:lnSpc>
                <a:spcPct val="155000"/>
              </a:lnSpc>
            </a:pPr>
            <a:r>
              <a:rPr lang="zh-CN" sz="1275">
                <a:solidFill>
                  <a:srgbClr val="E6EEF9">
                    <a:alpha val="85000"/>
                  </a:srgbClr>
                </a:solidFill>
                <a:latin typeface="微软雅黑" panose="020B0503020204020204" charset="-122"/>
                <a:ea typeface="微软雅黑" panose="020B0503020204020204" charset="-122"/>
              </a:rPr>
              <a:t>改造只聚焦运作维度中「能被算法与感知消除」的那一部分</a:t>
            </a:r>
            <a:r>
              <a:rPr lang="en-US" sz="1275">
                <a:solidFill>
                  <a:srgbClr val="E6EEF9">
                    <a:alpha val="85000"/>
                  </a:srgbClr>
                </a:solidFill>
                <a:latin typeface="微软雅黑" panose="020B0503020204020204" charset="-122"/>
                <a:ea typeface="微软雅黑" panose="020B0503020204020204" charset="-122"/>
              </a:rPr>
              <a:t> —— </a:t>
            </a:r>
            <a:r>
              <a:rPr lang="zh-CN" sz="1275">
                <a:solidFill>
                  <a:srgbClr val="E6EEF9">
                    <a:alpha val="85000"/>
                  </a:srgbClr>
                </a:solidFill>
                <a:latin typeface="微软雅黑" panose="020B0503020204020204" charset="-122"/>
                <a:ea typeface="微软雅黑" panose="020B0503020204020204" charset="-122"/>
              </a:rPr>
              <a:t>不新增电梯、不改井道；安全与维保留到下一步。</a:t>
            </a:r>
            <a:endParaRPr lang="zh-CN" sz="1275">
              <a:solidFill>
                <a:srgbClr val="E6EEF9">
                  <a:alpha val="85000"/>
                </a:srgbClr>
              </a:solidFill>
              <a:latin typeface="微软雅黑" panose="020B0503020204020204" charset="-122"/>
              <a:ea typeface="微软雅黑" panose="020B0503020204020204" charset="-122"/>
            </a:endParaRPr>
          </a:p>
        </p:txBody>
      </p:sp>
      <p:sp>
        <p:nvSpPr>
          <p:cNvPr id="425" name="任意多边形 424"/>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426" name="文本框 425"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427" name="文本框 426"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05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linearGradient id='band' x1='0' y1='0' x2='1' y2='0'&gt;&#10;                    &lt;stop offset='0%' stopColor='#22D3EE' stopOpacity='0.34' /&gt;&#10;                    &lt;stop offset='60%' stopColor='#3B82F6' stopOpacity='0.10' /&gt;&#10;                    &lt;stop offset='100%' stopColor='#3B82F6' stopOpacity='0' /&gt;&#10;                &lt;/linearGradient&gt;&#10;                &lt;linearGradient id='band2' x1='0' y1='0' x2='1' y2='0'&gt;&#10;                    &lt;stop offset='0%' stopColor='#3B82F6' stopOpacity='0.28' /&gt;&#10;                    &lt;stop offset='60%' stopColor='#3B82F6' stopOpacity='0.08' /&gt;&#10;                    &lt;stop offset='100%' stopColor='#3B82F6' stopOpacity='0' /&gt;&#10;                &lt;/linearGradient&gt;&#10;            &lt;/defs&gt;&#10;            &lt;rect x='0' y='180' width='1280' height='54' fill='url(#band)' /&gt;&#10;            &lt;rect x='0' y='334' width='1280' height='54' fill='url(#band)' /&gt;&#10;            &lt;rect x='0' y='488' width='1280' height='54' fill='url(#band2)' /&gt;&#10;            &lt;path d='M420 234 V334' stroke='#22D3EE' strokeOpacity='0.35' strokeWidth='2' /&gt;&#10;            &lt;path d='M420 388 V488' stroke='#22D3EE' strokeOpacity='0.35' strokeWidth='2' /&gt;&#10;            &lt;path d='M412 326 L420 334 L428 326' stroke='#22D3EE' strokeOpacity='0.5' strokeWidth='2' fill='none' /&gt;&#10;            &lt;path d='M412 480 L420 488 L428 480' stroke='#22D3EE' strokeOpacity='0.5' strokeWidth='2' fill='none' /&gt;&#10;        &lt;/svg&gt;&#10;    &lt;/Box&gt;&#10;&#10;    &lt;Box&#10;        style={{&#10;            position: 'relative',&#10;            zIndex: 1,&#10;            flex: 1,&#10;            display: 'flex',&#10;            flexDirection: 'column',&#10;            justifyContent: 'center',&#10;            padding: '0px 0px 40px 0px',&#10;        }}&#10;    &gt;&#10;        &lt;Text style={{ fontSize: 140, fontWeight: 'bold', color: '#22D3EE', opacity: 0.18, lineHeight: 1.0, fontFamily: 'Segoe UI' }}&gt;03&lt;/Text&gt;&#10;        &lt;Box style={{ height: 4 }} /&gt;&#10;        &lt;Text style={{ fontSize: 60, fontWeight: 'bold', color: '#E6EEF9', lineHeight: 1.15 }}&gt;构想 · 让电梯学会思考&lt;/Text&gt;&#10;        &lt;Box style={{ height: 24 }} /&gt;&#10;        &lt;Box style={{ width: '88px', height: '4px', background: '#22D3EE' }} /&gt;&#10;        &lt;Box style={{ height: 28 }} /&gt;&#10;        &lt;Text style={{ fontSize: 24, color: '#E6EEF9', opacity: 0.7, lineHeight: 1.6 }}&gt;&#10;            让电梯学会思考：从「人适应电梯」到「电梯适应人」&#10;        &lt;/Text&gt;&#10;        &lt;Box style={{ height: 34 }} /&gt;&#10;        &lt;Text style={{ fontSize: 16, color: '#E6EEF9', opacity: 0.45, letterSpacing: 3, fontFamily: 'Segoe UI' }}&gt;10 – 13&lt;/Text&gt;&#10;    &lt;/Box&gt;&#10;&lt;/Slide&gt;&#10;"/>
        <p:cNvGrpSpPr/>
        <p:nvPr/>
      </p:nvGrpSpPr>
      <p:grpSpPr>
        <a:xfrm>
          <a:off x="0" y="0"/>
          <a:ext cx="0" cy="0"/>
          <a:chOff x="0" y="0"/>
          <a:chExt cx="0" cy="0"/>
        </a:xfrm>
      </p:grpSpPr>
      <p:sp>
        <p:nvSpPr>
          <p:cNvPr id="12" name="矩形 11"/>
          <p:cNvSpPr/>
          <p:nvPr/>
        </p:nvSpPr>
        <p:spPr>
          <a:xfrm>
            <a:off x="0" y="0"/>
            <a:ext cx="12192000" cy="6858000"/>
          </a:xfrm>
          <a:prstGeom prst="rect">
            <a:avLst/>
          </a:prstGeom>
          <a:solidFill>
            <a:srgbClr val="0A1424"/>
          </a:solidFill>
        </p:spPr>
        <p:txBody>
          <a:bodyPr/>
          <a:p/>
        </p:txBody>
      </p:sp>
      <p:pic>
        <p:nvPicPr>
          <p:cNvPr id="13" name="图片 12"/>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4" name="文本框 13" descr="{&quot;isTemplate&quot;:true,&quot;type&quot;:&quot;text&quot;}"/>
          <p:cNvSpPr txBox="1"/>
          <p:nvPr/>
        </p:nvSpPr>
        <p:spPr>
          <a:xfrm>
            <a:off x="609600" y="2952750"/>
            <a:ext cx="10972800" cy="790575"/>
          </a:xfrm>
          <a:prstGeom prst="rect">
            <a:avLst/>
          </a:prstGeom>
        </p:spPr>
        <p:txBody>
          <a:bodyPr wrap="none" lIns="0" tIns="0" rIns="0" bIns="0"/>
          <a:p>
            <a:pPr>
              <a:lnSpc>
                <a:spcPct val="115000"/>
              </a:lnSpc>
            </a:pPr>
            <a:r>
              <a:rPr lang="zh-CN" sz="4500" b="1">
                <a:solidFill>
                  <a:srgbClr val="E6EEF9"/>
                </a:solidFill>
                <a:latin typeface="微软雅黑" panose="020B0503020204020204" charset="-122"/>
                <a:ea typeface="微软雅黑" panose="020B0503020204020204" charset="-122"/>
              </a:rPr>
              <a:t>构想</a:t>
            </a:r>
            <a:r>
              <a:rPr lang="en-US" sz="4500" b="1">
                <a:solidFill>
                  <a:srgbClr val="E6EEF9"/>
                </a:solidFill>
                <a:latin typeface="微软雅黑" panose="020B0503020204020204" charset="-122"/>
                <a:ea typeface="微软雅黑" panose="020B0503020204020204" charset="-122"/>
              </a:rPr>
              <a:t> · </a:t>
            </a:r>
            <a:r>
              <a:rPr lang="zh-CN" sz="4500" b="1">
                <a:solidFill>
                  <a:srgbClr val="E6EEF9"/>
                </a:solidFill>
                <a:latin typeface="微软雅黑" panose="020B0503020204020204" charset="-122"/>
                <a:ea typeface="微软雅黑" panose="020B0503020204020204" charset="-122"/>
              </a:rPr>
              <a:t>让电梯学会思考</a:t>
            </a:r>
            <a:endParaRPr lang="zh-CN" sz="4500" b="1">
              <a:solidFill>
                <a:srgbClr val="E6EEF9"/>
              </a:solidFill>
              <a:latin typeface="微软雅黑" panose="020B0503020204020204" charset="-122"/>
              <a:ea typeface="微软雅黑" panose="020B0503020204020204" charset="-122"/>
            </a:endParaRPr>
          </a:p>
        </p:txBody>
      </p:sp>
      <p:sp>
        <p:nvSpPr>
          <p:cNvPr id="15" name="矩形 14"/>
          <p:cNvSpPr/>
          <p:nvPr/>
        </p:nvSpPr>
        <p:spPr>
          <a:xfrm>
            <a:off x="609600" y="3971925"/>
            <a:ext cx="838200" cy="38100"/>
          </a:xfrm>
          <a:prstGeom prst="rect">
            <a:avLst/>
          </a:prstGeom>
          <a:solidFill>
            <a:srgbClr val="22D3EE"/>
          </a:solidFill>
        </p:spPr>
        <p:txBody>
          <a:bodyPr/>
          <a:p/>
        </p:txBody>
      </p:sp>
      <p:sp>
        <p:nvSpPr>
          <p:cNvPr id="16" name="文本框 15" descr="{&quot;isTemplate&quot;:true,&quot;type&quot;:&quot;text&quot;}"/>
          <p:cNvSpPr txBox="1"/>
          <p:nvPr/>
        </p:nvSpPr>
        <p:spPr>
          <a:xfrm>
            <a:off x="609600" y="1314450"/>
            <a:ext cx="10972800" cy="1600200"/>
          </a:xfrm>
          <a:prstGeom prst="rect">
            <a:avLst/>
          </a:prstGeom>
        </p:spPr>
        <p:txBody>
          <a:bodyPr wrap="none" lIns="0" tIns="0" rIns="0" bIns="0"/>
          <a:p>
            <a:pPr>
              <a:lnSpc>
                <a:spcPct val="100000"/>
              </a:lnSpc>
            </a:pPr>
            <a:r>
              <a:rPr lang="en-US" sz="10500" b="1">
                <a:solidFill>
                  <a:srgbClr val="22D3EE">
                    <a:alpha val="18000"/>
                  </a:srgbClr>
                </a:solidFill>
                <a:latin typeface="Segoe UI" panose="020B0502040204020203"/>
                <a:ea typeface="Segoe UI" panose="020B0502040204020203"/>
              </a:rPr>
              <a:t>02</a:t>
            </a:r>
            <a:endParaRPr lang="en-US" sz="10500" b="1">
              <a:solidFill>
                <a:srgbClr val="22D3EE">
                  <a:alpha val="18000"/>
                </a:srgbClr>
              </a:solidFill>
              <a:latin typeface="Segoe UI" panose="020B0502040204020203"/>
              <a:ea typeface="Segoe UI" panose="020B0502040204020203"/>
            </a:endParaRPr>
          </a:p>
        </p:txBody>
      </p:sp>
      <p:sp>
        <p:nvSpPr>
          <p:cNvPr id="17" name="文本框 16" descr="{&quot;isTemplate&quot;:true,&quot;type&quot;:&quot;text&quot;}"/>
          <p:cNvSpPr txBox="1"/>
          <p:nvPr/>
        </p:nvSpPr>
        <p:spPr>
          <a:xfrm>
            <a:off x="609600" y="4198620"/>
            <a:ext cx="10972800" cy="447675"/>
          </a:xfrm>
          <a:prstGeom prst="rect">
            <a:avLst/>
          </a:prstGeom>
        </p:spPr>
        <p:txBody>
          <a:bodyPr wrap="none" lIns="0" tIns="0" rIns="0" bIns="0"/>
          <a:p>
            <a:pPr>
              <a:lnSpc>
                <a:spcPct val="160000"/>
              </a:lnSpc>
            </a:pPr>
            <a:r>
              <a:rPr lang="zh-CN" sz="1800">
                <a:solidFill>
                  <a:srgbClr val="E6EEF9">
                    <a:alpha val="70000"/>
                  </a:srgbClr>
                </a:solidFill>
                <a:latin typeface="微软雅黑" panose="020B0503020204020204" charset="-122"/>
                <a:ea typeface="微软雅黑" panose="020B0503020204020204" charset="-122"/>
              </a:rPr>
              <a:t>让电梯学会思考：从「人适应电梯」到「电梯适应人」</a:t>
            </a:r>
            <a:endParaRPr lang="zh-CN" sz="1800">
              <a:solidFill>
                <a:srgbClr val="E6EEF9">
                  <a:alpha val="70000"/>
                </a:srgbClr>
              </a:solidFill>
              <a:latin typeface="微软雅黑" panose="020B0503020204020204" charset="-122"/>
              <a:ea typeface="微软雅黑" panose="020B0503020204020204" charset="-122"/>
            </a:endParaRPr>
          </a:p>
        </p:txBody>
      </p:sp>
      <p:sp>
        <p:nvSpPr>
          <p:cNvPr id="18" name="文本框 17" descr="{&quot;isTemplate&quot;:true,&quot;type&quot;:&quot;text&quot;}"/>
          <p:cNvSpPr txBox="1"/>
          <p:nvPr/>
        </p:nvSpPr>
        <p:spPr>
          <a:xfrm>
            <a:off x="609600" y="4951730"/>
            <a:ext cx="10972800" cy="190500"/>
          </a:xfrm>
          <a:prstGeom prst="rect">
            <a:avLst/>
          </a:prstGeom>
        </p:spPr>
        <p:txBody>
          <a:bodyPr wrap="none" lIns="0" tIns="0" rIns="0" bIns="0"/>
          <a:p>
            <a:pPr>
              <a:lnSpc>
                <a:spcPct val="100000"/>
              </a:lnSpc>
            </a:pPr>
            <a:r>
              <a:rPr lang="en-US" sz="1200" spc="225">
                <a:solidFill>
                  <a:srgbClr val="E6EEF9">
                    <a:alpha val="45000"/>
                  </a:srgbClr>
                </a:solidFill>
                <a:latin typeface="Segoe UI" panose="020B0502040204020203"/>
                <a:ea typeface="Segoe UI" panose="020B0502040204020203"/>
              </a:rPr>
              <a:t>6 – 9</a:t>
            </a:r>
            <a:endParaRPr lang="en-US" sz="1200" spc="225">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9"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10' strokeWidth='1' /&gt;&#10;                &lt;/pattern&gt;&#10;                &lt;radialGradient id='rg3' cx='0.75' cy='0.42' r='0.6'&gt;&#10;                    &lt;stop offset='0%' stopColor='#22D3EE' stopOpacity='0.18' /&gt;&#10;                    &lt;stop offset='100%' stopColor='#22D3EE' stopOpacity='0' /&gt;&#10;                &lt;/radialGradient&gt;&#10;            &lt;/defs&gt;&#10;            &lt;rect width='1280' height='720' fill='url(#grid)' /&gt;&#10;            &lt;rect width='1280' height='720' fill='url(#rg3)' /&gt;&#10;        &lt;/svg&gt;&#10;    &lt;/Box&gt;&#10;&#10;    &lt;Box style={{ position: 'relative', zIndex: 1, height: 84, display: 'flex', flexDirection: 'column' }}&gt;&#10;        &lt;Text style={{ fontSize: 14, color: '#22D3EE', letterSpacing: 3, fontFamily: 'Segoe UI' }}&gt;CHAPTER 03 · 构想&lt;/Text&gt;&#10;        &lt;Box style={{ height: 8 }} /&gt;&#10;        &lt;Text style={{ fontSize: 32, fontWeight: 'bold', color: '#E6EEF9' }}&gt;改造总览：感知 · 决策 · 交互&lt;/Text&gt;&#10;        &lt;Box style={{ height: 10 }} /&gt;&#10;        &lt;Box style={{ width: '56px', height: '3px', background: '#22D3EE' }} /&gt;&#10;    &lt;/Box&gt;&#10;&#10;    &lt;Box style={{ position: 'relative', zIndex: 1, height: 520, marginTop: 16, display: 'flex', flexDirection: 'column' }}&gt;&#10;        &lt;Box style={{ height: 80, flexDirection: 'row', alignItems: 'center', gap: 24 }}&gt;&#10;            &lt;Text style={{ fontSize: 30, fontWeight: 'bold', color: '#E6EEF9', opacity: 0.38 }}&gt;让人适应电梯&lt;/Text&gt;&#10;            &lt;Box style={{ width: '40px', height: '24px' }}&gt;&#10;                &lt;svg width={40} height={24} viewBox='0 0 40 24'&gt;&#10;                    &lt;path d='M2 12 H32' stroke='#22D3EE' strokeWidth='3' /&gt;&#10;                    &lt;path d='M26 5 L34 12 L26 19' stroke='#22D3EE' strokeWidth='3' fill='none' /&gt;&#10;                &lt;/svg&gt;&#10;            &lt;/Box&gt;&#10;            &lt;Text style={{ fontSize: 44, fontWeight: 'bold', color: '#22D3EE' }}&gt;让电梯适应人&lt;/Text&gt;&#10;        &lt;/Box&gt;&#10;&#10;        &lt;Box style={{ height: 22 }} /&gt;&#10;&#10;        &lt;Box style={{ flexDirection: 'row', gap: 14, height: 84 }}&gt;&#10;            &lt;Box&#10;                style={{&#10;                    width: 180,&#10;                    borderRadius: 8,&#10;                    background: 'rgba(59,130,246,0.16)',&#10;                    border: '1px solid rgba(59,130,246,0.34)',&#10;                    alignItems: 'center',&#10;                    justifyContent: 'center',&#10;                }}&#10;            &gt;&#10;                &lt;Text style={{ fontSize: 26, fontWeight: 'bold', color: '#E6EEF9' }}&gt;感知层&lt;/Text&gt;&#10;                &lt;Box style={{ height: 4 }} /&gt;&#10;                &lt;Text style={{ fontSize: 12, color: '#22D3EE', letterSpacing: 2, fontFamily: 'Segoe UI' }}&gt;SENSING&lt;/Text&gt;&#10;            &lt;/Box&gt;&#10;            &lt;Box style={{ width: 309, height: 84, borderRadius: 8, background: 'rgba(59,130,246,0.08)', border: '1px solid rgba(59,130,246,0.24)', alignItems: 'center', justifyContent: 'center', padding: '0px 14px' }}&gt;&#10;                &lt;Text style={{ fontSize: 19, fontWeight: 'bold', color: '#E6EEF9', textAlign: 'center', lineHeight: 1.35 }}&gt;毫米波人体存在传感器&lt;/Text&gt;&#10;            &lt;/Box&gt;&#10;            &lt;Box style={{ width: 309, height: 84, borderRadius: 8, background: 'rgba(59,130,246,0.08)', border: '1px solid rgba(59,130,246,0.24)', alignItems: 'center', justifyContent: 'center', padding: '0px 14px' }}&gt;&#10;                &lt;Text style={{ fontSize: 19, fontWeight: 'bold', color: '#E6EEF9', textAlign: 'center', lineHeight: 1.35 }}&gt;人脸识别&lt;/Text&gt;&#10;            &lt;/Box&gt;&#10;            &lt;Box style={{ width: 309, height: 84, borderRadius: 8, background: 'rgba(59,130,246,0.08)', border: '1px solid rgba(59,130,246,0.24)', alignItems: 'center', justifyContent: 'center', padding: '0px 14px' }}&gt;&#10;                &lt;Text style={{ fontSize: 19, fontWeight: 'bold', color: '#E6EEF9', textAlign: 'center', lineHeight: 1.35 }}&gt;闸机联动&lt;/Text&gt;&#10;            &lt;/Box&gt;&#10;        &lt;/Box&gt;&#10;&#10;        &lt;Box style={{ height: 20, alignItems: 'center', justifyContent: 'center' }}&gt;&#10;            &lt;Box style={{ width: '28px', height: '20px' }}&gt;&#10;                &lt;svg width={28} height={20} viewBox='0 0 28 20'&gt;&#10;                    &lt;path d='M14 2 V14' stroke='#22D3EE' strokeOpacity='0.6' strokeWidth='2' /&gt;&#10;                    &lt;path d='M8 9 L14 16 L20 9' stroke='#22D3EE' strokeOpacity='0.6' strokeWidth='2' fill='none' /&gt;&#10;                &lt;/svg&gt;&#10;            &lt;/Box&gt;&#10;        &lt;/Box&gt;&#10;&#10;        &lt;Box style={{ flexDirection: 'row', gap: 14, height: 84 }}&gt;&#10;            &lt;Box&#10;                style={{&#10;                    width: 180,&#10;                    borderRadius: 8,&#10;                    background: 'rgba(34,211,238,0.18)',&#10;                    border: '1px solid rgba(34,211,238,0.45)',&#10;                    alignItems: 'center',&#10;                    justifyContent: 'center',&#10;                }}&#10;            &gt;&#10;                &lt;Text style={{ fontSize: 26, fontWeight: 'bold', color: '#22D3EE' }}&gt;决策层&lt;/Text&gt;&#10;                &lt;Box style={{ height: 4 }} /&gt;&#10;                &lt;Text style={{ fontSize: 12, color: '#22D3EE', letterSpacing: 2, fontFamily: 'Segoe UI' }}&gt;DECISION&lt;/Text&gt;&#10;            &lt;/Box&gt;&#10;            &lt;Box style={{ width: 228, height: 84, borderRadius: 8, background: 'rgba(34,211,238,0.10)', border: '1px solid rgba(34,211,238,0.28)', alignItems: 'center', justifyContent: 'center', padding: '0px 12px' }}&gt;&#10;                &lt;Text style={{ fontSize: 19, fontWeight: 'bold', color: '#E6EEF9', textAlign: 'center', lineHeight: 1.35 }}&gt;统一派梯&lt;/Text&gt;&#10;            &lt;/Box&gt;&#10;            &lt;Box style={{ width: 228, height: 84, borderRadius: 8, background: 'rgba(34,211,238,0.10)', border: '1px solid rgba(34,211,238,0.28)', alignItems: 'center', justifyContent: 'center', padding: '0px 12px' }}&gt;&#10;                &lt;Text style={{ fontSize: 19, fontWeight: 'bold', color: '#E6EEF9', textAlign: 'center', lineHeight: 1.35 }}&gt;满载预测&lt;/Text&gt;&#10;            &lt;/Box&gt;&#10;            &lt;Box style={{ width: 228, height: 84, borderRadius: 8, background: 'rgba(34,211,238,0.10)', border: '1px solid rgba(34,211,238,0.28)', alignItems: 'center', justifyContent: 'center', padding: '0px 12px' }}&gt;&#10;                &lt;Text style={{ fontSize: 19, fontWeight: 'bold', color: '#E6EEF9', textAlign: 'center', lineHeight: 1.35 }}&gt;高峰预调度&lt;/Text&gt;&#10;            &lt;/Box&gt;&#10;            &lt;Box style={{ width: 228, height: 84, borderRadius: 8, background: 'rgba(34,211,238,0.10)', border: '1px solid rgba(34,211,238,0.28)', alignItems: 'center', justifyContent: 'center', padding: '0px 12px' }}&gt;&#10;                &lt;Text style={{ fontSize: 19, fontWeight: 'bold', color: '#E6EEF9', textAlign: 'center', lineHeight: 1.35 }}&gt;相邻楼层推荐&lt;/Text&gt;&#10;            &lt;/Box&gt;&#10;        &lt;/Box&gt;&#10;&#10;        &lt;Box style={{ height: 20, alignItems: 'center', justifyContent: 'center' }}&gt;&#10;            &lt;Box style={{ width: '28px', height: '20px' }}&gt;&#10;                &lt;svg width={28} height={20} viewBox='0 0 28 20'&gt;&#10;                    &lt;path d='M14 2 V14' stroke='#22D3EE' strokeOpacity='0.6' strokeWidth='2' /&gt;&#10;                    &lt;path d='M8 9 L14 16 L20 9' stroke='#22D3EE' strokeOpacity='0.6' strokeWidth='2' fill='none' /&gt;&#10;                &lt;/svg&gt;&#10;            &lt;/Box&gt;&#10;        &lt;/Box&gt;&#10;&#10;        &lt;Box style={{ flexDirection: 'row', gap: 14, height: 84 }}&gt;&#10;            &lt;Box&#10;                style={{&#10;                    width: 180,&#10;                    borderRadius: 8,&#10;                    background: 'rgba(59,130,246,0.16)',&#10;                    border: '1px solid rgba(59,130,246,0.34)',&#10;                    alignItems: 'center',&#10;                    justifyContent: 'center',&#10;                }}&#10;            &gt;&#10;                &lt;Text style={{ fontSize: 26, fontWeight: 'bold', color: '#E6EEF9' }}&gt;交互层&lt;/Text&gt;&#10;                &lt;Box style={{ height: 4 }} /&gt;&#10;                &lt;Text style={{ fontSize: 12, color: '#22D3EE', letterSpacing: 2, fontFamily: 'Segoe UI' }}&gt;INTERACTION&lt;/Text&gt;&#10;            &lt;/Box&gt;&#10;            &lt;Box style={{ width: 228, height: 84, borderRadius: 8, background: 'rgba(59,130,246,0.08)', border: '1px solid rgba(59,130,246,0.24)', alignItems: 'center', justifyContent: 'center', padding: '0px 12px' }}&gt;&#10;                &lt;Text style={{ fontSize: 19, fontWeight: 'bold', color: '#E6EEF9', textAlign: 'center', lineHeight: 1.35 }}&gt;等待时长可视化&lt;/Text&gt;&#10;            &lt;/Box&gt;&#10;            &lt;Box style={{ width: 228, height: 84, borderRadius: 8, background: 'rgba(59,130,246,0.08)', border: '1px solid rgba(59,130,246,0.24)', alignItems: 'center', justifyContent: 'center', padding: '0px 12px' }}&gt;&#10;                &lt;Text style={{ fontSize: 19, fontWeight: 'bold', color: '#E6EEF9', textAlign: 'center', lineHeight: 1.35 }}&gt;最佳梯号指引&lt;/Text&gt;&#10;            &lt;/Box&gt;&#10;            &lt;Box style={{ width: 228, height: 84, borderRadius: 8, background: 'rgba(59,130,246,0.08)', border: '1px solid rgba(59,130,246,0.24)', alignItems: 'center', justifyContent: 'center', padding: '0px 12px' }}&gt;&#10;                &lt;Text style={{ fontSize: 19, fontWeight: 'bold', color: '#E6EEF9', textAlign: 'center', lineHeight: 1.35 }}&gt;自主策略选择&lt;/Text&gt;&#10;            &lt;/Box&gt;&#10;            &lt;Box style={{ width: 228, height: 84, borderRadius: 8, background: 'rgba(59,130,246,0.08)', border: '1px solid rgba(59,130,246,0.24)', alignItems: 'center', justifyContent: 'center', padding: '0px 12px' }}&gt;&#10;                &lt;Text style={{ fontSize: 19, fontWeight: 'bold', color: '#E6EEF9', textAlign: 'center', lineHeight: 1.35 }}&gt;满载自主建议&lt;/Text&gt;&#10;            &lt;/Box&gt;&#10;        &lt;/Box&gt;&#10;&#10;        &lt;Box style={{ height: 18 }} /&gt;&#10;&#10;        &lt;Box style={{ padding: '16px 22px', background: 'rgba(34,211,238,0.10)', borderLeft: '3px solid #22D3EE', borderRadius: 4 }}&gt;&#10;            &lt;Text style={{ fontSize: 17, color: '#E6EEF9', opacity: 0.85, lineHeight: 1.55 }}&gt;&#10;                把决策权从人交给系统：学生不必在三个按钮之间反复猜，系统比任何人都更清楚哪一部电梯最近、哪一层根本没有人。&#10;            &lt;/Text&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11 / 18&lt;/Text&gt;&#10;    &lt;/Box&gt;&#10;&lt;/Slide&gt;&#10;"/>
        <p:cNvGrpSpPr/>
        <p:nvPr/>
      </p:nvGrpSpPr>
      <p:grpSpPr>
        <a:xfrm>
          <a:off x="0" y="0"/>
          <a:ext cx="0" cy="0"/>
          <a:chOff x="0" y="0"/>
          <a:chExt cx="0" cy="0"/>
        </a:xfrm>
      </p:grpSpPr>
      <p:sp>
        <p:nvSpPr>
          <p:cNvPr id="20" name="矩形 19"/>
          <p:cNvSpPr/>
          <p:nvPr/>
        </p:nvSpPr>
        <p:spPr>
          <a:xfrm>
            <a:off x="0" y="0"/>
            <a:ext cx="12192000" cy="6858000"/>
          </a:xfrm>
          <a:prstGeom prst="rect">
            <a:avLst/>
          </a:prstGeom>
          <a:solidFill>
            <a:srgbClr val="0A1424"/>
          </a:solidFill>
        </p:spPr>
        <p:txBody>
          <a:bodyPr/>
          <a:p/>
        </p:txBody>
      </p:sp>
      <p:pic>
        <p:nvPicPr>
          <p:cNvPr id="21" name="图片 2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2" name="文本框 21"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02 · </a:t>
            </a:r>
            <a:r>
              <a:rPr lang="zh-CN" sz="1050" spc="225">
                <a:solidFill>
                  <a:srgbClr val="22D3EE"/>
                </a:solidFill>
                <a:latin typeface="Segoe UI" panose="020B0502040204020203"/>
                <a:ea typeface="Segoe UI" panose="020B0502040204020203"/>
              </a:rPr>
              <a:t>构想</a:t>
            </a:r>
            <a:endParaRPr lang="zh-CN" sz="1050" spc="225">
              <a:solidFill>
                <a:srgbClr val="22D3EE"/>
              </a:solidFill>
              <a:latin typeface="Segoe UI" panose="020B0502040204020203"/>
              <a:ea typeface="Segoe UI" panose="020B0502040204020203"/>
            </a:endParaRPr>
          </a:p>
        </p:txBody>
      </p:sp>
      <p:sp>
        <p:nvSpPr>
          <p:cNvPr id="23" name="文本框 22"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改造总览：感知</a:t>
            </a:r>
            <a:r>
              <a:rPr lang="en-US" sz="2400" b="1">
                <a:solidFill>
                  <a:srgbClr val="E6EEF9"/>
                </a:solidFill>
                <a:latin typeface="微软雅黑" panose="020B0503020204020204" charset="-122"/>
                <a:ea typeface="微软雅黑" panose="020B0503020204020204" charset="-122"/>
              </a:rPr>
              <a:t> · </a:t>
            </a:r>
            <a:r>
              <a:rPr lang="zh-CN" sz="2400" b="1">
                <a:solidFill>
                  <a:srgbClr val="E6EEF9"/>
                </a:solidFill>
                <a:latin typeface="微软雅黑" panose="020B0503020204020204" charset="-122"/>
                <a:ea typeface="微软雅黑" panose="020B0503020204020204" charset="-122"/>
              </a:rPr>
              <a:t>决策</a:t>
            </a:r>
            <a:r>
              <a:rPr lang="en-US" sz="2400" b="1">
                <a:solidFill>
                  <a:srgbClr val="E6EEF9"/>
                </a:solidFill>
                <a:latin typeface="微软雅黑" panose="020B0503020204020204" charset="-122"/>
                <a:ea typeface="微软雅黑" panose="020B0503020204020204" charset="-122"/>
              </a:rPr>
              <a:t> · </a:t>
            </a:r>
            <a:r>
              <a:rPr lang="zh-CN" sz="2400" b="1">
                <a:solidFill>
                  <a:srgbClr val="E6EEF9"/>
                </a:solidFill>
                <a:latin typeface="微软雅黑" panose="020B0503020204020204" charset="-122"/>
                <a:ea typeface="微软雅黑" panose="020B0503020204020204" charset="-122"/>
              </a:rPr>
              <a:t>交互</a:t>
            </a:r>
            <a:endParaRPr lang="zh-CN" sz="2400" b="1">
              <a:solidFill>
                <a:srgbClr val="E6EEF9"/>
              </a:solidFill>
              <a:latin typeface="微软雅黑" panose="020B0503020204020204" charset="-122"/>
              <a:ea typeface="微软雅黑" panose="020B0503020204020204" charset="-122"/>
            </a:endParaRPr>
          </a:p>
        </p:txBody>
      </p:sp>
      <p:sp>
        <p:nvSpPr>
          <p:cNvPr id="24" name="矩形 23"/>
          <p:cNvSpPr/>
          <p:nvPr/>
        </p:nvSpPr>
        <p:spPr>
          <a:xfrm>
            <a:off x="609600" y="1009650"/>
            <a:ext cx="533400" cy="28575"/>
          </a:xfrm>
          <a:prstGeom prst="rect">
            <a:avLst/>
          </a:prstGeom>
          <a:solidFill>
            <a:srgbClr val="22D3EE"/>
          </a:solidFill>
        </p:spPr>
        <p:txBody>
          <a:bodyPr/>
          <a:p/>
        </p:txBody>
      </p:sp>
      <p:pic>
        <p:nvPicPr>
          <p:cNvPr id="25" name="图片 2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52700" y="1524000"/>
            <a:ext cx="381000" cy="228600"/>
          </a:xfrm>
          <a:prstGeom prst="rect">
            <a:avLst/>
          </a:prstGeom>
        </p:spPr>
      </p:pic>
      <p:sp>
        <p:nvSpPr>
          <p:cNvPr id="26" name="文本框 25" descr="{&quot;isTemplate&quot;:true,&quot;type&quot;:&quot;text&quot;}"/>
          <p:cNvSpPr txBox="1"/>
          <p:nvPr/>
        </p:nvSpPr>
        <p:spPr>
          <a:xfrm>
            <a:off x="3162300" y="1390650"/>
            <a:ext cx="2514600" cy="504825"/>
          </a:xfrm>
          <a:prstGeom prst="rect">
            <a:avLst/>
          </a:prstGeom>
        </p:spPr>
        <p:txBody>
          <a:bodyPr wrap="none" lIns="0" tIns="0" rIns="0" bIns="0"/>
          <a:p>
            <a:pPr>
              <a:lnSpc>
                <a:spcPct val="100000"/>
              </a:lnSpc>
            </a:pPr>
            <a:r>
              <a:rPr lang="zh-CN" sz="3300" b="1">
                <a:solidFill>
                  <a:srgbClr val="22D3EE"/>
                </a:solidFill>
                <a:latin typeface="微软雅黑" panose="020B0503020204020204" charset="-122"/>
                <a:ea typeface="微软雅黑" panose="020B0503020204020204" charset="-122"/>
              </a:rPr>
              <a:t>让电梯适应人</a:t>
            </a:r>
            <a:endParaRPr lang="zh-CN" sz="3300" b="1">
              <a:solidFill>
                <a:srgbClr val="22D3EE"/>
              </a:solidFill>
              <a:latin typeface="微软雅黑" panose="020B0503020204020204" charset="-122"/>
              <a:ea typeface="微软雅黑" panose="020B0503020204020204" charset="-122"/>
            </a:endParaRPr>
          </a:p>
        </p:txBody>
      </p:sp>
      <p:sp>
        <p:nvSpPr>
          <p:cNvPr id="27" name="圆角矩形 26"/>
          <p:cNvSpPr/>
          <p:nvPr/>
        </p:nvSpPr>
        <p:spPr>
          <a:xfrm>
            <a:off x="609600" y="2228850"/>
            <a:ext cx="1714500" cy="800100"/>
          </a:xfrm>
          <a:prstGeom prst="roundRect">
            <a:avLst>
              <a:gd name="adj" fmla="val 9524"/>
            </a:avLst>
          </a:prstGeom>
          <a:solidFill>
            <a:srgbClr val="3B82F6">
              <a:alpha val="16000"/>
            </a:srgbClr>
          </a:solidFill>
          <a:ln w="12700">
            <a:solidFill>
              <a:srgbClr val="3B82F6">
                <a:alpha val="34000"/>
              </a:srgbClr>
            </a:solidFill>
            <a:prstDash val="solid"/>
          </a:ln>
        </p:spPr>
        <p:txBody>
          <a:bodyPr/>
          <a:p/>
        </p:txBody>
      </p:sp>
      <p:sp>
        <p:nvSpPr>
          <p:cNvPr id="28" name="文本框 27" descr="{&quot;isTemplate&quot;:true,&quot;type&quot;:&quot;text&quot;}"/>
          <p:cNvSpPr txBox="1"/>
          <p:nvPr/>
        </p:nvSpPr>
        <p:spPr>
          <a:xfrm>
            <a:off x="1095375" y="2390775"/>
            <a:ext cx="742950" cy="304800"/>
          </a:xfrm>
          <a:prstGeom prst="rect">
            <a:avLst/>
          </a:prstGeom>
        </p:spPr>
        <p:txBody>
          <a:bodyPr wrap="none" lIns="0" tIns="0" rIns="0" bIns="0"/>
          <a:p>
            <a:pPr>
              <a:lnSpc>
                <a:spcPct val="100000"/>
              </a:lnSpc>
            </a:pPr>
            <a:r>
              <a:rPr lang="zh-CN" sz="1950" b="1">
                <a:solidFill>
                  <a:srgbClr val="E6EEF9"/>
                </a:solidFill>
                <a:latin typeface="微软雅黑" panose="020B0503020204020204" charset="-122"/>
                <a:ea typeface="微软雅黑" panose="020B0503020204020204" charset="-122"/>
              </a:rPr>
              <a:t>感知层</a:t>
            </a:r>
            <a:endParaRPr lang="zh-CN" sz="1950" b="1">
              <a:solidFill>
                <a:srgbClr val="E6EEF9"/>
              </a:solidFill>
              <a:latin typeface="微软雅黑" panose="020B0503020204020204" charset="-122"/>
              <a:ea typeface="微软雅黑" panose="020B0503020204020204" charset="-122"/>
            </a:endParaRPr>
          </a:p>
        </p:txBody>
      </p:sp>
      <p:sp>
        <p:nvSpPr>
          <p:cNvPr id="29" name="文本框 28" descr="{&quot;isTemplate&quot;:true,&quot;type&quot;:&quot;text&quot;}"/>
          <p:cNvSpPr txBox="1"/>
          <p:nvPr/>
        </p:nvSpPr>
        <p:spPr>
          <a:xfrm>
            <a:off x="1171575" y="2733675"/>
            <a:ext cx="600075" cy="142875"/>
          </a:xfrm>
          <a:prstGeom prst="rect">
            <a:avLst/>
          </a:prstGeom>
        </p:spPr>
        <p:txBody>
          <a:bodyPr wrap="none" lIns="0" tIns="0" rIns="0" bIns="0"/>
          <a:p>
            <a:pPr>
              <a:lnSpc>
                <a:spcPct val="100000"/>
              </a:lnSpc>
            </a:pPr>
            <a:r>
              <a:rPr lang="en-US" sz="900" spc="150">
                <a:solidFill>
                  <a:srgbClr val="22D3EE"/>
                </a:solidFill>
                <a:latin typeface="Segoe UI" panose="020B0502040204020203"/>
                <a:ea typeface="Segoe UI" panose="020B0502040204020203"/>
              </a:rPr>
              <a:t>SENSING</a:t>
            </a:r>
            <a:endParaRPr lang="en-US" sz="900" spc="150">
              <a:solidFill>
                <a:srgbClr val="22D3EE"/>
              </a:solidFill>
              <a:latin typeface="Segoe UI" panose="020B0502040204020203"/>
              <a:ea typeface="Segoe UI" panose="020B0502040204020203"/>
            </a:endParaRPr>
          </a:p>
        </p:txBody>
      </p:sp>
      <p:sp>
        <p:nvSpPr>
          <p:cNvPr id="30" name="圆角矩形 29"/>
          <p:cNvSpPr/>
          <p:nvPr/>
        </p:nvSpPr>
        <p:spPr>
          <a:xfrm>
            <a:off x="2457450" y="2228850"/>
            <a:ext cx="2943225" cy="800100"/>
          </a:xfrm>
          <a:prstGeom prst="roundRect">
            <a:avLst>
              <a:gd name="adj" fmla="val 9524"/>
            </a:avLst>
          </a:prstGeom>
          <a:solidFill>
            <a:srgbClr val="3B82F6">
              <a:alpha val="8000"/>
            </a:srgbClr>
          </a:solidFill>
          <a:ln w="12700">
            <a:solidFill>
              <a:srgbClr val="3B82F6">
                <a:alpha val="24000"/>
              </a:srgbClr>
            </a:solidFill>
            <a:prstDash val="solid"/>
          </a:ln>
        </p:spPr>
        <p:txBody>
          <a:bodyPr/>
          <a:p/>
        </p:txBody>
      </p:sp>
      <p:sp>
        <p:nvSpPr>
          <p:cNvPr id="31" name="文本框 30" descr="{&quot;isTemplate&quot;:true,&quot;type&quot;:&quot;text&quot;}"/>
          <p:cNvSpPr txBox="1"/>
          <p:nvPr/>
        </p:nvSpPr>
        <p:spPr>
          <a:xfrm>
            <a:off x="3028950" y="2486025"/>
            <a:ext cx="180975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毫米波人体存在传感器</a:t>
            </a:r>
            <a:endParaRPr lang="zh-CN" sz="1425" b="1">
              <a:solidFill>
                <a:srgbClr val="E6EEF9"/>
              </a:solidFill>
              <a:latin typeface="微软雅黑" panose="020B0503020204020204" charset="-122"/>
              <a:ea typeface="微软雅黑" panose="020B0503020204020204" charset="-122"/>
            </a:endParaRPr>
          </a:p>
        </p:txBody>
      </p:sp>
      <p:sp>
        <p:nvSpPr>
          <p:cNvPr id="32" name="圆角矩形 31"/>
          <p:cNvSpPr/>
          <p:nvPr/>
        </p:nvSpPr>
        <p:spPr>
          <a:xfrm>
            <a:off x="5534025" y="2228850"/>
            <a:ext cx="2943225" cy="800100"/>
          </a:xfrm>
          <a:prstGeom prst="roundRect">
            <a:avLst>
              <a:gd name="adj" fmla="val 9524"/>
            </a:avLst>
          </a:prstGeom>
          <a:solidFill>
            <a:srgbClr val="3B82F6">
              <a:alpha val="8000"/>
            </a:srgbClr>
          </a:solidFill>
          <a:ln w="12700">
            <a:solidFill>
              <a:srgbClr val="3B82F6">
                <a:alpha val="24000"/>
              </a:srgbClr>
            </a:solidFill>
            <a:prstDash val="solid"/>
          </a:ln>
        </p:spPr>
        <p:txBody>
          <a:bodyPr/>
          <a:p/>
        </p:txBody>
      </p:sp>
      <p:sp>
        <p:nvSpPr>
          <p:cNvPr id="33" name="文本框 32" descr="{&quot;isTemplate&quot;:true,&quot;type&quot;:&quot;text&quot;}"/>
          <p:cNvSpPr txBox="1"/>
          <p:nvPr/>
        </p:nvSpPr>
        <p:spPr>
          <a:xfrm>
            <a:off x="6648450" y="2486025"/>
            <a:ext cx="72390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人脸识别</a:t>
            </a:r>
            <a:endParaRPr lang="zh-CN" sz="1425" b="1">
              <a:solidFill>
                <a:srgbClr val="E6EEF9"/>
              </a:solidFill>
              <a:latin typeface="微软雅黑" panose="020B0503020204020204" charset="-122"/>
              <a:ea typeface="微软雅黑" panose="020B0503020204020204" charset="-122"/>
            </a:endParaRPr>
          </a:p>
        </p:txBody>
      </p:sp>
      <p:sp>
        <p:nvSpPr>
          <p:cNvPr id="34" name="圆角矩形 33"/>
          <p:cNvSpPr/>
          <p:nvPr/>
        </p:nvSpPr>
        <p:spPr>
          <a:xfrm>
            <a:off x="8610600" y="2228850"/>
            <a:ext cx="2943225" cy="800100"/>
          </a:xfrm>
          <a:prstGeom prst="roundRect">
            <a:avLst>
              <a:gd name="adj" fmla="val 9524"/>
            </a:avLst>
          </a:prstGeom>
          <a:solidFill>
            <a:srgbClr val="3B82F6">
              <a:alpha val="8000"/>
            </a:srgbClr>
          </a:solidFill>
          <a:ln w="12700">
            <a:solidFill>
              <a:srgbClr val="3B82F6">
                <a:alpha val="24000"/>
              </a:srgbClr>
            </a:solidFill>
            <a:prstDash val="solid"/>
          </a:ln>
        </p:spPr>
        <p:txBody>
          <a:bodyPr/>
          <a:p/>
        </p:txBody>
      </p:sp>
      <p:sp>
        <p:nvSpPr>
          <p:cNvPr id="35" name="文本框 34" descr="{&quot;isTemplate&quot;:true,&quot;type&quot;:&quot;text&quot;}"/>
          <p:cNvSpPr txBox="1"/>
          <p:nvPr/>
        </p:nvSpPr>
        <p:spPr>
          <a:xfrm>
            <a:off x="9725025" y="2486025"/>
            <a:ext cx="72390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闸机联动</a:t>
            </a:r>
            <a:endParaRPr lang="zh-CN" sz="1425" b="1">
              <a:solidFill>
                <a:srgbClr val="E6EEF9"/>
              </a:solidFill>
              <a:latin typeface="微软雅黑" panose="020B0503020204020204" charset="-122"/>
              <a:ea typeface="微软雅黑" panose="020B0503020204020204" charset="-122"/>
            </a:endParaRPr>
          </a:p>
        </p:txBody>
      </p:sp>
      <p:pic>
        <p:nvPicPr>
          <p:cNvPr id="36" name="图片 35"/>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2650" y="3028950"/>
            <a:ext cx="266700" cy="190500"/>
          </a:xfrm>
          <a:prstGeom prst="rect">
            <a:avLst/>
          </a:prstGeom>
        </p:spPr>
      </p:pic>
      <p:sp>
        <p:nvSpPr>
          <p:cNvPr id="37" name="圆角矩形 36"/>
          <p:cNvSpPr/>
          <p:nvPr/>
        </p:nvSpPr>
        <p:spPr>
          <a:xfrm>
            <a:off x="609600" y="3219450"/>
            <a:ext cx="1714500" cy="800100"/>
          </a:xfrm>
          <a:prstGeom prst="roundRect">
            <a:avLst>
              <a:gd name="adj" fmla="val 9524"/>
            </a:avLst>
          </a:prstGeom>
          <a:solidFill>
            <a:srgbClr val="22D3EE">
              <a:alpha val="18000"/>
            </a:srgbClr>
          </a:solidFill>
          <a:ln w="12700">
            <a:solidFill>
              <a:srgbClr val="22D3EE">
                <a:alpha val="45000"/>
              </a:srgbClr>
            </a:solidFill>
            <a:prstDash val="solid"/>
          </a:ln>
        </p:spPr>
        <p:txBody>
          <a:bodyPr/>
          <a:p/>
        </p:txBody>
      </p:sp>
      <p:sp>
        <p:nvSpPr>
          <p:cNvPr id="38" name="文本框 37" descr="{&quot;isTemplate&quot;:true,&quot;type&quot;:&quot;text&quot;}"/>
          <p:cNvSpPr txBox="1"/>
          <p:nvPr/>
        </p:nvSpPr>
        <p:spPr>
          <a:xfrm>
            <a:off x="1095375" y="3381375"/>
            <a:ext cx="742950" cy="304800"/>
          </a:xfrm>
          <a:prstGeom prst="rect">
            <a:avLst/>
          </a:prstGeom>
        </p:spPr>
        <p:txBody>
          <a:bodyPr wrap="none" lIns="0" tIns="0" rIns="0" bIns="0"/>
          <a:p>
            <a:pPr>
              <a:lnSpc>
                <a:spcPct val="100000"/>
              </a:lnSpc>
            </a:pPr>
            <a:r>
              <a:rPr lang="zh-CN" sz="1950" b="1">
                <a:solidFill>
                  <a:srgbClr val="22D3EE"/>
                </a:solidFill>
                <a:latin typeface="微软雅黑" panose="020B0503020204020204" charset="-122"/>
                <a:ea typeface="微软雅黑" panose="020B0503020204020204" charset="-122"/>
              </a:rPr>
              <a:t>决策层</a:t>
            </a:r>
            <a:endParaRPr lang="zh-CN" sz="1950" b="1">
              <a:solidFill>
                <a:srgbClr val="22D3EE"/>
              </a:solidFill>
              <a:latin typeface="微软雅黑" panose="020B0503020204020204" charset="-122"/>
              <a:ea typeface="微软雅黑" panose="020B0503020204020204" charset="-122"/>
            </a:endParaRPr>
          </a:p>
        </p:txBody>
      </p:sp>
      <p:sp>
        <p:nvSpPr>
          <p:cNvPr id="39" name="文本框 38" descr="{&quot;isTemplate&quot;:true,&quot;type&quot;:&quot;text&quot;}"/>
          <p:cNvSpPr txBox="1"/>
          <p:nvPr/>
        </p:nvSpPr>
        <p:spPr>
          <a:xfrm>
            <a:off x="1143000" y="3724275"/>
            <a:ext cx="657225" cy="142875"/>
          </a:xfrm>
          <a:prstGeom prst="rect">
            <a:avLst/>
          </a:prstGeom>
        </p:spPr>
        <p:txBody>
          <a:bodyPr wrap="none" lIns="0" tIns="0" rIns="0" bIns="0"/>
          <a:p>
            <a:pPr>
              <a:lnSpc>
                <a:spcPct val="100000"/>
              </a:lnSpc>
            </a:pPr>
            <a:r>
              <a:rPr lang="en-US" sz="900" spc="150">
                <a:solidFill>
                  <a:srgbClr val="22D3EE"/>
                </a:solidFill>
                <a:latin typeface="Segoe UI" panose="020B0502040204020203"/>
                <a:ea typeface="Segoe UI" panose="020B0502040204020203"/>
              </a:rPr>
              <a:t>DECISION</a:t>
            </a:r>
            <a:endParaRPr lang="en-US" sz="900" spc="150">
              <a:solidFill>
                <a:srgbClr val="22D3EE"/>
              </a:solidFill>
              <a:latin typeface="Segoe UI" panose="020B0502040204020203"/>
              <a:ea typeface="Segoe UI" panose="020B0502040204020203"/>
            </a:endParaRPr>
          </a:p>
        </p:txBody>
      </p:sp>
      <p:sp>
        <p:nvSpPr>
          <p:cNvPr id="40" name="圆角矩形 39"/>
          <p:cNvSpPr/>
          <p:nvPr/>
        </p:nvSpPr>
        <p:spPr>
          <a:xfrm>
            <a:off x="2457450" y="3219450"/>
            <a:ext cx="2171700" cy="800100"/>
          </a:xfrm>
          <a:prstGeom prst="roundRect">
            <a:avLst>
              <a:gd name="adj" fmla="val 9524"/>
            </a:avLst>
          </a:prstGeom>
          <a:solidFill>
            <a:srgbClr val="22D3EE">
              <a:alpha val="10000"/>
            </a:srgbClr>
          </a:solidFill>
          <a:ln w="12700">
            <a:solidFill>
              <a:srgbClr val="22D3EE">
                <a:alpha val="28000"/>
              </a:srgbClr>
            </a:solidFill>
            <a:prstDash val="solid"/>
          </a:ln>
        </p:spPr>
        <p:txBody>
          <a:bodyPr/>
          <a:p/>
        </p:txBody>
      </p:sp>
      <p:sp>
        <p:nvSpPr>
          <p:cNvPr id="41" name="文本框 40" descr="{&quot;isTemplate&quot;:true,&quot;type&quot;:&quot;text&quot;}"/>
          <p:cNvSpPr txBox="1"/>
          <p:nvPr/>
        </p:nvSpPr>
        <p:spPr>
          <a:xfrm>
            <a:off x="3181350" y="3476625"/>
            <a:ext cx="72390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统一派梯</a:t>
            </a:r>
            <a:endParaRPr lang="zh-CN" sz="1425" b="1">
              <a:solidFill>
                <a:srgbClr val="E6EEF9"/>
              </a:solidFill>
              <a:latin typeface="微软雅黑" panose="020B0503020204020204" charset="-122"/>
              <a:ea typeface="微软雅黑" panose="020B0503020204020204" charset="-122"/>
            </a:endParaRPr>
          </a:p>
        </p:txBody>
      </p:sp>
      <p:sp>
        <p:nvSpPr>
          <p:cNvPr id="42" name="圆角矩形 41"/>
          <p:cNvSpPr/>
          <p:nvPr/>
        </p:nvSpPr>
        <p:spPr>
          <a:xfrm>
            <a:off x="4762500" y="3219450"/>
            <a:ext cx="2171700" cy="800100"/>
          </a:xfrm>
          <a:prstGeom prst="roundRect">
            <a:avLst>
              <a:gd name="adj" fmla="val 9524"/>
            </a:avLst>
          </a:prstGeom>
          <a:solidFill>
            <a:srgbClr val="22D3EE">
              <a:alpha val="10000"/>
            </a:srgbClr>
          </a:solidFill>
          <a:ln w="12700">
            <a:solidFill>
              <a:srgbClr val="22D3EE">
                <a:alpha val="28000"/>
              </a:srgbClr>
            </a:solidFill>
            <a:prstDash val="solid"/>
          </a:ln>
        </p:spPr>
        <p:txBody>
          <a:bodyPr/>
          <a:p/>
        </p:txBody>
      </p:sp>
      <p:sp>
        <p:nvSpPr>
          <p:cNvPr id="43" name="文本框 42" descr="{&quot;isTemplate&quot;:true,&quot;type&quot;:&quot;text&quot;}"/>
          <p:cNvSpPr txBox="1"/>
          <p:nvPr/>
        </p:nvSpPr>
        <p:spPr>
          <a:xfrm>
            <a:off x="5486400" y="3476625"/>
            <a:ext cx="72390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满载预测</a:t>
            </a:r>
            <a:endParaRPr lang="zh-CN" sz="1425" b="1">
              <a:solidFill>
                <a:srgbClr val="E6EEF9"/>
              </a:solidFill>
              <a:latin typeface="微软雅黑" panose="020B0503020204020204" charset="-122"/>
              <a:ea typeface="微软雅黑" panose="020B0503020204020204" charset="-122"/>
            </a:endParaRPr>
          </a:p>
        </p:txBody>
      </p:sp>
      <p:sp>
        <p:nvSpPr>
          <p:cNvPr id="44" name="圆角矩形 43"/>
          <p:cNvSpPr/>
          <p:nvPr/>
        </p:nvSpPr>
        <p:spPr>
          <a:xfrm>
            <a:off x="7067550" y="3219450"/>
            <a:ext cx="2171700" cy="800100"/>
          </a:xfrm>
          <a:prstGeom prst="roundRect">
            <a:avLst>
              <a:gd name="adj" fmla="val 9524"/>
            </a:avLst>
          </a:prstGeom>
          <a:solidFill>
            <a:srgbClr val="22D3EE">
              <a:alpha val="10000"/>
            </a:srgbClr>
          </a:solidFill>
          <a:ln w="12700">
            <a:solidFill>
              <a:srgbClr val="22D3EE">
                <a:alpha val="28000"/>
              </a:srgbClr>
            </a:solidFill>
            <a:prstDash val="solid"/>
          </a:ln>
        </p:spPr>
        <p:txBody>
          <a:bodyPr/>
          <a:p/>
        </p:txBody>
      </p:sp>
      <p:sp>
        <p:nvSpPr>
          <p:cNvPr id="45" name="文本框 44" descr="{&quot;isTemplate&quot;:true,&quot;type&quot;:&quot;text&quot;}"/>
          <p:cNvSpPr txBox="1"/>
          <p:nvPr/>
        </p:nvSpPr>
        <p:spPr>
          <a:xfrm>
            <a:off x="7705725" y="3476625"/>
            <a:ext cx="904875"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高峰预调度</a:t>
            </a:r>
            <a:endParaRPr lang="zh-CN" sz="1425" b="1">
              <a:solidFill>
                <a:srgbClr val="E6EEF9"/>
              </a:solidFill>
              <a:latin typeface="微软雅黑" panose="020B0503020204020204" charset="-122"/>
              <a:ea typeface="微软雅黑" panose="020B0503020204020204" charset="-122"/>
            </a:endParaRPr>
          </a:p>
        </p:txBody>
      </p:sp>
      <p:sp>
        <p:nvSpPr>
          <p:cNvPr id="46" name="圆角矩形 45"/>
          <p:cNvSpPr/>
          <p:nvPr/>
        </p:nvSpPr>
        <p:spPr>
          <a:xfrm>
            <a:off x="9372600" y="3219450"/>
            <a:ext cx="2171700" cy="800100"/>
          </a:xfrm>
          <a:prstGeom prst="roundRect">
            <a:avLst>
              <a:gd name="adj" fmla="val 9524"/>
            </a:avLst>
          </a:prstGeom>
          <a:solidFill>
            <a:srgbClr val="22D3EE">
              <a:alpha val="10000"/>
            </a:srgbClr>
          </a:solidFill>
          <a:ln w="12700">
            <a:solidFill>
              <a:srgbClr val="22D3EE">
                <a:alpha val="28000"/>
              </a:srgbClr>
            </a:solidFill>
            <a:prstDash val="solid"/>
          </a:ln>
        </p:spPr>
        <p:txBody>
          <a:bodyPr/>
          <a:p/>
        </p:txBody>
      </p:sp>
      <p:sp>
        <p:nvSpPr>
          <p:cNvPr id="47" name="文本框 46" descr="{&quot;isTemplate&quot;:true,&quot;type&quot;:&quot;text&quot;}"/>
          <p:cNvSpPr txBox="1"/>
          <p:nvPr/>
        </p:nvSpPr>
        <p:spPr>
          <a:xfrm>
            <a:off x="9915525" y="3476625"/>
            <a:ext cx="108585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相邻楼层推荐</a:t>
            </a:r>
            <a:endParaRPr lang="zh-CN" sz="1425" b="1">
              <a:solidFill>
                <a:srgbClr val="E6EEF9"/>
              </a:solidFill>
              <a:latin typeface="微软雅黑" panose="020B0503020204020204" charset="-122"/>
              <a:ea typeface="微软雅黑" panose="020B0503020204020204" charset="-122"/>
            </a:endParaRPr>
          </a:p>
        </p:txBody>
      </p:sp>
      <p:pic>
        <p:nvPicPr>
          <p:cNvPr id="48" name="图片 4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62650" y="4019550"/>
            <a:ext cx="266700" cy="190500"/>
          </a:xfrm>
          <a:prstGeom prst="rect">
            <a:avLst/>
          </a:prstGeom>
        </p:spPr>
      </p:pic>
      <p:sp>
        <p:nvSpPr>
          <p:cNvPr id="49" name="圆角矩形 48"/>
          <p:cNvSpPr/>
          <p:nvPr/>
        </p:nvSpPr>
        <p:spPr>
          <a:xfrm>
            <a:off x="609600" y="4210050"/>
            <a:ext cx="1714500" cy="800100"/>
          </a:xfrm>
          <a:prstGeom prst="roundRect">
            <a:avLst>
              <a:gd name="adj" fmla="val 9524"/>
            </a:avLst>
          </a:prstGeom>
          <a:solidFill>
            <a:srgbClr val="3B82F6">
              <a:alpha val="16000"/>
            </a:srgbClr>
          </a:solidFill>
          <a:ln w="12700">
            <a:solidFill>
              <a:srgbClr val="3B82F6">
                <a:alpha val="34000"/>
              </a:srgbClr>
            </a:solidFill>
            <a:prstDash val="solid"/>
          </a:ln>
        </p:spPr>
        <p:txBody>
          <a:bodyPr/>
          <a:p/>
        </p:txBody>
      </p:sp>
      <p:sp>
        <p:nvSpPr>
          <p:cNvPr id="50" name="文本框 49" descr="{&quot;isTemplate&quot;:true,&quot;type&quot;:&quot;text&quot;}"/>
          <p:cNvSpPr txBox="1"/>
          <p:nvPr/>
        </p:nvSpPr>
        <p:spPr>
          <a:xfrm>
            <a:off x="1095375" y="4371975"/>
            <a:ext cx="742950" cy="304800"/>
          </a:xfrm>
          <a:prstGeom prst="rect">
            <a:avLst/>
          </a:prstGeom>
        </p:spPr>
        <p:txBody>
          <a:bodyPr wrap="none" lIns="0" tIns="0" rIns="0" bIns="0"/>
          <a:p>
            <a:pPr>
              <a:lnSpc>
                <a:spcPct val="100000"/>
              </a:lnSpc>
            </a:pPr>
            <a:r>
              <a:rPr lang="zh-CN" sz="1950" b="1">
                <a:solidFill>
                  <a:srgbClr val="E6EEF9"/>
                </a:solidFill>
                <a:latin typeface="微软雅黑" panose="020B0503020204020204" charset="-122"/>
                <a:ea typeface="微软雅黑" panose="020B0503020204020204" charset="-122"/>
              </a:rPr>
              <a:t>交互层</a:t>
            </a:r>
            <a:endParaRPr lang="zh-CN" sz="1950" b="1">
              <a:solidFill>
                <a:srgbClr val="E6EEF9"/>
              </a:solidFill>
              <a:latin typeface="微软雅黑" panose="020B0503020204020204" charset="-122"/>
              <a:ea typeface="微软雅黑" panose="020B0503020204020204" charset="-122"/>
            </a:endParaRPr>
          </a:p>
        </p:txBody>
      </p:sp>
      <p:sp>
        <p:nvSpPr>
          <p:cNvPr id="51" name="文本框 50" descr="{&quot;isTemplate&quot;:true,&quot;type&quot;:&quot;text&quot;}"/>
          <p:cNvSpPr txBox="1"/>
          <p:nvPr/>
        </p:nvSpPr>
        <p:spPr>
          <a:xfrm>
            <a:off x="1009650" y="4714875"/>
            <a:ext cx="923925" cy="142875"/>
          </a:xfrm>
          <a:prstGeom prst="rect">
            <a:avLst/>
          </a:prstGeom>
        </p:spPr>
        <p:txBody>
          <a:bodyPr wrap="none" lIns="0" tIns="0" rIns="0" bIns="0"/>
          <a:p>
            <a:pPr>
              <a:lnSpc>
                <a:spcPct val="100000"/>
              </a:lnSpc>
            </a:pPr>
            <a:r>
              <a:rPr lang="en-US" sz="900" spc="150">
                <a:solidFill>
                  <a:srgbClr val="22D3EE"/>
                </a:solidFill>
                <a:latin typeface="Segoe UI" panose="020B0502040204020203"/>
                <a:ea typeface="Segoe UI" panose="020B0502040204020203"/>
              </a:rPr>
              <a:t>INTERACTION</a:t>
            </a:r>
            <a:endParaRPr lang="en-US" sz="900" spc="150">
              <a:solidFill>
                <a:srgbClr val="22D3EE"/>
              </a:solidFill>
              <a:latin typeface="Segoe UI" panose="020B0502040204020203"/>
              <a:ea typeface="Segoe UI" panose="020B0502040204020203"/>
            </a:endParaRPr>
          </a:p>
        </p:txBody>
      </p:sp>
      <p:sp>
        <p:nvSpPr>
          <p:cNvPr id="52" name="圆角矩形 51"/>
          <p:cNvSpPr/>
          <p:nvPr/>
        </p:nvSpPr>
        <p:spPr>
          <a:xfrm>
            <a:off x="2457450" y="4210050"/>
            <a:ext cx="2171700" cy="800100"/>
          </a:xfrm>
          <a:prstGeom prst="roundRect">
            <a:avLst>
              <a:gd name="adj" fmla="val 9524"/>
            </a:avLst>
          </a:prstGeom>
          <a:solidFill>
            <a:srgbClr val="3B82F6">
              <a:alpha val="8000"/>
            </a:srgbClr>
          </a:solidFill>
          <a:ln w="12700">
            <a:solidFill>
              <a:srgbClr val="3B82F6">
                <a:alpha val="24000"/>
              </a:srgbClr>
            </a:solidFill>
            <a:prstDash val="solid"/>
          </a:ln>
        </p:spPr>
        <p:txBody>
          <a:bodyPr/>
          <a:p/>
        </p:txBody>
      </p:sp>
      <p:sp>
        <p:nvSpPr>
          <p:cNvPr id="53" name="文本框 52" descr="{&quot;isTemplate&quot;:true,&quot;type&quot;:&quot;text&quot;}"/>
          <p:cNvSpPr txBox="1"/>
          <p:nvPr/>
        </p:nvSpPr>
        <p:spPr>
          <a:xfrm>
            <a:off x="2914650" y="4467225"/>
            <a:ext cx="1266825"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等待时长可视化</a:t>
            </a:r>
            <a:endParaRPr lang="zh-CN" sz="1425" b="1">
              <a:solidFill>
                <a:srgbClr val="E6EEF9"/>
              </a:solidFill>
              <a:latin typeface="微软雅黑" panose="020B0503020204020204" charset="-122"/>
              <a:ea typeface="微软雅黑" panose="020B0503020204020204" charset="-122"/>
            </a:endParaRPr>
          </a:p>
        </p:txBody>
      </p:sp>
      <p:sp>
        <p:nvSpPr>
          <p:cNvPr id="54" name="圆角矩形 53"/>
          <p:cNvSpPr/>
          <p:nvPr/>
        </p:nvSpPr>
        <p:spPr>
          <a:xfrm>
            <a:off x="4762500" y="4210050"/>
            <a:ext cx="2171700" cy="800100"/>
          </a:xfrm>
          <a:prstGeom prst="roundRect">
            <a:avLst>
              <a:gd name="adj" fmla="val 9524"/>
            </a:avLst>
          </a:prstGeom>
          <a:solidFill>
            <a:srgbClr val="3B82F6">
              <a:alpha val="8000"/>
            </a:srgbClr>
          </a:solidFill>
          <a:ln w="12700">
            <a:solidFill>
              <a:srgbClr val="3B82F6">
                <a:alpha val="24000"/>
              </a:srgbClr>
            </a:solidFill>
            <a:prstDash val="solid"/>
          </a:ln>
        </p:spPr>
        <p:txBody>
          <a:bodyPr/>
          <a:p/>
        </p:txBody>
      </p:sp>
      <p:sp>
        <p:nvSpPr>
          <p:cNvPr id="55" name="文本框 54" descr="{&quot;isTemplate&quot;:true,&quot;type&quot;:&quot;text&quot;}"/>
          <p:cNvSpPr txBox="1"/>
          <p:nvPr/>
        </p:nvSpPr>
        <p:spPr>
          <a:xfrm>
            <a:off x="5305425" y="4467225"/>
            <a:ext cx="108585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最佳梯号指引</a:t>
            </a:r>
            <a:endParaRPr lang="zh-CN" sz="1425" b="1">
              <a:solidFill>
                <a:srgbClr val="E6EEF9"/>
              </a:solidFill>
              <a:latin typeface="微软雅黑" panose="020B0503020204020204" charset="-122"/>
              <a:ea typeface="微软雅黑" panose="020B0503020204020204" charset="-122"/>
            </a:endParaRPr>
          </a:p>
        </p:txBody>
      </p:sp>
      <p:sp>
        <p:nvSpPr>
          <p:cNvPr id="56" name="圆角矩形 55"/>
          <p:cNvSpPr/>
          <p:nvPr/>
        </p:nvSpPr>
        <p:spPr>
          <a:xfrm>
            <a:off x="7067550" y="4210050"/>
            <a:ext cx="2171700" cy="800100"/>
          </a:xfrm>
          <a:prstGeom prst="roundRect">
            <a:avLst>
              <a:gd name="adj" fmla="val 9524"/>
            </a:avLst>
          </a:prstGeom>
          <a:solidFill>
            <a:srgbClr val="3B82F6">
              <a:alpha val="8000"/>
            </a:srgbClr>
          </a:solidFill>
          <a:ln w="12700">
            <a:solidFill>
              <a:srgbClr val="3B82F6">
                <a:alpha val="24000"/>
              </a:srgbClr>
            </a:solidFill>
            <a:prstDash val="solid"/>
          </a:ln>
        </p:spPr>
        <p:txBody>
          <a:bodyPr/>
          <a:p/>
        </p:txBody>
      </p:sp>
      <p:sp>
        <p:nvSpPr>
          <p:cNvPr id="57" name="文本框 56" descr="{&quot;isTemplate&quot;:true,&quot;type&quot;:&quot;text&quot;}"/>
          <p:cNvSpPr txBox="1"/>
          <p:nvPr/>
        </p:nvSpPr>
        <p:spPr>
          <a:xfrm>
            <a:off x="7610475" y="4467225"/>
            <a:ext cx="108585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自主策略选择</a:t>
            </a:r>
            <a:endParaRPr lang="zh-CN" sz="1425" b="1">
              <a:solidFill>
                <a:srgbClr val="E6EEF9"/>
              </a:solidFill>
              <a:latin typeface="微软雅黑" panose="020B0503020204020204" charset="-122"/>
              <a:ea typeface="微软雅黑" panose="020B0503020204020204" charset="-122"/>
            </a:endParaRPr>
          </a:p>
        </p:txBody>
      </p:sp>
      <p:sp>
        <p:nvSpPr>
          <p:cNvPr id="58" name="圆角矩形 57"/>
          <p:cNvSpPr/>
          <p:nvPr/>
        </p:nvSpPr>
        <p:spPr>
          <a:xfrm>
            <a:off x="9372600" y="4210050"/>
            <a:ext cx="2171700" cy="800100"/>
          </a:xfrm>
          <a:prstGeom prst="roundRect">
            <a:avLst>
              <a:gd name="adj" fmla="val 9524"/>
            </a:avLst>
          </a:prstGeom>
          <a:solidFill>
            <a:srgbClr val="3B82F6">
              <a:alpha val="8000"/>
            </a:srgbClr>
          </a:solidFill>
          <a:ln w="12700">
            <a:solidFill>
              <a:srgbClr val="3B82F6">
                <a:alpha val="24000"/>
              </a:srgbClr>
            </a:solidFill>
            <a:prstDash val="solid"/>
          </a:ln>
        </p:spPr>
        <p:txBody>
          <a:bodyPr/>
          <a:p/>
        </p:txBody>
      </p:sp>
      <p:sp>
        <p:nvSpPr>
          <p:cNvPr id="59" name="文本框 58" descr="{&quot;isTemplate&quot;:true,&quot;type&quot;:&quot;text&quot;}"/>
          <p:cNvSpPr txBox="1"/>
          <p:nvPr/>
        </p:nvSpPr>
        <p:spPr>
          <a:xfrm>
            <a:off x="9915525" y="4467225"/>
            <a:ext cx="1085850" cy="295275"/>
          </a:xfrm>
          <a:prstGeom prst="rect">
            <a:avLst/>
          </a:prstGeom>
        </p:spPr>
        <p:txBody>
          <a:bodyPr wrap="none" lIns="0" tIns="0" rIns="0" bIns="0"/>
          <a:p>
            <a:pPr algn="ctr">
              <a:lnSpc>
                <a:spcPct val="135000"/>
              </a:lnSpc>
            </a:pPr>
            <a:r>
              <a:rPr lang="zh-CN" sz="1425" b="1">
                <a:solidFill>
                  <a:srgbClr val="E6EEF9"/>
                </a:solidFill>
                <a:latin typeface="微软雅黑" panose="020B0503020204020204" charset="-122"/>
                <a:ea typeface="微软雅黑" panose="020B0503020204020204" charset="-122"/>
              </a:rPr>
              <a:t>满载自主建议</a:t>
            </a:r>
            <a:endParaRPr lang="zh-CN" sz="1425" b="1">
              <a:solidFill>
                <a:srgbClr val="E6EEF9"/>
              </a:solidFill>
              <a:latin typeface="微软雅黑" panose="020B0503020204020204" charset="-122"/>
              <a:ea typeface="微软雅黑" panose="020B0503020204020204" charset="-122"/>
            </a:endParaRPr>
          </a:p>
        </p:txBody>
      </p:sp>
      <p:sp>
        <p:nvSpPr>
          <p:cNvPr id="60" name="圆角矩形 59"/>
          <p:cNvSpPr/>
          <p:nvPr/>
        </p:nvSpPr>
        <p:spPr>
          <a:xfrm>
            <a:off x="638175" y="5181600"/>
            <a:ext cx="10972800" cy="609600"/>
          </a:xfrm>
          <a:prstGeom prst="roundRect">
            <a:avLst>
              <a:gd name="adj" fmla="val 6250"/>
            </a:avLst>
          </a:prstGeom>
          <a:solidFill>
            <a:srgbClr val="22D3EE">
              <a:alpha val="10000"/>
            </a:srgbClr>
          </a:solidFill>
        </p:spPr>
        <p:txBody>
          <a:bodyPr/>
          <a:p/>
        </p:txBody>
      </p:sp>
      <p:sp>
        <p:nvSpPr>
          <p:cNvPr id="61" name="任意多边形 60"/>
          <p:cNvSpPr/>
          <p:nvPr/>
        </p:nvSpPr>
        <p:spPr>
          <a:xfrm>
            <a:off x="638175" y="5181600"/>
            <a:ext cx="10972800" cy="609600"/>
          </a:xfrm>
          <a:custGeom>
            <a:avLst/>
            <a:gdLst/>
            <a:ahLst/>
            <a:cxnLst/>
            <a:pathLst>
              <a:path w="1152" h="64">
                <a:moveTo>
                  <a:pt x="4" y="0"/>
                </a:moveTo>
                <a:cubicBezTo>
                  <a:pt x="3" y="0"/>
                  <a:pt x="3" y="0"/>
                  <a:pt x="3" y="1"/>
                </a:cubicBezTo>
                <a:lnTo>
                  <a:pt x="3" y="63"/>
                </a:lnTo>
                <a:cubicBezTo>
                  <a:pt x="3" y="63"/>
                  <a:pt x="3" y="64"/>
                  <a:pt x="4" y="64"/>
                </a:cubicBezTo>
                <a:cubicBezTo>
                  <a:pt x="2" y="64"/>
                  <a:pt x="0" y="62"/>
                  <a:pt x="0" y="60"/>
                </a:cubicBezTo>
                <a:lnTo>
                  <a:pt x="0" y="4"/>
                </a:lnTo>
                <a:cubicBezTo>
                  <a:pt x="0" y="2"/>
                  <a:pt x="2" y="0"/>
                  <a:pt x="4" y="0"/>
                </a:cubicBezTo>
                <a:close/>
              </a:path>
            </a:pathLst>
          </a:custGeom>
          <a:solidFill>
            <a:srgbClr val="22D3EE"/>
          </a:solidFill>
        </p:spPr>
        <p:txBody>
          <a:bodyPr/>
          <a:p/>
        </p:txBody>
      </p:sp>
      <p:sp>
        <p:nvSpPr>
          <p:cNvPr id="62" name="文本框 61" descr="{&quot;isTemplate&quot;:true,&quot;type&quot;:&quot;text&quot;}"/>
          <p:cNvSpPr txBox="1"/>
          <p:nvPr/>
        </p:nvSpPr>
        <p:spPr>
          <a:xfrm>
            <a:off x="609600" y="1466850"/>
            <a:ext cx="1714500" cy="342900"/>
          </a:xfrm>
          <a:prstGeom prst="rect">
            <a:avLst/>
          </a:prstGeom>
        </p:spPr>
        <p:txBody>
          <a:bodyPr wrap="none" lIns="0" tIns="0" rIns="0" bIns="0"/>
          <a:p>
            <a:pPr>
              <a:lnSpc>
                <a:spcPct val="100000"/>
              </a:lnSpc>
            </a:pPr>
            <a:r>
              <a:rPr lang="zh-CN" sz="2250" b="1">
                <a:solidFill>
                  <a:srgbClr val="E6EEF9">
                    <a:alpha val="38000"/>
                  </a:srgbClr>
                </a:solidFill>
                <a:latin typeface="微软雅黑" panose="020B0503020204020204" charset="-122"/>
                <a:ea typeface="微软雅黑" panose="020B0503020204020204" charset="-122"/>
              </a:rPr>
              <a:t>让人适应电梯</a:t>
            </a:r>
            <a:endParaRPr lang="zh-CN" sz="2250" b="1">
              <a:solidFill>
                <a:srgbClr val="E6EEF9">
                  <a:alpha val="38000"/>
                </a:srgbClr>
              </a:solidFill>
              <a:latin typeface="微软雅黑" panose="020B0503020204020204" charset="-122"/>
              <a:ea typeface="微软雅黑" panose="020B0503020204020204" charset="-122"/>
            </a:endParaRPr>
          </a:p>
        </p:txBody>
      </p:sp>
      <p:sp>
        <p:nvSpPr>
          <p:cNvPr id="63" name="文本框 62" descr="{&quot;isTemplate&quot;:true,&quot;type&quot;:&quot;text&quot;}"/>
          <p:cNvSpPr txBox="1"/>
          <p:nvPr/>
        </p:nvSpPr>
        <p:spPr>
          <a:xfrm>
            <a:off x="847725" y="5334000"/>
            <a:ext cx="10525125" cy="304800"/>
          </a:xfrm>
          <a:prstGeom prst="rect">
            <a:avLst/>
          </a:prstGeom>
        </p:spPr>
        <p:txBody>
          <a:bodyPr wrap="none" lIns="0" tIns="0" rIns="0" bIns="0"/>
          <a:p>
            <a:pPr>
              <a:lnSpc>
                <a:spcPct val="155000"/>
              </a:lnSpc>
            </a:pPr>
            <a:r>
              <a:rPr lang="zh-CN" sz="1275">
                <a:solidFill>
                  <a:srgbClr val="E6EEF9">
                    <a:alpha val="85000"/>
                  </a:srgbClr>
                </a:solidFill>
                <a:latin typeface="微软雅黑" panose="020B0503020204020204" charset="-122"/>
                <a:ea typeface="微软雅黑" panose="020B0503020204020204" charset="-122"/>
              </a:rPr>
              <a:t>把决策权从人交给系统：学生不必在三个按钮之间反复猜，系统比任何人都更清楚哪一部电梯最近、哪一层根本没有人。</a:t>
            </a:r>
            <a:endParaRPr lang="zh-CN" sz="1275">
              <a:solidFill>
                <a:srgbClr val="E6EEF9">
                  <a:alpha val="85000"/>
                </a:srgbClr>
              </a:solidFill>
              <a:latin typeface="微软雅黑" panose="020B0503020204020204" charset="-122"/>
              <a:ea typeface="微软雅黑" panose="020B0503020204020204" charset="-122"/>
            </a:endParaRPr>
          </a:p>
        </p:txBody>
      </p:sp>
      <p:sp>
        <p:nvSpPr>
          <p:cNvPr id="64" name="任意多边形 63"/>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65" name="文本框 64"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66" name="文本框 65"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07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67"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defs&gt;&#10;            &lt;rect width='1280' height='720' fill='url(#grid)' /&gt;&#10;        &lt;/svg&gt;&#10;    &lt;/Box&gt;&#10;&#10;    &lt;Box style={{ position: 'relative', zIndex: 1, height: 84, display: 'flex', flexDirection: 'column' }}&gt;&#10;        &lt;Text style={{ fontSize: 14, color: '#22D3EE', letterSpacing: 3, fontFamily: 'Segoe UI' }}&gt;CHAPTER 03 · 构想&lt;/Text&gt;&#10;        &lt;Box style={{ height: 8 }} /&gt;&#10;        &lt;Text style={{ fontSize: 32, fontWeight: 'bold', color: '#E6EEF9' }}&gt;六大改造点（运行维度）&lt;/Text&gt;&#10;        &lt;Box style={{ height: 10 }} /&gt;&#10;        &lt;Box style={{ width: '56px', height: '3px', background: '#22D3EE' }} /&gt;&#10;    &lt;/Box&gt;&#10;&#10;    &lt;Box style={{ position: 'relative', zIndex: 1, height: 520, marginTop: 16, flexDirection: 'row', gap: 26 }}&gt;&#10;        &lt;Box style={{ width: '300px', display: 'flex', flexDirection: 'column' }}&gt;&#10;            &lt;Text style={{ fontSize: 100, fontWeight: 'bold', color: '#22D3EE', lineHeight: 1.0, fontFamily: 'Segoe UI', letterSpacing: -2 }}&gt;06&lt;/Text&gt;&#10;            &lt;Box style={{ height: 6 }} /&gt;&#10;            &lt;Text style={{ fontSize: 24, fontWeight: 'bold', color: '#E6EEF9' }}&gt;大改造点&lt;/Text&gt;&#10;            &lt;Box style={{ height: 20 }} /&gt;&#10;            &lt;Box style={{ width: '48px', height: '3px', background: '#22D3EE' }} /&gt;&#10;            &lt;Box style={{ height: 20 }} /&gt;&#10;            &lt;Text style={{ fontSize: 17, color: '#E6EEF9', opacity: 0.66, lineHeight: 1.65 }}&gt;&#10;                全部落在运行维度 —— 不新增电梯、不改井道，只改调度逻辑与感知能力。&#10;            &lt;/Text&gt;&#10;        &lt;/Box&gt;&#10;&#10;        &lt;Box style={{ flex: 1, display: 'flex', flexDirection: 'column', gap: 6 }}&gt;&#10;            &lt;Box style={{ height: 80, flexDirection: 'row', alignItems: 'center', gap: 16, padding: '0px 20px', background: 'rgba(59,130,246,0.10)', border: '1px solid rgba(59,130,246,0.24)', borderRadius: 10 }}&gt;&#10;                &lt;Box style={{ width: 40, height: 40, borderRadius: 20, background: 'rgba(34,211,238,0.14)', alignItems: 'center', justifyContent: 'center' }}&gt;&#10;                    &lt;Text style={{ fontSize: 18, fontWeight: 'bold', color: '#22D3EE', fontFamily: 'Segoe UI' }}&gt;1&lt;/Text&gt;&#10;                &lt;/Box&gt;&#10;                &lt;Box style={{ flex: 1 }}&gt;&#10;                    &lt;Text style={{ fontSize: 20, fontWeight: 'bold', color: '#E6EEF9' }}&gt;三个按钮改为一个&lt;/Text&gt;&#10;                    &lt;Box style={{ height: 4 }} /&gt;&#10;                    &lt;Text style={{ fontSize: 16, color: '#E6EEF9', opacity: 0.62 }}&gt;呼梯后自动呼叫最适电梯，不再靠学生自己判断&lt;/Text&gt;&#10;                &lt;/Box&gt;&#10;            &lt;/Box&gt;&#10;&#10;            &lt;Box style={{ height: 80, flexDirection: 'row', alignItems: 'center', gap: 16, padding: '0px 20px', background: 'rgba(34,211,238,0.10)', border: '1px solid rgba(34,211,238,0.30)', borderRadius: 10 }}&gt;&#10;                &lt;Box style={{ width: 40, height: 40, borderRadius: 20, background: 'rgba(34,211,238,0.20)', alignItems: 'center', justifyContent: 'center' }}&gt;&#10;                    &lt;Text style={{ fontSize: 18, fontWeight: 'bold', color: '#22D3EE', fontFamily: 'Segoe UI' }}&gt;2&lt;/Text&gt;&#10;                &lt;/Box&gt;&#10;                &lt;Box style={{ flex: 1 }}&gt;&#10;                    &lt;Text style={{ fontSize: 20, fontWeight: 'bold', color: '#22D3EE' }}&gt;每层增设毫米波人体存在传感器&lt;/Text&gt;&#10;                    &lt;Box style={{ height: 4 }} /&gt;&#10;                    &lt;Text style={{ fontSize: 16, color: '#E6EEF9', opacity: 0.66 }}&gt;无人时直接跳过，不空开门；同时检测人数以预测满载&lt;/Text&gt;&#10;                &lt;/Box&gt;&#10;            &lt;/Box&gt;&#10;&#10;            &lt;Box style={{ height: 80, flexDirection: 'row', alignItems: 'center', gap: 16, padding: '0px 20px', background: 'rgba(59,130,246,0.10)', border: '1px solid rgba(59,130,246,0.24)', borderRadius: 10 }}&gt;&#10;                &lt;Box style={{ width: 40, height: 40, borderRadius: 20, background: 'rgba(34,211,238,0.14)', alignItems: 'center', justifyContent: 'center' }}&gt;&#10;                    &lt;Text style={{ fontSize: 18, fontWeight: 'bold', color: '#22D3EE', fontFamily: 'Segoe UI' }}&gt;3&lt;/Text&gt;&#10;                &lt;/Box&gt;&#10;                &lt;Box style={{ flex: 1 }}&gt;&#10;                    &lt;Text style={{ fontSize: 20, fontWeight: 'bold', color: '#E6EEF9' }}&gt;预调度电梯&lt;/Text&gt;&#10;                    &lt;Box style={{ height: 4 }} /&gt;&#10;                    &lt;Text style={{ fontSize: 16, color: '#E6EEF9', opacity: 0.62 }}&gt;预判高峰期，提前把电梯放到需求即将出现的楼层&lt;/Text&gt;&#10;                &lt;/Box&gt;&#10;            &lt;/Box&gt;&#10;&#10;            &lt;Box style={{ height: 80, flexDirection: 'row', alignItems: 'center', gap: 16, padding: '0px 20px', background: 'rgba(59,130,246,0.10)', border: '1px solid rgba(59,130,246,0.24)', borderRadius: 10 }}&gt;&#10;                &lt;Box style={{ width: 40, height: 40, borderRadius: 20, background: 'rgba(34,211,238,0.14)', alignItems: 'center', justifyContent: 'center' }}&gt;&#10;                    &lt;Text style={{ fontSize: 18, fontWeight: 'bold', color: '#22D3EE', fontFamily: 'Segoe UI' }}&gt;4&lt;/Text&gt;&#10;                &lt;/Box&gt;&#10;                &lt;Box style={{ flex: 1 }}&gt;&#10;                    &lt;Text style={{ fontSize: 20, fontWeight: 'bold', color: '#E6EEF9' }}&gt;等待时长可视化&lt;/Text&gt;&#10;                    &lt;Box style={{ height: 4 }} /&gt;&#10;                    &lt;Text style={{ fontSize: 16, color: '#E6EEF9', opacity: 0.62 }}&gt;刷脸后实时显示预计等待时长，并指引最佳梯号&lt;/Text&gt;&#10;                &lt;/Box&gt;&#10;            &lt;/Box&gt;&#10;&#10;            &lt;Box style={{ height: 80, flexDirection: 'row', alignItems: 'center', gap: 16, padding: '0px 20px', background: 'rgba(59,130,246,0.10)', border: '1px solid rgba(59,130,246,0.24)', borderRadius: 10 }}&gt;&#10;                &lt;Box style={{ width: 40, height: 40, borderRadius: 20, background: 'rgba(34,211,238,0.14)', alignItems: 'center', justifyContent: 'center' }}&gt;&#10;                    &lt;Text style={{ fontSize: 18, fontWeight: 'bold', color: '#22D3EE', fontFamily: 'Segoe UI' }}&gt;5&lt;/Text&gt;&#10;                &lt;/Box&gt;&#10;                &lt;Box style={{ flex: 1 }}&gt;&#10;                    &lt;Text style={{ fontSize: 20, fontWeight: 'bold', color: '#E6EEF9' }}&gt;相邻楼层推荐&lt;/Text&gt;&#10;                    &lt;Box style={{ height: 4 }} /&gt;&#10;                    &lt;Text style={{ fontSize: 16, color: '#E6EEF9', opacity: 0.62 }}&gt;系统繁忙时推荐乘至相邻楼层，再步行至目标楼层&lt;/Text&gt;&#10;                &lt;/Box&gt;&#10;            &lt;/Box&gt;&#10;&#10;            &lt;Box style={{ height: 80, flexDirection: 'row', alignItems: 'center', gap: 16, padding: '0px 20px', background: 'rgba(59,130,246,0.10)', border: '1px solid rgba(59,130,246,0.24)', borderRadius: 10 }}&gt;&#10;                &lt;Box style={{ width: 40, height: 40, borderRadius: 20, background: 'rgba(34,211,238,0.14)', alignItems: 'center', justifyContent: 'center' }}&gt;&#10;                    &lt;Text style={{ fontSize: 18, fontWeight: 'bold', color: '#22D3EE', fontFamily: 'Segoe UI' }}&gt;6&lt;/Text&gt;&#10;                &lt;/Box&gt;&#10;                &lt;Box style={{ flex: 1 }}&gt;&#10;                    &lt;Text style={{ fontSize: 20, fontWeight: 'bold', color: '#E6EEF9' }}&gt;低功耗模式&lt;/Text&gt;&#10;                    &lt;Box style={{ height: 4 }} /&gt;&#10;                    &lt;Text style={{ fontSize: 16, color: '#E6EEF9', opacity: 0.62 }}&gt;无人乘坐时自动节能，减少空载上下的高耗电&lt;/Text&gt;&#10;                &lt;/Box&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12 / 18&lt;/Text&gt;&#10;    &lt;/Box&gt;&#10;&lt;/Slide&gt;&#10;"/>
        <p:cNvGrpSpPr/>
        <p:nvPr/>
      </p:nvGrpSpPr>
      <p:grpSpPr>
        <a:xfrm>
          <a:off x="0" y="0"/>
          <a:ext cx="0" cy="0"/>
          <a:chOff x="0" y="0"/>
          <a:chExt cx="0" cy="0"/>
        </a:xfrm>
      </p:grpSpPr>
      <p:sp>
        <p:nvSpPr>
          <p:cNvPr id="68" name="矩形 67"/>
          <p:cNvSpPr/>
          <p:nvPr/>
        </p:nvSpPr>
        <p:spPr>
          <a:xfrm>
            <a:off x="0" y="0"/>
            <a:ext cx="12192000" cy="6858000"/>
          </a:xfrm>
          <a:prstGeom prst="rect">
            <a:avLst/>
          </a:prstGeom>
          <a:solidFill>
            <a:srgbClr val="0A1424"/>
          </a:solidFill>
        </p:spPr>
        <p:txBody>
          <a:bodyPr/>
          <a:p/>
        </p:txBody>
      </p:sp>
      <p:pic>
        <p:nvPicPr>
          <p:cNvPr id="69" name="图片 6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70" name="文本框 69"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02 · </a:t>
            </a:r>
            <a:r>
              <a:rPr lang="zh-CN" sz="1050" spc="225">
                <a:solidFill>
                  <a:srgbClr val="22D3EE"/>
                </a:solidFill>
                <a:latin typeface="Segoe UI" panose="020B0502040204020203"/>
                <a:ea typeface="Segoe UI" panose="020B0502040204020203"/>
              </a:rPr>
              <a:t>构想</a:t>
            </a:r>
            <a:endParaRPr lang="zh-CN" sz="1050" spc="225">
              <a:solidFill>
                <a:srgbClr val="22D3EE"/>
              </a:solidFill>
              <a:latin typeface="Segoe UI" panose="020B0502040204020203"/>
              <a:ea typeface="Segoe UI" panose="020B0502040204020203"/>
            </a:endParaRPr>
          </a:p>
        </p:txBody>
      </p:sp>
      <p:sp>
        <p:nvSpPr>
          <p:cNvPr id="71" name="文本框 70"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改造方案 · 运行维度</a:t>
            </a:r>
            <a:endParaRPr lang="zh-CN" sz="2400" b="1">
              <a:solidFill>
                <a:srgbClr val="E6EEF9"/>
              </a:solidFill>
              <a:latin typeface="微软雅黑" panose="020B0503020204020204" charset="-122"/>
              <a:ea typeface="微软雅黑" panose="020B0503020204020204" charset="-122"/>
            </a:endParaRPr>
          </a:p>
        </p:txBody>
      </p:sp>
      <p:sp>
        <p:nvSpPr>
          <p:cNvPr id="72" name="矩形 71"/>
          <p:cNvSpPr/>
          <p:nvPr/>
        </p:nvSpPr>
        <p:spPr>
          <a:xfrm>
            <a:off x="609600" y="1009650"/>
            <a:ext cx="533400" cy="28575"/>
          </a:xfrm>
          <a:prstGeom prst="rect">
            <a:avLst/>
          </a:prstGeom>
          <a:solidFill>
            <a:srgbClr val="22D3EE"/>
          </a:solidFill>
        </p:spPr>
        <p:txBody>
          <a:bodyPr/>
          <a:p/>
        </p:txBody>
      </p:sp>
      <p:sp>
        <p:nvSpPr>
          <p:cNvPr id="73" name="文本框 72" descr="{&quot;isTemplate&quot;:true,&quot;type&quot;:&quot;text&quot;}"/>
          <p:cNvSpPr txBox="1"/>
          <p:nvPr/>
        </p:nvSpPr>
        <p:spPr>
          <a:xfrm>
            <a:off x="609600" y="1257300"/>
            <a:ext cx="2857500" cy="1143000"/>
          </a:xfrm>
          <a:prstGeom prst="rect">
            <a:avLst/>
          </a:prstGeom>
        </p:spPr>
        <p:txBody>
          <a:bodyPr wrap="none" lIns="0" tIns="0" rIns="0" bIns="0"/>
          <a:p>
            <a:pPr>
              <a:lnSpc>
                <a:spcPct val="100000"/>
              </a:lnSpc>
            </a:pPr>
            <a:r>
              <a:rPr lang="en-US" sz="7500" b="1" spc="-150">
                <a:solidFill>
                  <a:srgbClr val="22D3EE"/>
                </a:solidFill>
                <a:latin typeface="Segoe UI" panose="020B0502040204020203"/>
                <a:ea typeface="Segoe UI" panose="020B0502040204020203"/>
              </a:rPr>
              <a:t>6</a:t>
            </a:r>
            <a:endParaRPr lang="en-US" sz="7500" b="1" spc="-150">
              <a:solidFill>
                <a:srgbClr val="22D3EE"/>
              </a:solidFill>
              <a:latin typeface="Segoe UI" panose="020B0502040204020203"/>
              <a:ea typeface="Segoe UI" panose="020B0502040204020203"/>
            </a:endParaRPr>
          </a:p>
        </p:txBody>
      </p:sp>
      <p:sp>
        <p:nvSpPr>
          <p:cNvPr id="74" name="文本框 73" descr="{&quot;isTemplate&quot;:true,&quot;type&quot;:&quot;text&quot;}"/>
          <p:cNvSpPr txBox="1"/>
          <p:nvPr/>
        </p:nvSpPr>
        <p:spPr>
          <a:xfrm>
            <a:off x="609600" y="2457450"/>
            <a:ext cx="2857500" cy="276225"/>
          </a:xfrm>
          <a:prstGeom prst="rect">
            <a:avLst/>
          </a:prstGeom>
        </p:spPr>
        <p:txBody>
          <a:bodyPr wrap="none" lIns="0" tIns="0" rIns="0" bIns="0"/>
          <a:p>
            <a:pPr>
              <a:lnSpc>
                <a:spcPct val="100000"/>
              </a:lnSpc>
            </a:pPr>
            <a:r>
              <a:rPr lang="zh-CN" sz="1800" b="1">
                <a:solidFill>
                  <a:srgbClr val="E6EEF9"/>
                </a:solidFill>
                <a:latin typeface="微软雅黑" panose="020B0503020204020204" charset="-122"/>
                <a:ea typeface="微软雅黑" panose="020B0503020204020204" charset="-122"/>
              </a:rPr>
              <a:t>大改造点</a:t>
            </a:r>
            <a:endParaRPr lang="zh-CN" sz="1800" b="1">
              <a:solidFill>
                <a:srgbClr val="E6EEF9"/>
              </a:solidFill>
              <a:latin typeface="微软雅黑" panose="020B0503020204020204" charset="-122"/>
              <a:ea typeface="微软雅黑" panose="020B0503020204020204" charset="-122"/>
            </a:endParaRPr>
          </a:p>
        </p:txBody>
      </p:sp>
      <p:sp>
        <p:nvSpPr>
          <p:cNvPr id="75" name="矩形 74"/>
          <p:cNvSpPr/>
          <p:nvPr/>
        </p:nvSpPr>
        <p:spPr>
          <a:xfrm>
            <a:off x="609600" y="2924175"/>
            <a:ext cx="457200" cy="28575"/>
          </a:xfrm>
          <a:prstGeom prst="rect">
            <a:avLst/>
          </a:prstGeom>
          <a:solidFill>
            <a:srgbClr val="22D3EE"/>
          </a:solidFill>
        </p:spPr>
        <p:txBody>
          <a:bodyPr/>
          <a:p/>
        </p:txBody>
      </p:sp>
      <p:sp>
        <p:nvSpPr>
          <p:cNvPr id="76" name="圆角矩形 75"/>
          <p:cNvSpPr/>
          <p:nvPr/>
        </p:nvSpPr>
        <p:spPr>
          <a:xfrm>
            <a:off x="3714750" y="1257300"/>
            <a:ext cx="7867650" cy="762000"/>
          </a:xfrm>
          <a:prstGeom prst="roundRect">
            <a:avLst>
              <a:gd name="adj" fmla="val 12500"/>
            </a:avLst>
          </a:prstGeom>
          <a:solidFill>
            <a:srgbClr val="3B82F6">
              <a:alpha val="10000"/>
            </a:srgbClr>
          </a:solidFill>
          <a:ln w="12700">
            <a:solidFill>
              <a:srgbClr val="3B82F6">
                <a:alpha val="24000"/>
              </a:srgbClr>
            </a:solidFill>
            <a:prstDash val="solid"/>
          </a:ln>
        </p:spPr>
        <p:txBody>
          <a:bodyPr/>
          <a:p/>
        </p:txBody>
      </p:sp>
      <p:sp>
        <p:nvSpPr>
          <p:cNvPr id="77" name="圆角矩形 76"/>
          <p:cNvSpPr/>
          <p:nvPr/>
        </p:nvSpPr>
        <p:spPr>
          <a:xfrm>
            <a:off x="3905250" y="1447800"/>
            <a:ext cx="381000" cy="381000"/>
          </a:xfrm>
          <a:prstGeom prst="roundRect">
            <a:avLst>
              <a:gd name="adj" fmla="val 50000"/>
            </a:avLst>
          </a:prstGeom>
          <a:solidFill>
            <a:srgbClr val="22D3EE">
              <a:alpha val="14000"/>
            </a:srgbClr>
          </a:solidFill>
        </p:spPr>
        <p:txBody>
          <a:bodyPr/>
          <a:p/>
        </p:txBody>
      </p:sp>
      <p:sp>
        <p:nvSpPr>
          <p:cNvPr id="78" name="文本框 77" descr="{&quot;isTemplate&quot;:true,&quot;type&quot;:&quot;text&quot;}"/>
          <p:cNvSpPr txBox="1"/>
          <p:nvPr/>
        </p:nvSpPr>
        <p:spPr>
          <a:xfrm>
            <a:off x="4048125" y="1533525"/>
            <a:ext cx="104775" cy="209550"/>
          </a:xfrm>
          <a:prstGeom prst="rect">
            <a:avLst/>
          </a:prstGeom>
        </p:spPr>
        <p:txBody>
          <a:bodyPr wrap="none" lIns="0" tIns="0" rIns="0" bIns="0"/>
          <a:p>
            <a:pPr>
              <a:lnSpc>
                <a:spcPct val="100000"/>
              </a:lnSpc>
            </a:pPr>
            <a:r>
              <a:rPr lang="en-US" sz="1350" b="1">
                <a:solidFill>
                  <a:srgbClr val="22D3EE"/>
                </a:solidFill>
                <a:latin typeface="Segoe UI" panose="020B0502040204020203"/>
                <a:ea typeface="Segoe UI" panose="020B0502040204020203"/>
              </a:rPr>
              <a:t>1</a:t>
            </a:r>
            <a:endParaRPr lang="en-US" sz="1350" b="1">
              <a:solidFill>
                <a:srgbClr val="22D3EE"/>
              </a:solidFill>
              <a:latin typeface="Segoe UI" panose="020B0502040204020203"/>
              <a:ea typeface="Segoe UI" panose="020B0502040204020203"/>
            </a:endParaRPr>
          </a:p>
        </p:txBody>
      </p:sp>
      <p:sp>
        <p:nvSpPr>
          <p:cNvPr id="79" name="文本框 78" descr="{&quot;isTemplate&quot;:true,&quot;type&quot;:&quot;text&quot;}"/>
          <p:cNvSpPr txBox="1"/>
          <p:nvPr/>
        </p:nvSpPr>
        <p:spPr>
          <a:xfrm>
            <a:off x="4438650" y="1409700"/>
            <a:ext cx="69532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三个按钮改为一个</a:t>
            </a:r>
            <a:endParaRPr lang="zh-CN" sz="1500" b="1">
              <a:solidFill>
                <a:srgbClr val="E6EEF9"/>
              </a:solidFill>
              <a:latin typeface="微软雅黑" panose="020B0503020204020204" charset="-122"/>
              <a:ea typeface="微软雅黑" panose="020B0503020204020204" charset="-122"/>
            </a:endParaRPr>
          </a:p>
        </p:txBody>
      </p:sp>
      <p:sp>
        <p:nvSpPr>
          <p:cNvPr id="80" name="圆角矩形 79"/>
          <p:cNvSpPr/>
          <p:nvPr/>
        </p:nvSpPr>
        <p:spPr>
          <a:xfrm>
            <a:off x="3714750" y="2076450"/>
            <a:ext cx="7867650" cy="762000"/>
          </a:xfrm>
          <a:prstGeom prst="roundRect">
            <a:avLst>
              <a:gd name="adj" fmla="val 12500"/>
            </a:avLst>
          </a:prstGeom>
          <a:solidFill>
            <a:srgbClr val="22D3EE">
              <a:alpha val="10000"/>
            </a:srgbClr>
          </a:solidFill>
          <a:ln w="12700">
            <a:solidFill>
              <a:srgbClr val="22D3EE">
                <a:alpha val="30000"/>
              </a:srgbClr>
            </a:solidFill>
            <a:prstDash val="solid"/>
          </a:ln>
        </p:spPr>
        <p:txBody>
          <a:bodyPr/>
          <a:p/>
        </p:txBody>
      </p:sp>
      <p:sp>
        <p:nvSpPr>
          <p:cNvPr id="81" name="圆角矩形 80"/>
          <p:cNvSpPr/>
          <p:nvPr/>
        </p:nvSpPr>
        <p:spPr>
          <a:xfrm>
            <a:off x="3905250" y="2266950"/>
            <a:ext cx="381000" cy="381000"/>
          </a:xfrm>
          <a:prstGeom prst="roundRect">
            <a:avLst>
              <a:gd name="adj" fmla="val 50000"/>
            </a:avLst>
          </a:prstGeom>
          <a:solidFill>
            <a:srgbClr val="22D3EE">
              <a:alpha val="20000"/>
            </a:srgbClr>
          </a:solidFill>
        </p:spPr>
        <p:txBody>
          <a:bodyPr/>
          <a:p/>
        </p:txBody>
      </p:sp>
      <p:sp>
        <p:nvSpPr>
          <p:cNvPr id="82" name="文本框 81" descr="{&quot;isTemplate&quot;:true,&quot;type&quot;:&quot;text&quot;}"/>
          <p:cNvSpPr txBox="1"/>
          <p:nvPr/>
        </p:nvSpPr>
        <p:spPr>
          <a:xfrm>
            <a:off x="4048125" y="2352675"/>
            <a:ext cx="104775" cy="209550"/>
          </a:xfrm>
          <a:prstGeom prst="rect">
            <a:avLst/>
          </a:prstGeom>
        </p:spPr>
        <p:txBody>
          <a:bodyPr wrap="none" lIns="0" tIns="0" rIns="0" bIns="0"/>
          <a:p>
            <a:pPr>
              <a:lnSpc>
                <a:spcPct val="100000"/>
              </a:lnSpc>
            </a:pPr>
            <a:r>
              <a:rPr lang="en-US" sz="1350" b="1">
                <a:solidFill>
                  <a:srgbClr val="22D3EE"/>
                </a:solidFill>
                <a:latin typeface="Segoe UI" panose="020B0502040204020203"/>
                <a:ea typeface="Segoe UI" panose="020B0502040204020203"/>
              </a:rPr>
              <a:t>2</a:t>
            </a:r>
            <a:endParaRPr lang="en-US" sz="1350" b="1">
              <a:solidFill>
                <a:srgbClr val="22D3EE"/>
              </a:solidFill>
              <a:latin typeface="Segoe UI" panose="020B0502040204020203"/>
              <a:ea typeface="Segoe UI" panose="020B0502040204020203"/>
            </a:endParaRPr>
          </a:p>
        </p:txBody>
      </p:sp>
      <p:sp>
        <p:nvSpPr>
          <p:cNvPr id="83" name="文本框 82" descr="{&quot;isTemplate&quot;:true,&quot;type&quot;:&quot;text&quot;}"/>
          <p:cNvSpPr txBox="1"/>
          <p:nvPr/>
        </p:nvSpPr>
        <p:spPr>
          <a:xfrm>
            <a:off x="4438650" y="2228850"/>
            <a:ext cx="6953250" cy="228600"/>
          </a:xfrm>
          <a:prstGeom prst="rect">
            <a:avLst/>
          </a:prstGeom>
        </p:spPr>
        <p:txBody>
          <a:bodyPr wrap="none" lIns="0" tIns="0" rIns="0" bIns="0"/>
          <a:p>
            <a:pPr>
              <a:lnSpc>
                <a:spcPct val="100000"/>
              </a:lnSpc>
            </a:pPr>
            <a:r>
              <a:rPr lang="zh-CN" sz="1500" b="1">
                <a:solidFill>
                  <a:srgbClr val="22D3EE"/>
                </a:solidFill>
                <a:latin typeface="微软雅黑" panose="020B0503020204020204" charset="-122"/>
                <a:ea typeface="微软雅黑" panose="020B0503020204020204" charset="-122"/>
              </a:rPr>
              <a:t>每层增设毫米波人体存在传感器</a:t>
            </a:r>
            <a:endParaRPr lang="zh-CN" sz="1500" b="1">
              <a:solidFill>
                <a:srgbClr val="22D3EE"/>
              </a:solidFill>
              <a:latin typeface="微软雅黑" panose="020B0503020204020204" charset="-122"/>
              <a:ea typeface="微软雅黑" panose="020B0503020204020204" charset="-122"/>
            </a:endParaRPr>
          </a:p>
        </p:txBody>
      </p:sp>
      <p:sp>
        <p:nvSpPr>
          <p:cNvPr id="84" name="圆角矩形 83"/>
          <p:cNvSpPr/>
          <p:nvPr/>
        </p:nvSpPr>
        <p:spPr>
          <a:xfrm>
            <a:off x="3714750" y="2895600"/>
            <a:ext cx="7867650" cy="762000"/>
          </a:xfrm>
          <a:prstGeom prst="roundRect">
            <a:avLst>
              <a:gd name="adj" fmla="val 12500"/>
            </a:avLst>
          </a:prstGeom>
          <a:solidFill>
            <a:srgbClr val="3B82F6">
              <a:alpha val="10000"/>
            </a:srgbClr>
          </a:solidFill>
          <a:ln w="12700">
            <a:solidFill>
              <a:srgbClr val="3B82F6">
                <a:alpha val="24000"/>
              </a:srgbClr>
            </a:solidFill>
            <a:prstDash val="solid"/>
          </a:ln>
        </p:spPr>
        <p:txBody>
          <a:bodyPr/>
          <a:p/>
        </p:txBody>
      </p:sp>
      <p:sp>
        <p:nvSpPr>
          <p:cNvPr id="85" name="圆角矩形 84"/>
          <p:cNvSpPr/>
          <p:nvPr/>
        </p:nvSpPr>
        <p:spPr>
          <a:xfrm>
            <a:off x="3905250" y="3086100"/>
            <a:ext cx="381000" cy="381000"/>
          </a:xfrm>
          <a:prstGeom prst="roundRect">
            <a:avLst>
              <a:gd name="adj" fmla="val 50000"/>
            </a:avLst>
          </a:prstGeom>
          <a:solidFill>
            <a:srgbClr val="22D3EE">
              <a:alpha val="14000"/>
            </a:srgbClr>
          </a:solidFill>
        </p:spPr>
        <p:txBody>
          <a:bodyPr/>
          <a:p/>
        </p:txBody>
      </p:sp>
      <p:sp>
        <p:nvSpPr>
          <p:cNvPr id="86" name="文本框 85" descr="{&quot;isTemplate&quot;:true,&quot;type&quot;:&quot;text&quot;}"/>
          <p:cNvSpPr txBox="1"/>
          <p:nvPr/>
        </p:nvSpPr>
        <p:spPr>
          <a:xfrm>
            <a:off x="4048125" y="3171825"/>
            <a:ext cx="104775" cy="209550"/>
          </a:xfrm>
          <a:prstGeom prst="rect">
            <a:avLst/>
          </a:prstGeom>
        </p:spPr>
        <p:txBody>
          <a:bodyPr wrap="none" lIns="0" tIns="0" rIns="0" bIns="0"/>
          <a:p>
            <a:pPr>
              <a:lnSpc>
                <a:spcPct val="100000"/>
              </a:lnSpc>
            </a:pPr>
            <a:r>
              <a:rPr lang="en-US" sz="1350" b="1">
                <a:solidFill>
                  <a:srgbClr val="22D3EE"/>
                </a:solidFill>
                <a:latin typeface="Segoe UI" panose="020B0502040204020203"/>
                <a:ea typeface="Segoe UI" panose="020B0502040204020203"/>
              </a:rPr>
              <a:t>3</a:t>
            </a:r>
            <a:endParaRPr lang="en-US" sz="1350" b="1">
              <a:solidFill>
                <a:srgbClr val="22D3EE"/>
              </a:solidFill>
              <a:latin typeface="Segoe UI" panose="020B0502040204020203"/>
              <a:ea typeface="Segoe UI" panose="020B0502040204020203"/>
            </a:endParaRPr>
          </a:p>
        </p:txBody>
      </p:sp>
      <p:sp>
        <p:nvSpPr>
          <p:cNvPr id="87" name="文本框 86" descr="{&quot;isTemplate&quot;:true,&quot;type&quot;:&quot;text&quot;}"/>
          <p:cNvSpPr txBox="1"/>
          <p:nvPr/>
        </p:nvSpPr>
        <p:spPr>
          <a:xfrm>
            <a:off x="4438650" y="3048000"/>
            <a:ext cx="69532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空闲梯预调度</a:t>
            </a:r>
            <a:endParaRPr lang="zh-CN" sz="1500" b="1">
              <a:solidFill>
                <a:srgbClr val="E6EEF9"/>
              </a:solidFill>
              <a:latin typeface="微软雅黑" panose="020B0503020204020204" charset="-122"/>
              <a:ea typeface="微软雅黑" panose="020B0503020204020204" charset="-122"/>
            </a:endParaRPr>
          </a:p>
        </p:txBody>
      </p:sp>
      <p:sp>
        <p:nvSpPr>
          <p:cNvPr id="88" name="圆角矩形 87"/>
          <p:cNvSpPr/>
          <p:nvPr/>
        </p:nvSpPr>
        <p:spPr>
          <a:xfrm>
            <a:off x="3714750" y="3714750"/>
            <a:ext cx="7867650" cy="762000"/>
          </a:xfrm>
          <a:prstGeom prst="roundRect">
            <a:avLst>
              <a:gd name="adj" fmla="val 12500"/>
            </a:avLst>
          </a:prstGeom>
          <a:solidFill>
            <a:srgbClr val="3B82F6">
              <a:alpha val="10000"/>
            </a:srgbClr>
          </a:solidFill>
          <a:ln w="12700">
            <a:solidFill>
              <a:srgbClr val="3B82F6">
                <a:alpha val="24000"/>
              </a:srgbClr>
            </a:solidFill>
            <a:prstDash val="solid"/>
          </a:ln>
        </p:spPr>
        <p:txBody>
          <a:bodyPr/>
          <a:p/>
        </p:txBody>
      </p:sp>
      <p:sp>
        <p:nvSpPr>
          <p:cNvPr id="89" name="圆角矩形 88"/>
          <p:cNvSpPr/>
          <p:nvPr/>
        </p:nvSpPr>
        <p:spPr>
          <a:xfrm>
            <a:off x="3905250" y="3905250"/>
            <a:ext cx="381000" cy="381000"/>
          </a:xfrm>
          <a:prstGeom prst="roundRect">
            <a:avLst>
              <a:gd name="adj" fmla="val 50000"/>
            </a:avLst>
          </a:prstGeom>
          <a:solidFill>
            <a:srgbClr val="22D3EE">
              <a:alpha val="14000"/>
            </a:srgbClr>
          </a:solidFill>
        </p:spPr>
        <p:txBody>
          <a:bodyPr/>
          <a:p/>
        </p:txBody>
      </p:sp>
      <p:sp>
        <p:nvSpPr>
          <p:cNvPr id="90" name="文本框 89" descr="{&quot;isTemplate&quot;:true,&quot;type&quot;:&quot;text&quot;}"/>
          <p:cNvSpPr txBox="1"/>
          <p:nvPr/>
        </p:nvSpPr>
        <p:spPr>
          <a:xfrm>
            <a:off x="4048125" y="3990975"/>
            <a:ext cx="104775" cy="209550"/>
          </a:xfrm>
          <a:prstGeom prst="rect">
            <a:avLst/>
          </a:prstGeom>
        </p:spPr>
        <p:txBody>
          <a:bodyPr wrap="none" lIns="0" tIns="0" rIns="0" bIns="0"/>
          <a:p>
            <a:pPr>
              <a:lnSpc>
                <a:spcPct val="100000"/>
              </a:lnSpc>
            </a:pPr>
            <a:r>
              <a:rPr lang="en-US" sz="1350" b="1">
                <a:solidFill>
                  <a:srgbClr val="22D3EE"/>
                </a:solidFill>
                <a:latin typeface="Segoe UI" panose="020B0502040204020203"/>
                <a:ea typeface="Segoe UI" panose="020B0502040204020203"/>
              </a:rPr>
              <a:t>4</a:t>
            </a:r>
            <a:endParaRPr lang="en-US" sz="1350" b="1">
              <a:solidFill>
                <a:srgbClr val="22D3EE"/>
              </a:solidFill>
              <a:latin typeface="Segoe UI" panose="020B0502040204020203"/>
              <a:ea typeface="Segoe UI" panose="020B0502040204020203"/>
            </a:endParaRPr>
          </a:p>
        </p:txBody>
      </p:sp>
      <p:sp>
        <p:nvSpPr>
          <p:cNvPr id="91" name="文本框 90" descr="{&quot;isTemplate&quot;:true,&quot;type&quot;:&quot;text&quot;}"/>
          <p:cNvSpPr txBox="1"/>
          <p:nvPr/>
        </p:nvSpPr>
        <p:spPr>
          <a:xfrm>
            <a:off x="4438650" y="3867150"/>
            <a:ext cx="69532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刷脸免按键呼梯</a:t>
            </a:r>
            <a:endParaRPr lang="zh-CN" sz="1500" b="1">
              <a:solidFill>
                <a:srgbClr val="E6EEF9"/>
              </a:solidFill>
              <a:latin typeface="微软雅黑" panose="020B0503020204020204" charset="-122"/>
              <a:ea typeface="微软雅黑" panose="020B0503020204020204" charset="-122"/>
            </a:endParaRPr>
          </a:p>
        </p:txBody>
      </p:sp>
      <p:sp>
        <p:nvSpPr>
          <p:cNvPr id="92" name="圆角矩形 91"/>
          <p:cNvSpPr/>
          <p:nvPr/>
        </p:nvSpPr>
        <p:spPr>
          <a:xfrm>
            <a:off x="3714750" y="4533900"/>
            <a:ext cx="7867650" cy="762000"/>
          </a:xfrm>
          <a:prstGeom prst="roundRect">
            <a:avLst>
              <a:gd name="adj" fmla="val 12500"/>
            </a:avLst>
          </a:prstGeom>
          <a:solidFill>
            <a:srgbClr val="3B82F6">
              <a:alpha val="10000"/>
            </a:srgbClr>
          </a:solidFill>
          <a:ln w="12700">
            <a:solidFill>
              <a:srgbClr val="3B82F6">
                <a:alpha val="24000"/>
              </a:srgbClr>
            </a:solidFill>
            <a:prstDash val="solid"/>
          </a:ln>
        </p:spPr>
        <p:txBody>
          <a:bodyPr/>
          <a:p/>
        </p:txBody>
      </p:sp>
      <p:sp>
        <p:nvSpPr>
          <p:cNvPr id="93" name="圆角矩形 92"/>
          <p:cNvSpPr/>
          <p:nvPr/>
        </p:nvSpPr>
        <p:spPr>
          <a:xfrm>
            <a:off x="3905250" y="4724400"/>
            <a:ext cx="381000" cy="381000"/>
          </a:xfrm>
          <a:prstGeom prst="roundRect">
            <a:avLst>
              <a:gd name="adj" fmla="val 50000"/>
            </a:avLst>
          </a:prstGeom>
          <a:solidFill>
            <a:srgbClr val="22D3EE">
              <a:alpha val="14000"/>
            </a:srgbClr>
          </a:solidFill>
        </p:spPr>
        <p:txBody>
          <a:bodyPr/>
          <a:p/>
        </p:txBody>
      </p:sp>
      <p:sp>
        <p:nvSpPr>
          <p:cNvPr id="94" name="文本框 93" descr="{&quot;isTemplate&quot;:true,&quot;type&quot;:&quot;text&quot;}"/>
          <p:cNvSpPr txBox="1"/>
          <p:nvPr/>
        </p:nvSpPr>
        <p:spPr>
          <a:xfrm>
            <a:off x="4048125" y="4810125"/>
            <a:ext cx="104775" cy="209550"/>
          </a:xfrm>
          <a:prstGeom prst="rect">
            <a:avLst/>
          </a:prstGeom>
        </p:spPr>
        <p:txBody>
          <a:bodyPr wrap="none" lIns="0" tIns="0" rIns="0" bIns="0"/>
          <a:p>
            <a:pPr>
              <a:lnSpc>
                <a:spcPct val="100000"/>
              </a:lnSpc>
            </a:pPr>
            <a:r>
              <a:rPr lang="en-US" sz="1350" b="1">
                <a:solidFill>
                  <a:srgbClr val="22D3EE"/>
                </a:solidFill>
                <a:latin typeface="Segoe UI" panose="020B0502040204020203"/>
                <a:ea typeface="Segoe UI" panose="020B0502040204020203"/>
              </a:rPr>
              <a:t>5</a:t>
            </a:r>
            <a:endParaRPr lang="en-US" sz="1350" b="1">
              <a:solidFill>
                <a:srgbClr val="22D3EE"/>
              </a:solidFill>
              <a:latin typeface="Segoe UI" panose="020B0502040204020203"/>
              <a:ea typeface="Segoe UI" panose="020B0502040204020203"/>
            </a:endParaRPr>
          </a:p>
        </p:txBody>
      </p:sp>
      <p:sp>
        <p:nvSpPr>
          <p:cNvPr id="95" name="文本框 94" descr="{&quot;isTemplate&quot;:true,&quot;type&quot;:&quot;text&quot;}"/>
          <p:cNvSpPr txBox="1"/>
          <p:nvPr/>
        </p:nvSpPr>
        <p:spPr>
          <a:xfrm>
            <a:off x="4438650" y="4686300"/>
            <a:ext cx="69532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相邻楼层推荐</a:t>
            </a:r>
            <a:endParaRPr lang="zh-CN" sz="1500" b="1">
              <a:solidFill>
                <a:srgbClr val="E6EEF9"/>
              </a:solidFill>
              <a:latin typeface="微软雅黑" panose="020B0503020204020204" charset="-122"/>
              <a:ea typeface="微软雅黑" panose="020B0503020204020204" charset="-122"/>
            </a:endParaRPr>
          </a:p>
        </p:txBody>
      </p:sp>
      <p:sp>
        <p:nvSpPr>
          <p:cNvPr id="96" name="圆角矩形 95"/>
          <p:cNvSpPr/>
          <p:nvPr/>
        </p:nvSpPr>
        <p:spPr>
          <a:xfrm>
            <a:off x="3714750" y="5353050"/>
            <a:ext cx="7867650" cy="762000"/>
          </a:xfrm>
          <a:prstGeom prst="roundRect">
            <a:avLst>
              <a:gd name="adj" fmla="val 12500"/>
            </a:avLst>
          </a:prstGeom>
          <a:solidFill>
            <a:srgbClr val="3B82F6">
              <a:alpha val="10000"/>
            </a:srgbClr>
          </a:solidFill>
          <a:ln w="12700">
            <a:solidFill>
              <a:srgbClr val="3B82F6">
                <a:alpha val="24000"/>
              </a:srgbClr>
            </a:solidFill>
            <a:prstDash val="solid"/>
          </a:ln>
        </p:spPr>
        <p:txBody>
          <a:bodyPr/>
          <a:p/>
        </p:txBody>
      </p:sp>
      <p:sp>
        <p:nvSpPr>
          <p:cNvPr id="97" name="圆角矩形 96"/>
          <p:cNvSpPr/>
          <p:nvPr/>
        </p:nvSpPr>
        <p:spPr>
          <a:xfrm>
            <a:off x="3905250" y="5543550"/>
            <a:ext cx="381000" cy="381000"/>
          </a:xfrm>
          <a:prstGeom prst="roundRect">
            <a:avLst>
              <a:gd name="adj" fmla="val 50000"/>
            </a:avLst>
          </a:prstGeom>
          <a:solidFill>
            <a:srgbClr val="22D3EE">
              <a:alpha val="14000"/>
            </a:srgbClr>
          </a:solidFill>
        </p:spPr>
        <p:txBody>
          <a:bodyPr/>
          <a:p/>
        </p:txBody>
      </p:sp>
      <p:sp>
        <p:nvSpPr>
          <p:cNvPr id="98" name="文本框 97" descr="{&quot;isTemplate&quot;:true,&quot;type&quot;:&quot;text&quot;}"/>
          <p:cNvSpPr txBox="1"/>
          <p:nvPr/>
        </p:nvSpPr>
        <p:spPr>
          <a:xfrm>
            <a:off x="4048125" y="5629275"/>
            <a:ext cx="104775" cy="209550"/>
          </a:xfrm>
          <a:prstGeom prst="rect">
            <a:avLst/>
          </a:prstGeom>
        </p:spPr>
        <p:txBody>
          <a:bodyPr wrap="none" lIns="0" tIns="0" rIns="0" bIns="0"/>
          <a:p>
            <a:pPr>
              <a:lnSpc>
                <a:spcPct val="100000"/>
              </a:lnSpc>
            </a:pPr>
            <a:r>
              <a:rPr lang="en-US" sz="1350" b="1">
                <a:solidFill>
                  <a:srgbClr val="22D3EE"/>
                </a:solidFill>
                <a:latin typeface="Segoe UI" panose="020B0502040204020203"/>
                <a:ea typeface="Segoe UI" panose="020B0502040204020203"/>
              </a:rPr>
              <a:t>6</a:t>
            </a:r>
            <a:endParaRPr lang="en-US" sz="1350" b="1">
              <a:solidFill>
                <a:srgbClr val="22D3EE"/>
              </a:solidFill>
              <a:latin typeface="Segoe UI" panose="020B0502040204020203"/>
              <a:ea typeface="Segoe UI" panose="020B0502040204020203"/>
            </a:endParaRPr>
          </a:p>
        </p:txBody>
      </p:sp>
      <p:sp>
        <p:nvSpPr>
          <p:cNvPr id="99" name="文本框 98" descr="{&quot;isTemplate&quot;:true,&quot;type&quot;:&quot;text&quot;}"/>
          <p:cNvSpPr txBox="1"/>
          <p:nvPr/>
        </p:nvSpPr>
        <p:spPr>
          <a:xfrm>
            <a:off x="4438650" y="5505450"/>
            <a:ext cx="69532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低功耗模式</a:t>
            </a:r>
            <a:endParaRPr lang="zh-CN" sz="1500" b="1">
              <a:solidFill>
                <a:srgbClr val="E6EEF9"/>
              </a:solidFill>
              <a:latin typeface="微软雅黑" panose="020B0503020204020204" charset="-122"/>
              <a:ea typeface="微软雅黑" panose="020B0503020204020204" charset="-122"/>
            </a:endParaRPr>
          </a:p>
        </p:txBody>
      </p:sp>
      <p:sp>
        <p:nvSpPr>
          <p:cNvPr id="100" name="文本框 99" descr="{&quot;isTemplate&quot;:true,&quot;type&quot;:&quot;text&quot;}"/>
          <p:cNvSpPr txBox="1"/>
          <p:nvPr/>
        </p:nvSpPr>
        <p:spPr>
          <a:xfrm>
            <a:off x="609600" y="3143250"/>
            <a:ext cx="2857500" cy="647700"/>
          </a:xfrm>
          <a:prstGeom prst="rect">
            <a:avLst/>
          </a:prstGeom>
        </p:spPr>
        <p:txBody>
          <a:bodyPr wrap="square" lIns="0" tIns="0" rIns="0" bIns="0">
            <a:normAutofit/>
          </a:bodyPr>
          <a:p>
            <a:pPr>
              <a:lnSpc>
                <a:spcPct val="165000"/>
              </a:lnSpc>
            </a:pPr>
            <a:r>
              <a:rPr lang="zh-CN" sz="1275">
                <a:solidFill>
                  <a:srgbClr val="E6EEF9">
                    <a:alpha val="66000"/>
                  </a:srgbClr>
                </a:solidFill>
                <a:latin typeface="微软雅黑" panose="020B0503020204020204" charset="-122"/>
                <a:ea typeface="微软雅黑" panose="020B0503020204020204" charset="-122"/>
              </a:rPr>
              <a:t>前 4 项已纳入仿真量化；</a:t>
            </a:r>
            <a:endParaRPr lang="zh-CN" sz="1275">
              <a:solidFill>
                <a:srgbClr val="E6EEF9">
                  <a:alpha val="66000"/>
                </a:srgbClr>
              </a:solidFill>
              <a:latin typeface="微软雅黑" panose="020B0503020204020204" charset="-122"/>
              <a:ea typeface="微软雅黑" panose="020B0503020204020204" charset="-122"/>
            </a:endParaRPr>
          </a:p>
          <a:p>
            <a:pPr>
              <a:lnSpc>
                <a:spcPct val="165000"/>
              </a:lnSpc>
            </a:pPr>
            <a:r>
              <a:rPr lang="zh-CN" sz="1275">
                <a:solidFill>
                  <a:srgbClr val="E6EEF9">
                    <a:alpha val="66000"/>
                  </a:srgbClr>
                </a:solidFill>
                <a:latin typeface="微软雅黑" panose="020B0503020204020204" charset="-122"/>
                <a:ea typeface="微软雅黑" panose="020B0503020204020204" charset="-122"/>
              </a:rPr>
              <a:t>相邻楼层推荐与低功耗</a:t>
            </a:r>
            <a:endParaRPr lang="zh-CN" sz="1275">
              <a:solidFill>
                <a:srgbClr val="E6EEF9">
                  <a:alpha val="66000"/>
                </a:srgbClr>
              </a:solidFill>
              <a:latin typeface="微软雅黑" panose="020B0503020204020204" charset="-122"/>
              <a:ea typeface="微软雅黑" panose="020B0503020204020204" charset="-122"/>
            </a:endParaRPr>
          </a:p>
          <a:p>
            <a:pPr>
              <a:lnSpc>
                <a:spcPct val="165000"/>
              </a:lnSpc>
            </a:pPr>
            <a:r>
              <a:rPr lang="zh-CN" sz="1275">
                <a:solidFill>
                  <a:srgbClr val="E6EEF9">
                    <a:alpha val="66000"/>
                  </a:srgbClr>
                </a:solidFill>
                <a:latin typeface="微软雅黑" panose="020B0503020204020204" charset="-122"/>
                <a:ea typeface="微软雅黑" panose="020B0503020204020204" charset="-122"/>
              </a:rPr>
              <a:t>模式未建模，不计入数据</a:t>
            </a:r>
            <a:endParaRPr lang="zh-CN" sz="1275">
              <a:solidFill>
                <a:srgbClr val="E6EEF9">
                  <a:alpha val="66000"/>
                </a:srgbClr>
              </a:solidFill>
              <a:latin typeface="微软雅黑" panose="020B0503020204020204" charset="-122"/>
              <a:ea typeface="微软雅黑" panose="020B0503020204020204" charset="-122"/>
            </a:endParaRPr>
          </a:p>
        </p:txBody>
      </p:sp>
      <p:sp>
        <p:nvSpPr>
          <p:cNvPr id="101" name="文本框 100" descr="{&quot;isTemplate&quot;:true,&quot;type&quot;:&quot;text&quot;}"/>
          <p:cNvSpPr txBox="1"/>
          <p:nvPr/>
        </p:nvSpPr>
        <p:spPr>
          <a:xfrm>
            <a:off x="4438650" y="1676400"/>
            <a:ext cx="6953250" cy="190500"/>
          </a:xfrm>
          <a:prstGeom prst="rect">
            <a:avLst/>
          </a:prstGeom>
        </p:spPr>
        <p:txBody>
          <a:bodyPr wrap="none" lIns="0" tIns="0" rIns="0" bIns="0"/>
          <a:p>
            <a:pPr>
              <a:lnSpc>
                <a:spcPct val="100000"/>
              </a:lnSpc>
            </a:pPr>
            <a:r>
              <a:rPr lang="zh-CN" sz="1200">
                <a:solidFill>
                  <a:srgbClr val="E6EEF9">
                    <a:alpha val="62000"/>
                  </a:srgbClr>
                </a:solidFill>
                <a:latin typeface="微软雅黑" panose="020B0503020204020204" charset="-122"/>
                <a:ea typeface="微软雅黑" panose="020B0503020204020204" charset="-122"/>
              </a:rPr>
              <a:t>呼梯后统一派最合适的一台，并每 30 秒重新评估未上车的请求</a:t>
            </a:r>
            <a:endParaRPr lang="zh-CN" sz="1200">
              <a:solidFill>
                <a:srgbClr val="E6EEF9">
                  <a:alpha val="62000"/>
                </a:srgbClr>
              </a:solidFill>
              <a:latin typeface="微软雅黑" panose="020B0503020204020204" charset="-122"/>
              <a:ea typeface="微软雅黑" panose="020B0503020204020204" charset="-122"/>
            </a:endParaRPr>
          </a:p>
        </p:txBody>
      </p:sp>
      <p:sp>
        <p:nvSpPr>
          <p:cNvPr id="102" name="文本框 101" descr="{&quot;isTemplate&quot;:true,&quot;type&quot;:&quot;text&quot;}"/>
          <p:cNvSpPr txBox="1"/>
          <p:nvPr/>
        </p:nvSpPr>
        <p:spPr>
          <a:xfrm>
            <a:off x="4438650" y="2495550"/>
            <a:ext cx="6953250" cy="190500"/>
          </a:xfrm>
          <a:prstGeom prst="rect">
            <a:avLst/>
          </a:prstGeom>
        </p:spPr>
        <p:txBody>
          <a:bodyPr wrap="none" lIns="0" tIns="0" rIns="0" bIns="0"/>
          <a:p>
            <a:pPr>
              <a:lnSpc>
                <a:spcPct val="100000"/>
              </a:lnSpc>
            </a:pPr>
            <a:r>
              <a:rPr lang="zh-CN" sz="1200">
                <a:solidFill>
                  <a:srgbClr val="E6EEF9">
                    <a:alpha val="66000"/>
                  </a:srgbClr>
                </a:solidFill>
                <a:latin typeface="微软雅黑" panose="020B0503020204020204" charset="-122"/>
                <a:ea typeface="微软雅黑" panose="020B0503020204020204" charset="-122"/>
              </a:rPr>
              <a:t>无人时直接跳过，不空开门；同时检测人数以预测满载</a:t>
            </a:r>
            <a:endParaRPr lang="zh-CN" sz="1200">
              <a:solidFill>
                <a:srgbClr val="E6EEF9">
                  <a:alpha val="66000"/>
                </a:srgbClr>
              </a:solidFill>
              <a:latin typeface="微软雅黑" panose="020B0503020204020204" charset="-122"/>
              <a:ea typeface="微软雅黑" panose="020B0503020204020204" charset="-122"/>
            </a:endParaRPr>
          </a:p>
        </p:txBody>
      </p:sp>
      <p:sp>
        <p:nvSpPr>
          <p:cNvPr id="103" name="文本框 102" descr="{&quot;isTemplate&quot;:true,&quot;type&quot;:&quot;text&quot;}"/>
          <p:cNvSpPr txBox="1"/>
          <p:nvPr/>
        </p:nvSpPr>
        <p:spPr>
          <a:xfrm>
            <a:off x="4438650" y="3314700"/>
            <a:ext cx="6953250" cy="190500"/>
          </a:xfrm>
          <a:prstGeom prst="rect">
            <a:avLst/>
          </a:prstGeom>
        </p:spPr>
        <p:txBody>
          <a:bodyPr wrap="none" lIns="0" tIns="0" rIns="0" bIns="0"/>
          <a:p>
            <a:pPr>
              <a:lnSpc>
                <a:spcPct val="100000"/>
              </a:lnSpc>
            </a:pPr>
            <a:r>
              <a:rPr lang="zh-CN" sz="1200">
                <a:solidFill>
                  <a:srgbClr val="E6EEF9">
                    <a:alpha val="62000"/>
                  </a:srgbClr>
                </a:solidFill>
                <a:latin typeface="微软雅黑" panose="020B0503020204020204" charset="-122"/>
                <a:ea typeface="微软雅黑" panose="020B0503020204020204" charset="-122"/>
              </a:rPr>
              <a:t>预判高峰期，提前把空闲电梯放到 1 楼待命</a:t>
            </a:r>
            <a:endParaRPr lang="zh-CN" sz="1200">
              <a:solidFill>
                <a:srgbClr val="E6EEF9">
                  <a:alpha val="62000"/>
                </a:srgbClr>
              </a:solidFill>
              <a:latin typeface="微软雅黑" panose="020B0503020204020204" charset="-122"/>
              <a:ea typeface="微软雅黑" panose="020B0503020204020204" charset="-122"/>
            </a:endParaRPr>
          </a:p>
        </p:txBody>
      </p:sp>
      <p:sp>
        <p:nvSpPr>
          <p:cNvPr id="104" name="文本框 103" descr="{&quot;isTemplate&quot;:true,&quot;type&quot;:&quot;text&quot;}"/>
          <p:cNvSpPr txBox="1"/>
          <p:nvPr/>
        </p:nvSpPr>
        <p:spPr>
          <a:xfrm>
            <a:off x="4438650" y="4133850"/>
            <a:ext cx="6953250" cy="190500"/>
          </a:xfrm>
          <a:prstGeom prst="rect">
            <a:avLst/>
          </a:prstGeom>
        </p:spPr>
        <p:txBody>
          <a:bodyPr wrap="none" lIns="0" tIns="0" rIns="0" bIns="0"/>
          <a:p>
            <a:pPr>
              <a:lnSpc>
                <a:spcPct val="100000"/>
              </a:lnSpc>
            </a:pPr>
            <a:r>
              <a:rPr lang="zh-CN" sz="1200">
                <a:solidFill>
                  <a:srgbClr val="E6EEF9">
                    <a:alpha val="62000"/>
                  </a:srgbClr>
                </a:solidFill>
                <a:latin typeface="微软雅黑" panose="020B0503020204020204" charset="-122"/>
                <a:ea typeface="微软雅黑" panose="020B0503020204020204" charset="-122"/>
              </a:rPr>
              <a:t>刷脸即完成呼梯，不必走过去按按钮，也减少按键检修</a:t>
            </a:r>
            <a:endParaRPr lang="zh-CN" sz="1200">
              <a:solidFill>
                <a:srgbClr val="E6EEF9">
                  <a:alpha val="62000"/>
                </a:srgbClr>
              </a:solidFill>
              <a:latin typeface="微软雅黑" panose="020B0503020204020204" charset="-122"/>
              <a:ea typeface="微软雅黑" panose="020B0503020204020204" charset="-122"/>
            </a:endParaRPr>
          </a:p>
        </p:txBody>
      </p:sp>
      <p:sp>
        <p:nvSpPr>
          <p:cNvPr id="105" name="文本框 104" descr="{&quot;isTemplate&quot;:true,&quot;type&quot;:&quot;text&quot;}"/>
          <p:cNvSpPr txBox="1"/>
          <p:nvPr/>
        </p:nvSpPr>
        <p:spPr>
          <a:xfrm>
            <a:off x="4438650" y="4953000"/>
            <a:ext cx="6953250" cy="190500"/>
          </a:xfrm>
          <a:prstGeom prst="rect">
            <a:avLst/>
          </a:prstGeom>
        </p:spPr>
        <p:txBody>
          <a:bodyPr wrap="none" lIns="0" tIns="0" rIns="0" bIns="0"/>
          <a:p>
            <a:pPr>
              <a:lnSpc>
                <a:spcPct val="100000"/>
              </a:lnSpc>
            </a:pPr>
            <a:r>
              <a:rPr lang="zh-CN" sz="1200">
                <a:solidFill>
                  <a:srgbClr val="E6EEF9">
                    <a:alpha val="62000"/>
                  </a:srgbClr>
                </a:solidFill>
                <a:latin typeface="微软雅黑" panose="020B0503020204020204" charset="-122"/>
                <a:ea typeface="微软雅黑" panose="020B0503020204020204" charset="-122"/>
              </a:rPr>
              <a:t>系统繁忙时推荐乘至相邻楼层，再步行至目标楼层（本次仿真未量化）</a:t>
            </a:r>
            <a:endParaRPr lang="zh-CN" sz="1200">
              <a:solidFill>
                <a:srgbClr val="E6EEF9">
                  <a:alpha val="62000"/>
                </a:srgbClr>
              </a:solidFill>
              <a:latin typeface="微软雅黑" panose="020B0503020204020204" charset="-122"/>
              <a:ea typeface="微软雅黑" panose="020B0503020204020204" charset="-122"/>
            </a:endParaRPr>
          </a:p>
        </p:txBody>
      </p:sp>
      <p:sp>
        <p:nvSpPr>
          <p:cNvPr id="106" name="文本框 105" descr="{&quot;isTemplate&quot;:true,&quot;type&quot;:&quot;text&quot;}"/>
          <p:cNvSpPr txBox="1"/>
          <p:nvPr/>
        </p:nvSpPr>
        <p:spPr>
          <a:xfrm>
            <a:off x="4438650" y="5772150"/>
            <a:ext cx="6953250" cy="190500"/>
          </a:xfrm>
          <a:prstGeom prst="rect">
            <a:avLst/>
          </a:prstGeom>
        </p:spPr>
        <p:txBody>
          <a:bodyPr wrap="none" lIns="0" tIns="0" rIns="0" bIns="0"/>
          <a:p>
            <a:pPr>
              <a:lnSpc>
                <a:spcPct val="100000"/>
              </a:lnSpc>
            </a:pPr>
            <a:r>
              <a:rPr lang="zh-CN" sz="1200">
                <a:solidFill>
                  <a:srgbClr val="E6EEF9">
                    <a:alpha val="62000"/>
                  </a:srgbClr>
                </a:solidFill>
                <a:latin typeface="微软雅黑" panose="020B0503020204020204" charset="-122"/>
                <a:ea typeface="微软雅黑" panose="020B0503020204020204" charset="-122"/>
              </a:rPr>
              <a:t>无人乘坐时自动节能，减少空载上下的高耗电（本次仿真未量化）</a:t>
            </a:r>
            <a:endParaRPr lang="zh-CN" sz="1200">
              <a:solidFill>
                <a:srgbClr val="E6EEF9">
                  <a:alpha val="62000"/>
                </a:srgbClr>
              </a:solidFill>
              <a:latin typeface="微软雅黑" panose="020B0503020204020204" charset="-122"/>
              <a:ea typeface="微软雅黑" panose="020B0503020204020204" charset="-122"/>
            </a:endParaRPr>
          </a:p>
        </p:txBody>
      </p:sp>
      <p:sp>
        <p:nvSpPr>
          <p:cNvPr id="107" name="任意多边形 106"/>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108" name="文本框 107"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109" name="文本框 108"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08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10"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defs&gt;&#10;            &lt;rect width='1280' height='720' fill='url(#grid)' /&gt;&#10;        &lt;/svg&gt;&#10;    &lt;/Box&gt;&#10;&#10;    &lt;Box style={{ position: 'relative', zIndex: 1, height: 84, display: 'flex', flexDirection: 'column' }}&gt;&#10;        &lt;Text style={{ fontSize: 14, color: '#22D3EE', letterSpacing: 3, fontFamily: 'Segoe UI' }}&gt;CHAPTER 03 · 构想&lt;/Text&gt;&#10;        &lt;Box style={{ height: 8 }} /&gt;&#10;        &lt;Text style={{ fontSize: 32, fontWeight: 'bold', color: '#E6EEF9' }}&gt;五项功能：交互 · 安全 · 节能&lt;/Text&gt;&#10;        &lt;Box style={{ height: 10 }} /&gt;&#10;        &lt;Box style={{ width: '56px', height: '3px', background: '#22D3EE' }} /&gt;&#10;    &lt;/Box&gt;&#10;&#10;    &lt;Box style={{ position: 'relative', zIndex: 1, height: 520, marginTop: 16, flexDirection: 'row', gap: 24 }}&gt;&#10;        &lt;Box style={{ width: '400px', display: 'flex', flexDirection: 'column' }}&gt;&#10;            &lt;Text style={{ fontSize: 100, fontWeight: 'bold', color: '#22D3EE', lineHeight: 1.0, fontFamily: 'Segoe UI', letterSpacing: -2 }}&gt;05&lt;/Text&gt;&#10;            &lt;Box style={{ height: 6 }} /&gt;&#10;            &lt;Text style={{ fontSize: 24, fontWeight: 'bold', color: '#E6EEF9' }}&gt;项功能&lt;/Text&gt;&#10;            &lt;Box style={{ height: 18 }} /&gt;&#10;            &lt;Box style={{ width: '48px', height: '3px', background: '#22D3EE' }} /&gt;&#10;            &lt;Box style={{ height: 18 }} /&gt;&#10;            &lt;Box style={{ flexDirection: 'row', gap: 10 }}&gt;&#10;                &lt;Box style={{ padding: '6px 16px', background: 'rgba(34,211,238,0.14)', borderRadius: 20 }}&gt;&#10;                    &lt;Text style={{ fontSize: 16, color: '#22D3EE' }}&gt;交互&lt;/Text&gt;&#10;                &lt;/Box&gt;&#10;                &lt;Box style={{ padding: '6px 16px', background: 'rgba(34,211,238,0.14)', borderRadius: 20 }}&gt;&#10;                    &lt;Text style={{ fontSize: 16, color: '#22D3EE' }}&gt;安全&lt;/Text&gt;&#10;                &lt;/Box&gt;&#10;                &lt;Box style={{ padding: '6px 16px', background: 'rgba(34,211,238,0.14)', borderRadius: 20 }}&gt;&#10;                    &lt;Text style={{ fontSize: 16, color: '#22D3EE' }}&gt;节能&lt;/Text&gt;&#10;                &lt;/Box&gt;&#10;            &lt;/Box&gt;&#10;            &lt;Box style={{ height: 20 }} /&gt;&#10;            &lt;Text style={{ fontSize: 17, color: '#E6EEF9', opacity: 0.66, lineHeight: 1.65 }}&gt;&#10;                从乘梯体验、运行效率，一路覆盖到生命安全 —— 电梯第一次拥有「知道发生了什么」的能力。&#10;            &lt;/Text&gt;&#10;            &lt;Box style={{ marginTop: 'auto', height: 90, flexDirection: 'row', alignItems: 'flex-end', gap: 14 }}&gt;&#10;                &lt;Box style={{ width: '18px', height: '18px' }}&gt;&#10;                    &lt;svg width={18} height={18} viewBox='0 0 18 18'&gt;&#10;                        &lt;path d='M9 1 L16 15 H2 Z' fill='#22D3EE' fillOpacity='0.8' /&gt;&#10;                    &lt;/svg&gt;&#10;                &lt;/Box&gt;&#10;                &lt;Text style={{ fontSize: 15, color: '#E6EEF9', opacity: 0.5, lineHeight: 1.6, flex: 1 }}&gt;&#10;                    火灾时自动锁定电梯，不因乘梯需求而运行，避免井道烟囱效应扩大火势&#10;                &lt;/Text&gt;&#10;            &lt;/Box&gt;&#10;        &lt;/Box&gt;&#10;&#10;        &lt;Box style={{ flex: 1, display: 'flex', flexDirection: 'column', gap: 10 }}&gt;&#10;            &lt;Box style={{ padding: '16px 20px', background: 'rgba(59,130,246,0.10)', border: '1px solid rgba(59,130,246,0.24)', borderRadius: 10 }}&gt;&#10;                &lt;Text style={{ fontSize: 20, fontWeight: 'bold', color: '#E6EEF9' }}&gt;自主调节乘梯策略&lt;/Text&gt;&#10;                &lt;Box style={{ height: 6 }} /&gt;&#10;                &lt;Text style={{ fontSize: 16, color: '#E6EEF9', opacity: 0.64, lineHeight: 1.5 }}&gt;&#10;                    学生可自主选择：自主选楼层、只乘坐直达电梯，或乘梯后步行一层&#10;                &lt;/Text&gt;&#10;            &lt;/Box&gt;&#10;&#10;            &lt;Box style={{ padding: '16px 20px', background: 'rgba(59,130,246,0.10)', border: '1px solid rgba(59,130,246,0.24)', borderRadius: 10 }}&gt;&#10;                &lt;Text style={{ fontSize: 20, fontWeight: 'bold', color: '#E6EEF9' }}&gt;刷脸即呼梯&lt;/Text&gt;&#10;                &lt;Box style={{ height: 6 }} /&gt;&#10;                &lt;Text style={{ fontSize: 16, color: '#E6EEF9', opacity: 0.64, lineHeight: 1.5 }}&gt;&#10;                    扫描人脸后直接呼叫电梯，不用伸手按按钮，同时减少电梯按钮的检修成本&#10;                &lt;/Text&gt;&#10;            &lt;/Box&gt;&#10;&#10;            &lt;Box style={{ padding: '16px 20px', background: 'rgba(34,211,238,0.10)', border: '1px solid rgba(34,211,238,0.30)', borderRadius: 10 }}&gt;&#10;                &lt;Text style={{ fontSize: 20, fontWeight: 'bold', color: '#22D3EE' }}&gt;等待时长可视化&lt;/Text&gt;&#10;                &lt;Box style={{ height: 6 }} /&gt;&#10;                &lt;Text style={{ fontSize: 16, color: '#E6EEF9', opacity: 0.72, lineHeight: 1.5 }}&gt;&#10;                    依据前方已扫描人脸的个数与轿厢所在位置推算到达时间并显示在屏幕上，不再焦急等待&#10;                &lt;/Text&gt;&#10;            &lt;/Box&gt;&#10;&#10;            &lt;Box style={{ padding: '16px 20px', background: 'rgba(59,130,246,0.10)', border: '1px solid rgba(59,130,246,0.24)', borderRadius: 10 }}&gt;&#10;                &lt;Text style={{ fontSize: 20, fontWeight: 'bold', color: '#E6EEF9' }}&gt;不空开门&lt;/Text&gt;&#10;                &lt;Box style={{ height: 6 }} /&gt;&#10;                &lt;Text style={{ fontSize: 16, color: '#E6EEF9', opacity: 0.64, lineHeight: 1.5 }}&gt;&#10;                    无人楼层直接跳过；满载后自主判断，并向候梯学生提供替代建议&#10;                &lt;/Text&gt;&#10;            &lt;/Box&gt;&#10;&#10;            &lt;Box style={{ padding: '16px 20px', background: 'rgba(59,130,246,0.10)', border: '1px solid rgba(59,130,246,0.24)', borderRadius: 10 }}&gt;&#10;                &lt;Text style={{ fontSize: 20, fontWeight: 'bold', color: '#E6EEF9' }}&gt;紧急情况自动调度&lt;/Text&gt;&#10;                &lt;Box style={{ height: 6 }} /&gt;&#10;                &lt;Text style={{ fontSize: 16, color: '#E6EEF9', opacity: 0.64, lineHeight: 1.5 }}&gt;&#10;                    学生晕倒等情形下自动调度最快电梯，确保在最短时间内得到救助&#10;                &lt;/Text&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13 / 18&lt;/Text&gt;&#10;    &lt;/Box&gt;&#10;&lt;/Slide&gt;&#10;"/>
        <p:cNvGrpSpPr/>
        <p:nvPr/>
      </p:nvGrpSpPr>
      <p:grpSpPr>
        <a:xfrm>
          <a:off x="0" y="0"/>
          <a:ext cx="0" cy="0"/>
          <a:chOff x="0" y="0"/>
          <a:chExt cx="0" cy="0"/>
        </a:xfrm>
      </p:grpSpPr>
      <p:sp>
        <p:nvSpPr>
          <p:cNvPr id="111" name="矩形 110"/>
          <p:cNvSpPr/>
          <p:nvPr/>
        </p:nvSpPr>
        <p:spPr>
          <a:xfrm>
            <a:off x="0" y="0"/>
            <a:ext cx="12192000" cy="6858000"/>
          </a:xfrm>
          <a:prstGeom prst="rect">
            <a:avLst/>
          </a:prstGeom>
          <a:solidFill>
            <a:srgbClr val="0A1424"/>
          </a:solidFill>
        </p:spPr>
        <p:txBody>
          <a:bodyPr/>
          <a:p/>
        </p:txBody>
      </p:sp>
      <p:pic>
        <p:nvPicPr>
          <p:cNvPr id="112" name="图片 11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13" name="文本框 112"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02 · </a:t>
            </a:r>
            <a:r>
              <a:rPr lang="zh-CN" sz="1050" spc="225">
                <a:solidFill>
                  <a:srgbClr val="22D3EE"/>
                </a:solidFill>
                <a:latin typeface="Segoe UI" panose="020B0502040204020203"/>
                <a:ea typeface="Segoe UI" panose="020B0502040204020203"/>
              </a:rPr>
              <a:t>构想</a:t>
            </a:r>
            <a:endParaRPr lang="zh-CN" sz="1050" spc="225">
              <a:solidFill>
                <a:srgbClr val="22D3EE"/>
              </a:solidFill>
              <a:latin typeface="Segoe UI" panose="020B0502040204020203"/>
              <a:ea typeface="Segoe UI" panose="020B0502040204020203"/>
            </a:endParaRPr>
          </a:p>
        </p:txBody>
      </p:sp>
      <p:sp>
        <p:nvSpPr>
          <p:cNvPr id="114" name="文本框 113"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五项功能：交互</a:t>
            </a:r>
            <a:r>
              <a:rPr lang="en-US" sz="2400" b="1">
                <a:solidFill>
                  <a:srgbClr val="E6EEF9"/>
                </a:solidFill>
                <a:latin typeface="微软雅黑" panose="020B0503020204020204" charset="-122"/>
                <a:ea typeface="微软雅黑" panose="020B0503020204020204" charset="-122"/>
              </a:rPr>
              <a:t> · </a:t>
            </a:r>
            <a:r>
              <a:rPr lang="zh-CN" sz="2400" b="1">
                <a:solidFill>
                  <a:srgbClr val="E6EEF9"/>
                </a:solidFill>
                <a:latin typeface="微软雅黑" panose="020B0503020204020204" charset="-122"/>
                <a:ea typeface="微软雅黑" panose="020B0503020204020204" charset="-122"/>
              </a:rPr>
              <a:t>安全</a:t>
            </a:r>
            <a:r>
              <a:rPr lang="en-US" sz="2400" b="1">
                <a:solidFill>
                  <a:srgbClr val="E6EEF9"/>
                </a:solidFill>
                <a:latin typeface="微软雅黑" panose="020B0503020204020204" charset="-122"/>
                <a:ea typeface="微软雅黑" panose="020B0503020204020204" charset="-122"/>
              </a:rPr>
              <a:t> · </a:t>
            </a:r>
            <a:r>
              <a:rPr lang="zh-CN" sz="2400" b="1">
                <a:solidFill>
                  <a:srgbClr val="E6EEF9"/>
                </a:solidFill>
                <a:latin typeface="微软雅黑" panose="020B0503020204020204" charset="-122"/>
                <a:ea typeface="微软雅黑" panose="020B0503020204020204" charset="-122"/>
              </a:rPr>
              <a:t>节能</a:t>
            </a:r>
            <a:endParaRPr lang="zh-CN" sz="2400" b="1">
              <a:solidFill>
                <a:srgbClr val="E6EEF9"/>
              </a:solidFill>
              <a:latin typeface="微软雅黑" panose="020B0503020204020204" charset="-122"/>
              <a:ea typeface="微软雅黑" panose="020B0503020204020204" charset="-122"/>
            </a:endParaRPr>
          </a:p>
        </p:txBody>
      </p:sp>
      <p:sp>
        <p:nvSpPr>
          <p:cNvPr id="115" name="矩形 114"/>
          <p:cNvSpPr/>
          <p:nvPr/>
        </p:nvSpPr>
        <p:spPr>
          <a:xfrm>
            <a:off x="609600" y="1009650"/>
            <a:ext cx="533400" cy="28575"/>
          </a:xfrm>
          <a:prstGeom prst="rect">
            <a:avLst/>
          </a:prstGeom>
          <a:solidFill>
            <a:srgbClr val="22D3EE"/>
          </a:solidFill>
        </p:spPr>
        <p:txBody>
          <a:bodyPr/>
          <a:p/>
        </p:txBody>
      </p:sp>
      <p:sp>
        <p:nvSpPr>
          <p:cNvPr id="116" name="文本框 115" descr="{&quot;isTemplate&quot;:true,&quot;type&quot;:&quot;text&quot;}"/>
          <p:cNvSpPr txBox="1"/>
          <p:nvPr/>
        </p:nvSpPr>
        <p:spPr>
          <a:xfrm>
            <a:off x="609600" y="1257300"/>
            <a:ext cx="3810000" cy="1143000"/>
          </a:xfrm>
          <a:prstGeom prst="rect">
            <a:avLst/>
          </a:prstGeom>
        </p:spPr>
        <p:txBody>
          <a:bodyPr wrap="none" lIns="0" tIns="0" rIns="0" bIns="0"/>
          <a:p>
            <a:pPr>
              <a:lnSpc>
                <a:spcPct val="100000"/>
              </a:lnSpc>
            </a:pPr>
            <a:r>
              <a:rPr lang="en-US" sz="7500" b="1" spc="-150">
                <a:solidFill>
                  <a:srgbClr val="22D3EE"/>
                </a:solidFill>
                <a:latin typeface="Segoe UI" panose="020B0502040204020203"/>
                <a:ea typeface="Segoe UI" panose="020B0502040204020203"/>
              </a:rPr>
              <a:t>5</a:t>
            </a:r>
            <a:endParaRPr lang="en-US" sz="7500" b="1" spc="-150">
              <a:solidFill>
                <a:srgbClr val="22D3EE"/>
              </a:solidFill>
              <a:latin typeface="Segoe UI" panose="020B0502040204020203"/>
              <a:ea typeface="Segoe UI" panose="020B0502040204020203"/>
            </a:endParaRPr>
          </a:p>
        </p:txBody>
      </p:sp>
      <p:sp>
        <p:nvSpPr>
          <p:cNvPr id="117" name="文本框 116" descr="{&quot;isTemplate&quot;:true,&quot;type&quot;:&quot;text&quot;}"/>
          <p:cNvSpPr txBox="1"/>
          <p:nvPr/>
        </p:nvSpPr>
        <p:spPr>
          <a:xfrm>
            <a:off x="609600" y="2457450"/>
            <a:ext cx="3810000" cy="276225"/>
          </a:xfrm>
          <a:prstGeom prst="rect">
            <a:avLst/>
          </a:prstGeom>
        </p:spPr>
        <p:txBody>
          <a:bodyPr wrap="none" lIns="0" tIns="0" rIns="0" bIns="0"/>
          <a:p>
            <a:pPr>
              <a:lnSpc>
                <a:spcPct val="100000"/>
              </a:lnSpc>
            </a:pPr>
            <a:r>
              <a:rPr lang="zh-CN" sz="1800" b="1">
                <a:solidFill>
                  <a:srgbClr val="E6EEF9"/>
                </a:solidFill>
                <a:latin typeface="微软雅黑" panose="020B0503020204020204" charset="-122"/>
                <a:ea typeface="微软雅黑" panose="020B0503020204020204" charset="-122"/>
              </a:rPr>
              <a:t>项功能</a:t>
            </a:r>
            <a:endParaRPr lang="zh-CN" sz="1800" b="1">
              <a:solidFill>
                <a:srgbClr val="E6EEF9"/>
              </a:solidFill>
              <a:latin typeface="微软雅黑" panose="020B0503020204020204" charset="-122"/>
              <a:ea typeface="微软雅黑" panose="020B0503020204020204" charset="-122"/>
            </a:endParaRPr>
          </a:p>
        </p:txBody>
      </p:sp>
      <p:sp>
        <p:nvSpPr>
          <p:cNvPr id="118" name="矩形 117"/>
          <p:cNvSpPr/>
          <p:nvPr/>
        </p:nvSpPr>
        <p:spPr>
          <a:xfrm>
            <a:off x="609600" y="2905125"/>
            <a:ext cx="457200" cy="28575"/>
          </a:xfrm>
          <a:prstGeom prst="rect">
            <a:avLst/>
          </a:prstGeom>
          <a:solidFill>
            <a:srgbClr val="22D3EE"/>
          </a:solidFill>
        </p:spPr>
        <p:txBody>
          <a:bodyPr/>
          <a:p/>
        </p:txBody>
      </p:sp>
      <p:sp>
        <p:nvSpPr>
          <p:cNvPr id="119" name="圆角矩形 118"/>
          <p:cNvSpPr/>
          <p:nvPr/>
        </p:nvSpPr>
        <p:spPr>
          <a:xfrm>
            <a:off x="609600" y="3105150"/>
            <a:ext cx="609600" cy="304800"/>
          </a:xfrm>
          <a:prstGeom prst="roundRect">
            <a:avLst>
              <a:gd name="adj" fmla="val 62500"/>
            </a:avLst>
          </a:prstGeom>
          <a:solidFill>
            <a:srgbClr val="22D3EE">
              <a:alpha val="14000"/>
            </a:srgbClr>
          </a:solidFill>
        </p:spPr>
        <p:txBody>
          <a:bodyPr/>
          <a:p/>
        </p:txBody>
      </p:sp>
      <p:sp>
        <p:nvSpPr>
          <p:cNvPr id="120" name="文本框 119" descr="{&quot;isTemplate&quot;:true,&quot;type&quot;:&quot;text&quot;}"/>
          <p:cNvSpPr txBox="1"/>
          <p:nvPr/>
        </p:nvSpPr>
        <p:spPr>
          <a:xfrm>
            <a:off x="762000" y="3162300"/>
            <a:ext cx="304800" cy="190500"/>
          </a:xfrm>
          <a:prstGeom prst="rect">
            <a:avLst/>
          </a:prstGeom>
        </p:spPr>
        <p:txBody>
          <a:bodyPr wrap="none" lIns="0" tIns="0" rIns="0" bIns="0"/>
          <a:p>
            <a:pPr>
              <a:lnSpc>
                <a:spcPct val="100000"/>
              </a:lnSpc>
            </a:pPr>
            <a:r>
              <a:rPr lang="zh-CN" sz="1200">
                <a:solidFill>
                  <a:srgbClr val="22D3EE"/>
                </a:solidFill>
                <a:latin typeface="微软雅黑" panose="020B0503020204020204" charset="-122"/>
                <a:ea typeface="微软雅黑" panose="020B0503020204020204" charset="-122"/>
              </a:rPr>
              <a:t>交互</a:t>
            </a:r>
            <a:endParaRPr lang="zh-CN" sz="1200">
              <a:solidFill>
                <a:srgbClr val="22D3EE"/>
              </a:solidFill>
              <a:latin typeface="微软雅黑" panose="020B0503020204020204" charset="-122"/>
              <a:ea typeface="微软雅黑" panose="020B0503020204020204" charset="-122"/>
            </a:endParaRPr>
          </a:p>
        </p:txBody>
      </p:sp>
      <p:sp>
        <p:nvSpPr>
          <p:cNvPr id="121" name="圆角矩形 120"/>
          <p:cNvSpPr/>
          <p:nvPr/>
        </p:nvSpPr>
        <p:spPr>
          <a:xfrm>
            <a:off x="1314450" y="3105150"/>
            <a:ext cx="609600" cy="304800"/>
          </a:xfrm>
          <a:prstGeom prst="roundRect">
            <a:avLst>
              <a:gd name="adj" fmla="val 62500"/>
            </a:avLst>
          </a:prstGeom>
          <a:solidFill>
            <a:srgbClr val="22D3EE">
              <a:alpha val="14000"/>
            </a:srgbClr>
          </a:solidFill>
        </p:spPr>
        <p:txBody>
          <a:bodyPr/>
          <a:p/>
        </p:txBody>
      </p:sp>
      <p:sp>
        <p:nvSpPr>
          <p:cNvPr id="122" name="文本框 121" descr="{&quot;isTemplate&quot;:true,&quot;type&quot;:&quot;text&quot;}"/>
          <p:cNvSpPr txBox="1"/>
          <p:nvPr/>
        </p:nvSpPr>
        <p:spPr>
          <a:xfrm>
            <a:off x="1466850" y="3162300"/>
            <a:ext cx="304800" cy="190500"/>
          </a:xfrm>
          <a:prstGeom prst="rect">
            <a:avLst/>
          </a:prstGeom>
        </p:spPr>
        <p:txBody>
          <a:bodyPr wrap="none" lIns="0" tIns="0" rIns="0" bIns="0"/>
          <a:p>
            <a:pPr>
              <a:lnSpc>
                <a:spcPct val="100000"/>
              </a:lnSpc>
            </a:pPr>
            <a:r>
              <a:rPr lang="zh-CN" sz="1200">
                <a:solidFill>
                  <a:srgbClr val="22D3EE"/>
                </a:solidFill>
                <a:latin typeface="微软雅黑" panose="020B0503020204020204" charset="-122"/>
                <a:ea typeface="微软雅黑" panose="020B0503020204020204" charset="-122"/>
              </a:rPr>
              <a:t>安全</a:t>
            </a:r>
            <a:endParaRPr lang="zh-CN" sz="1200">
              <a:solidFill>
                <a:srgbClr val="22D3EE"/>
              </a:solidFill>
              <a:latin typeface="微软雅黑" panose="020B0503020204020204" charset="-122"/>
              <a:ea typeface="微软雅黑" panose="020B0503020204020204" charset="-122"/>
            </a:endParaRPr>
          </a:p>
        </p:txBody>
      </p:sp>
      <p:sp>
        <p:nvSpPr>
          <p:cNvPr id="123" name="圆角矩形 122"/>
          <p:cNvSpPr/>
          <p:nvPr/>
        </p:nvSpPr>
        <p:spPr>
          <a:xfrm>
            <a:off x="2019300" y="3105150"/>
            <a:ext cx="609600" cy="304800"/>
          </a:xfrm>
          <a:prstGeom prst="roundRect">
            <a:avLst>
              <a:gd name="adj" fmla="val 62500"/>
            </a:avLst>
          </a:prstGeom>
          <a:solidFill>
            <a:srgbClr val="22D3EE">
              <a:alpha val="14000"/>
            </a:srgbClr>
          </a:solidFill>
        </p:spPr>
        <p:txBody>
          <a:bodyPr/>
          <a:p/>
        </p:txBody>
      </p:sp>
      <p:sp>
        <p:nvSpPr>
          <p:cNvPr id="124" name="文本框 123" descr="{&quot;isTemplate&quot;:true,&quot;type&quot;:&quot;text&quot;}"/>
          <p:cNvSpPr txBox="1"/>
          <p:nvPr/>
        </p:nvSpPr>
        <p:spPr>
          <a:xfrm>
            <a:off x="2171700" y="3162300"/>
            <a:ext cx="304800" cy="190500"/>
          </a:xfrm>
          <a:prstGeom prst="rect">
            <a:avLst/>
          </a:prstGeom>
        </p:spPr>
        <p:txBody>
          <a:bodyPr wrap="none" lIns="0" tIns="0" rIns="0" bIns="0"/>
          <a:p>
            <a:pPr>
              <a:lnSpc>
                <a:spcPct val="100000"/>
              </a:lnSpc>
            </a:pPr>
            <a:r>
              <a:rPr lang="zh-CN" sz="1200">
                <a:solidFill>
                  <a:srgbClr val="22D3EE"/>
                </a:solidFill>
                <a:latin typeface="微软雅黑" panose="020B0503020204020204" charset="-122"/>
                <a:ea typeface="微软雅黑" panose="020B0503020204020204" charset="-122"/>
              </a:rPr>
              <a:t>节能</a:t>
            </a:r>
            <a:endParaRPr lang="zh-CN" sz="1200">
              <a:solidFill>
                <a:srgbClr val="22D3EE"/>
              </a:solidFill>
              <a:latin typeface="微软雅黑" panose="020B0503020204020204" charset="-122"/>
              <a:ea typeface="微软雅黑" panose="020B0503020204020204" charset="-122"/>
            </a:endParaRPr>
          </a:p>
        </p:txBody>
      </p:sp>
      <p:pic>
        <p:nvPicPr>
          <p:cNvPr id="125" name="图片 124"/>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9600" y="6038850"/>
            <a:ext cx="171450" cy="171450"/>
          </a:xfrm>
          <a:prstGeom prst="rect">
            <a:avLst/>
          </a:prstGeom>
        </p:spPr>
      </p:pic>
      <p:sp>
        <p:nvSpPr>
          <p:cNvPr id="126" name="圆角矩形 125"/>
          <p:cNvSpPr/>
          <p:nvPr/>
        </p:nvSpPr>
        <p:spPr>
          <a:xfrm>
            <a:off x="4648200" y="1257300"/>
            <a:ext cx="6934200" cy="866775"/>
          </a:xfrm>
          <a:prstGeom prst="roundRect">
            <a:avLst>
              <a:gd name="adj" fmla="val 10989"/>
            </a:avLst>
          </a:prstGeom>
          <a:solidFill>
            <a:srgbClr val="3B82F6">
              <a:alpha val="10000"/>
            </a:srgbClr>
          </a:solidFill>
          <a:ln w="12700">
            <a:solidFill>
              <a:srgbClr val="3B82F6">
                <a:alpha val="24000"/>
              </a:srgbClr>
            </a:solidFill>
            <a:prstDash val="solid"/>
          </a:ln>
        </p:spPr>
        <p:txBody>
          <a:bodyPr/>
          <a:p/>
        </p:txBody>
      </p:sp>
      <p:sp>
        <p:nvSpPr>
          <p:cNvPr id="127" name="文本框 126" descr="{&quot;isTemplate&quot;:true,&quot;type&quot;:&quot;text&quot;}"/>
          <p:cNvSpPr txBox="1"/>
          <p:nvPr/>
        </p:nvSpPr>
        <p:spPr>
          <a:xfrm>
            <a:off x="4838700" y="1409700"/>
            <a:ext cx="655320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自主调节乘梯策略</a:t>
            </a:r>
            <a:endParaRPr lang="zh-CN" sz="1500" b="1">
              <a:solidFill>
                <a:srgbClr val="E6EEF9"/>
              </a:solidFill>
              <a:latin typeface="微软雅黑" panose="020B0503020204020204" charset="-122"/>
              <a:ea typeface="微软雅黑" panose="020B0503020204020204" charset="-122"/>
            </a:endParaRPr>
          </a:p>
        </p:txBody>
      </p:sp>
      <p:sp>
        <p:nvSpPr>
          <p:cNvPr id="128" name="圆角矩形 127"/>
          <p:cNvSpPr/>
          <p:nvPr/>
        </p:nvSpPr>
        <p:spPr>
          <a:xfrm>
            <a:off x="4648200" y="2219325"/>
            <a:ext cx="6934200" cy="866775"/>
          </a:xfrm>
          <a:prstGeom prst="roundRect">
            <a:avLst>
              <a:gd name="adj" fmla="val 10989"/>
            </a:avLst>
          </a:prstGeom>
          <a:solidFill>
            <a:srgbClr val="3B82F6">
              <a:alpha val="10000"/>
            </a:srgbClr>
          </a:solidFill>
          <a:ln w="12700">
            <a:solidFill>
              <a:srgbClr val="3B82F6">
                <a:alpha val="24000"/>
              </a:srgbClr>
            </a:solidFill>
            <a:prstDash val="solid"/>
          </a:ln>
        </p:spPr>
        <p:txBody>
          <a:bodyPr/>
          <a:p/>
        </p:txBody>
      </p:sp>
      <p:sp>
        <p:nvSpPr>
          <p:cNvPr id="129" name="文本框 128" descr="{&quot;isTemplate&quot;:true,&quot;type&quot;:&quot;text&quot;}"/>
          <p:cNvSpPr txBox="1"/>
          <p:nvPr/>
        </p:nvSpPr>
        <p:spPr>
          <a:xfrm>
            <a:off x="4838700" y="2371725"/>
            <a:ext cx="655320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刷脸即呼梯</a:t>
            </a:r>
            <a:endParaRPr lang="zh-CN" sz="1500" b="1">
              <a:solidFill>
                <a:srgbClr val="E6EEF9"/>
              </a:solidFill>
              <a:latin typeface="微软雅黑" panose="020B0503020204020204" charset="-122"/>
              <a:ea typeface="微软雅黑" panose="020B0503020204020204" charset="-122"/>
            </a:endParaRPr>
          </a:p>
        </p:txBody>
      </p:sp>
      <p:sp>
        <p:nvSpPr>
          <p:cNvPr id="130" name="圆角矩形 129"/>
          <p:cNvSpPr/>
          <p:nvPr/>
        </p:nvSpPr>
        <p:spPr>
          <a:xfrm>
            <a:off x="4648200" y="3181350"/>
            <a:ext cx="6934200" cy="866775"/>
          </a:xfrm>
          <a:prstGeom prst="roundRect">
            <a:avLst>
              <a:gd name="adj" fmla="val 10989"/>
            </a:avLst>
          </a:prstGeom>
          <a:solidFill>
            <a:srgbClr val="22D3EE">
              <a:alpha val="10000"/>
            </a:srgbClr>
          </a:solidFill>
          <a:ln w="12700">
            <a:solidFill>
              <a:srgbClr val="22D3EE">
                <a:alpha val="30000"/>
              </a:srgbClr>
            </a:solidFill>
            <a:prstDash val="solid"/>
          </a:ln>
        </p:spPr>
        <p:txBody>
          <a:bodyPr/>
          <a:p/>
        </p:txBody>
      </p:sp>
      <p:sp>
        <p:nvSpPr>
          <p:cNvPr id="131" name="文本框 130" descr="{&quot;isTemplate&quot;:true,&quot;type&quot;:&quot;text&quot;}"/>
          <p:cNvSpPr txBox="1"/>
          <p:nvPr/>
        </p:nvSpPr>
        <p:spPr>
          <a:xfrm>
            <a:off x="4838700" y="3333750"/>
            <a:ext cx="6553200" cy="228600"/>
          </a:xfrm>
          <a:prstGeom prst="rect">
            <a:avLst/>
          </a:prstGeom>
        </p:spPr>
        <p:txBody>
          <a:bodyPr wrap="none" lIns="0" tIns="0" rIns="0" bIns="0"/>
          <a:p>
            <a:pPr>
              <a:lnSpc>
                <a:spcPct val="100000"/>
              </a:lnSpc>
            </a:pPr>
            <a:r>
              <a:rPr lang="zh-CN" sz="1500" b="1">
                <a:solidFill>
                  <a:srgbClr val="22D3EE"/>
                </a:solidFill>
                <a:latin typeface="微软雅黑" panose="020B0503020204020204" charset="-122"/>
                <a:ea typeface="微软雅黑" panose="020B0503020204020204" charset="-122"/>
              </a:rPr>
              <a:t>等待时长可视化</a:t>
            </a:r>
            <a:endParaRPr lang="zh-CN" sz="1500" b="1">
              <a:solidFill>
                <a:srgbClr val="22D3EE"/>
              </a:solidFill>
              <a:latin typeface="微软雅黑" panose="020B0503020204020204" charset="-122"/>
              <a:ea typeface="微软雅黑" panose="020B0503020204020204" charset="-122"/>
            </a:endParaRPr>
          </a:p>
        </p:txBody>
      </p:sp>
      <p:sp>
        <p:nvSpPr>
          <p:cNvPr id="132" name="圆角矩形 131"/>
          <p:cNvSpPr/>
          <p:nvPr/>
        </p:nvSpPr>
        <p:spPr>
          <a:xfrm>
            <a:off x="4648200" y="4143375"/>
            <a:ext cx="6934200" cy="866775"/>
          </a:xfrm>
          <a:prstGeom prst="roundRect">
            <a:avLst>
              <a:gd name="adj" fmla="val 10989"/>
            </a:avLst>
          </a:prstGeom>
          <a:solidFill>
            <a:srgbClr val="3B82F6">
              <a:alpha val="10000"/>
            </a:srgbClr>
          </a:solidFill>
          <a:ln w="12700">
            <a:solidFill>
              <a:srgbClr val="3B82F6">
                <a:alpha val="24000"/>
              </a:srgbClr>
            </a:solidFill>
            <a:prstDash val="solid"/>
          </a:ln>
        </p:spPr>
        <p:txBody>
          <a:bodyPr/>
          <a:p/>
        </p:txBody>
      </p:sp>
      <p:sp>
        <p:nvSpPr>
          <p:cNvPr id="133" name="文本框 132" descr="{&quot;isTemplate&quot;:true,&quot;type&quot;:&quot;text&quot;}"/>
          <p:cNvSpPr txBox="1"/>
          <p:nvPr/>
        </p:nvSpPr>
        <p:spPr>
          <a:xfrm>
            <a:off x="4838700" y="4295775"/>
            <a:ext cx="655320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不空开门</a:t>
            </a:r>
            <a:endParaRPr lang="zh-CN" sz="1500" b="1">
              <a:solidFill>
                <a:srgbClr val="E6EEF9"/>
              </a:solidFill>
              <a:latin typeface="微软雅黑" panose="020B0503020204020204" charset="-122"/>
              <a:ea typeface="微软雅黑" panose="020B0503020204020204" charset="-122"/>
            </a:endParaRPr>
          </a:p>
        </p:txBody>
      </p:sp>
      <p:sp>
        <p:nvSpPr>
          <p:cNvPr id="134" name="圆角矩形 133"/>
          <p:cNvSpPr/>
          <p:nvPr/>
        </p:nvSpPr>
        <p:spPr>
          <a:xfrm>
            <a:off x="4648200" y="5105400"/>
            <a:ext cx="6934200" cy="866775"/>
          </a:xfrm>
          <a:prstGeom prst="roundRect">
            <a:avLst>
              <a:gd name="adj" fmla="val 10989"/>
            </a:avLst>
          </a:prstGeom>
          <a:solidFill>
            <a:srgbClr val="3B82F6">
              <a:alpha val="10000"/>
            </a:srgbClr>
          </a:solidFill>
          <a:ln w="12700">
            <a:solidFill>
              <a:srgbClr val="3B82F6">
                <a:alpha val="24000"/>
              </a:srgbClr>
            </a:solidFill>
            <a:prstDash val="solid"/>
          </a:ln>
        </p:spPr>
        <p:txBody>
          <a:bodyPr/>
          <a:p/>
        </p:txBody>
      </p:sp>
      <p:sp>
        <p:nvSpPr>
          <p:cNvPr id="135" name="文本框 134" descr="{&quot;isTemplate&quot;:true,&quot;type&quot;:&quot;text&quot;}"/>
          <p:cNvSpPr txBox="1"/>
          <p:nvPr/>
        </p:nvSpPr>
        <p:spPr>
          <a:xfrm>
            <a:off x="4838700" y="5257800"/>
            <a:ext cx="655320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紧急情况自动调度</a:t>
            </a:r>
            <a:endParaRPr lang="zh-CN" sz="1500" b="1">
              <a:solidFill>
                <a:srgbClr val="E6EEF9"/>
              </a:solidFill>
              <a:latin typeface="微软雅黑" panose="020B0503020204020204" charset="-122"/>
              <a:ea typeface="微软雅黑" panose="020B0503020204020204" charset="-122"/>
            </a:endParaRPr>
          </a:p>
        </p:txBody>
      </p:sp>
      <p:sp>
        <p:nvSpPr>
          <p:cNvPr id="136" name="文本框 135" descr="{&quot;isTemplate&quot;:true,&quot;type&quot;:&quot;text&quot;}"/>
          <p:cNvSpPr txBox="1"/>
          <p:nvPr/>
        </p:nvSpPr>
        <p:spPr>
          <a:xfrm>
            <a:off x="609600" y="3600450"/>
            <a:ext cx="3810000" cy="647700"/>
          </a:xfrm>
          <a:prstGeom prst="rect">
            <a:avLst/>
          </a:prstGeom>
        </p:spPr>
        <p:txBody>
          <a:bodyPr wrap="square" lIns="0" tIns="0" rIns="0" bIns="0">
            <a:normAutofit/>
          </a:bodyPr>
          <a:p>
            <a:pPr>
              <a:lnSpc>
                <a:spcPct val="165000"/>
              </a:lnSpc>
            </a:pPr>
            <a:r>
              <a:rPr lang="zh-CN" sz="1275">
                <a:solidFill>
                  <a:srgbClr val="E6EEF9">
                    <a:alpha val="66000"/>
                  </a:srgbClr>
                </a:solidFill>
                <a:latin typeface="微软雅黑" panose="020B0503020204020204" charset="-122"/>
                <a:ea typeface="微软雅黑" panose="020B0503020204020204" charset="-122"/>
              </a:rPr>
              <a:t>从乘梯体验、运行效率，一路覆盖到生命安全</a:t>
            </a:r>
            <a:r>
              <a:rPr lang="en-US" sz="1275">
                <a:solidFill>
                  <a:srgbClr val="E6EEF9">
                    <a:alpha val="66000"/>
                  </a:srgbClr>
                </a:solidFill>
                <a:latin typeface="微软雅黑" panose="020B0503020204020204" charset="-122"/>
                <a:ea typeface="微软雅黑" panose="020B0503020204020204" charset="-122"/>
              </a:rPr>
              <a:t> —— </a:t>
            </a:r>
            <a:r>
              <a:rPr lang="zh-CN" sz="1275">
                <a:solidFill>
                  <a:srgbClr val="E6EEF9">
                    <a:alpha val="66000"/>
                  </a:srgbClr>
                </a:solidFill>
                <a:latin typeface="微软雅黑" panose="020B0503020204020204" charset="-122"/>
                <a:ea typeface="微软雅黑" panose="020B0503020204020204" charset="-122"/>
              </a:rPr>
              <a:t>电梯第一次拥有「知道发生了什么」的能力。</a:t>
            </a:r>
            <a:endParaRPr lang="zh-CN" sz="1275">
              <a:solidFill>
                <a:srgbClr val="E6EEF9">
                  <a:alpha val="66000"/>
                </a:srgbClr>
              </a:solidFill>
              <a:latin typeface="微软雅黑" panose="020B0503020204020204" charset="-122"/>
              <a:ea typeface="微软雅黑" panose="020B0503020204020204" charset="-122"/>
            </a:endParaRPr>
          </a:p>
        </p:txBody>
      </p:sp>
      <p:sp>
        <p:nvSpPr>
          <p:cNvPr id="137" name="文本框 136" descr="{&quot;isTemplate&quot;:true,&quot;type&quot;:&quot;text&quot;}"/>
          <p:cNvSpPr txBox="1"/>
          <p:nvPr/>
        </p:nvSpPr>
        <p:spPr>
          <a:xfrm>
            <a:off x="914400" y="5657850"/>
            <a:ext cx="3505200" cy="552450"/>
          </a:xfrm>
          <a:prstGeom prst="rect">
            <a:avLst/>
          </a:prstGeom>
        </p:spPr>
        <p:txBody>
          <a:bodyPr wrap="square" lIns="0" tIns="0" rIns="0" bIns="0">
            <a:normAutofit/>
          </a:bodyPr>
          <a:p>
            <a:pPr>
              <a:lnSpc>
                <a:spcPct val="160000"/>
              </a:lnSpc>
            </a:pPr>
            <a:r>
              <a:rPr lang="zh-CN" sz="1125">
                <a:solidFill>
                  <a:srgbClr val="E6EEF9">
                    <a:alpha val="50000"/>
                  </a:srgbClr>
                </a:solidFill>
                <a:latin typeface="微软雅黑" panose="020B0503020204020204" charset="-122"/>
                <a:ea typeface="微软雅黑" panose="020B0503020204020204" charset="-122"/>
              </a:rPr>
              <a:t>火灾时自动锁定电梯，不因乘梯需求而运行，避免井道烟囱效应扩大火势</a:t>
            </a:r>
            <a:endParaRPr lang="zh-CN" sz="1125">
              <a:solidFill>
                <a:srgbClr val="E6EEF9">
                  <a:alpha val="50000"/>
                </a:srgbClr>
              </a:solidFill>
              <a:latin typeface="微软雅黑" panose="020B0503020204020204" charset="-122"/>
              <a:ea typeface="微软雅黑" panose="020B0503020204020204" charset="-122"/>
            </a:endParaRPr>
          </a:p>
        </p:txBody>
      </p:sp>
      <p:sp>
        <p:nvSpPr>
          <p:cNvPr id="138" name="文本框 137" descr="{&quot;isTemplate&quot;:true,&quot;type&quot;:&quot;text&quot;}"/>
          <p:cNvSpPr txBox="1"/>
          <p:nvPr/>
        </p:nvSpPr>
        <p:spPr>
          <a:xfrm>
            <a:off x="4838700" y="1695450"/>
            <a:ext cx="6553200" cy="276225"/>
          </a:xfrm>
          <a:prstGeom prst="rect">
            <a:avLst/>
          </a:prstGeom>
        </p:spPr>
        <p:txBody>
          <a:bodyPr wrap="none" lIns="0" tIns="0" rIns="0" bIns="0"/>
          <a:p>
            <a:pPr>
              <a:lnSpc>
                <a:spcPct val="150000"/>
              </a:lnSpc>
            </a:pPr>
            <a:r>
              <a:rPr lang="zh-CN" sz="1200">
                <a:solidFill>
                  <a:srgbClr val="E6EEF9">
                    <a:alpha val="64000"/>
                  </a:srgbClr>
                </a:solidFill>
                <a:latin typeface="微软雅黑" panose="020B0503020204020204" charset="-122"/>
                <a:ea typeface="微软雅黑" panose="020B0503020204020204" charset="-122"/>
              </a:rPr>
              <a:t>学生可自主选择：自主选楼层、只乘坐直达电梯，或乘梯后步行一层</a:t>
            </a:r>
            <a:endParaRPr lang="zh-CN" sz="1200">
              <a:solidFill>
                <a:srgbClr val="E6EEF9">
                  <a:alpha val="64000"/>
                </a:srgbClr>
              </a:solidFill>
              <a:latin typeface="微软雅黑" panose="020B0503020204020204" charset="-122"/>
              <a:ea typeface="微软雅黑" panose="020B0503020204020204" charset="-122"/>
            </a:endParaRPr>
          </a:p>
        </p:txBody>
      </p:sp>
      <p:sp>
        <p:nvSpPr>
          <p:cNvPr id="139" name="文本框 138" descr="{&quot;isTemplate&quot;:true,&quot;type&quot;:&quot;text&quot;}"/>
          <p:cNvSpPr txBox="1"/>
          <p:nvPr/>
        </p:nvSpPr>
        <p:spPr>
          <a:xfrm>
            <a:off x="4838700" y="2657475"/>
            <a:ext cx="6553200" cy="276225"/>
          </a:xfrm>
          <a:prstGeom prst="rect">
            <a:avLst/>
          </a:prstGeom>
        </p:spPr>
        <p:txBody>
          <a:bodyPr wrap="none" lIns="0" tIns="0" rIns="0" bIns="0"/>
          <a:p>
            <a:pPr>
              <a:lnSpc>
                <a:spcPct val="150000"/>
              </a:lnSpc>
            </a:pPr>
            <a:r>
              <a:rPr lang="zh-CN" sz="1200">
                <a:solidFill>
                  <a:srgbClr val="E6EEF9">
                    <a:alpha val="64000"/>
                  </a:srgbClr>
                </a:solidFill>
                <a:latin typeface="微软雅黑" panose="020B0503020204020204" charset="-122"/>
                <a:ea typeface="微软雅黑" panose="020B0503020204020204" charset="-122"/>
              </a:rPr>
              <a:t>扫描人脸后直接呼叫电梯，不用伸手按按钮，同时减少电梯按钮的检修成本</a:t>
            </a:r>
            <a:endParaRPr lang="zh-CN" sz="1200">
              <a:solidFill>
                <a:srgbClr val="E6EEF9">
                  <a:alpha val="64000"/>
                </a:srgbClr>
              </a:solidFill>
              <a:latin typeface="微软雅黑" panose="020B0503020204020204" charset="-122"/>
              <a:ea typeface="微软雅黑" panose="020B0503020204020204" charset="-122"/>
            </a:endParaRPr>
          </a:p>
        </p:txBody>
      </p:sp>
      <p:sp>
        <p:nvSpPr>
          <p:cNvPr id="140" name="文本框 139" descr="{&quot;isTemplate&quot;:true,&quot;type&quot;:&quot;text&quot;}"/>
          <p:cNvSpPr txBox="1"/>
          <p:nvPr/>
        </p:nvSpPr>
        <p:spPr>
          <a:xfrm>
            <a:off x="4838700" y="3619500"/>
            <a:ext cx="6553200" cy="276225"/>
          </a:xfrm>
          <a:prstGeom prst="rect">
            <a:avLst/>
          </a:prstGeom>
        </p:spPr>
        <p:txBody>
          <a:bodyPr wrap="none" lIns="0" tIns="0" rIns="0" bIns="0"/>
          <a:p>
            <a:pPr>
              <a:lnSpc>
                <a:spcPct val="150000"/>
              </a:lnSpc>
            </a:pPr>
            <a:r>
              <a:rPr lang="zh-CN" sz="1200">
                <a:solidFill>
                  <a:srgbClr val="E6EEF9">
                    <a:alpha val="72000"/>
                  </a:srgbClr>
                </a:solidFill>
                <a:latin typeface="微软雅黑" panose="020B0503020204020204" charset="-122"/>
                <a:ea typeface="微软雅黑" panose="020B0503020204020204" charset="-122"/>
              </a:rPr>
              <a:t>依据前方已扫描人脸的个数与轿厢所在位置推算到达时间并显示在屏幕上，不再焦急等待</a:t>
            </a:r>
            <a:endParaRPr lang="zh-CN" sz="1200">
              <a:solidFill>
                <a:srgbClr val="E6EEF9">
                  <a:alpha val="72000"/>
                </a:srgbClr>
              </a:solidFill>
              <a:latin typeface="微软雅黑" panose="020B0503020204020204" charset="-122"/>
              <a:ea typeface="微软雅黑" panose="020B0503020204020204" charset="-122"/>
            </a:endParaRPr>
          </a:p>
        </p:txBody>
      </p:sp>
      <p:sp>
        <p:nvSpPr>
          <p:cNvPr id="141" name="文本框 140" descr="{&quot;isTemplate&quot;:true,&quot;type&quot;:&quot;text&quot;}"/>
          <p:cNvSpPr txBox="1"/>
          <p:nvPr/>
        </p:nvSpPr>
        <p:spPr>
          <a:xfrm>
            <a:off x="4838700" y="4581525"/>
            <a:ext cx="6553200" cy="276225"/>
          </a:xfrm>
          <a:prstGeom prst="rect">
            <a:avLst/>
          </a:prstGeom>
        </p:spPr>
        <p:txBody>
          <a:bodyPr wrap="none" lIns="0" tIns="0" rIns="0" bIns="0"/>
          <a:p>
            <a:pPr>
              <a:lnSpc>
                <a:spcPct val="150000"/>
              </a:lnSpc>
            </a:pPr>
            <a:r>
              <a:rPr lang="zh-CN" sz="1200">
                <a:solidFill>
                  <a:srgbClr val="E6EEF9">
                    <a:alpha val="64000"/>
                  </a:srgbClr>
                </a:solidFill>
                <a:latin typeface="微软雅黑" panose="020B0503020204020204" charset="-122"/>
                <a:ea typeface="微软雅黑" panose="020B0503020204020204" charset="-122"/>
              </a:rPr>
              <a:t>无人楼层直接跳过；满载后自主判断，并向候梯学生提供替代建议</a:t>
            </a:r>
            <a:endParaRPr lang="zh-CN" sz="1200">
              <a:solidFill>
                <a:srgbClr val="E6EEF9">
                  <a:alpha val="64000"/>
                </a:srgbClr>
              </a:solidFill>
              <a:latin typeface="微软雅黑" panose="020B0503020204020204" charset="-122"/>
              <a:ea typeface="微软雅黑" panose="020B0503020204020204" charset="-122"/>
            </a:endParaRPr>
          </a:p>
        </p:txBody>
      </p:sp>
      <p:sp>
        <p:nvSpPr>
          <p:cNvPr id="142" name="文本框 141" descr="{&quot;isTemplate&quot;:true,&quot;type&quot;:&quot;text&quot;}"/>
          <p:cNvSpPr txBox="1"/>
          <p:nvPr/>
        </p:nvSpPr>
        <p:spPr>
          <a:xfrm>
            <a:off x="4838700" y="5543550"/>
            <a:ext cx="6553200" cy="276225"/>
          </a:xfrm>
          <a:prstGeom prst="rect">
            <a:avLst/>
          </a:prstGeom>
        </p:spPr>
        <p:txBody>
          <a:bodyPr wrap="none" lIns="0" tIns="0" rIns="0" bIns="0"/>
          <a:p>
            <a:pPr>
              <a:lnSpc>
                <a:spcPct val="150000"/>
              </a:lnSpc>
            </a:pPr>
            <a:r>
              <a:rPr lang="zh-CN" sz="1200">
                <a:solidFill>
                  <a:srgbClr val="E6EEF9">
                    <a:alpha val="64000"/>
                  </a:srgbClr>
                </a:solidFill>
                <a:latin typeface="微软雅黑" panose="020B0503020204020204" charset="-122"/>
                <a:ea typeface="微软雅黑" panose="020B0503020204020204" charset="-122"/>
              </a:rPr>
              <a:t>学生晕倒等情形下自动调度最快电梯，确保在最短时间内得到救助</a:t>
            </a:r>
            <a:endParaRPr lang="zh-CN" sz="1200">
              <a:solidFill>
                <a:srgbClr val="E6EEF9">
                  <a:alpha val="64000"/>
                </a:srgbClr>
              </a:solidFill>
              <a:latin typeface="微软雅黑" panose="020B0503020204020204" charset="-122"/>
              <a:ea typeface="微软雅黑" panose="020B0503020204020204" charset="-122"/>
            </a:endParaRPr>
          </a:p>
        </p:txBody>
      </p:sp>
      <p:sp>
        <p:nvSpPr>
          <p:cNvPr id="143" name="任意多边形 142"/>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144" name="文本框 143"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145" name="文本框 144"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09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428"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12' strokeWidth='1' /&gt;&#10;                &lt;/pattern&gt;&#10;                &lt;linearGradient id='fade' x1='0' y1='0' x2='1' y2='0'&gt;&#10;                    &lt;stop offset='0%' stopColor='#3B82F6' stopOpacity='0.28' /&gt;&#10;                    &lt;stop offset='65%' stopColor='#3B82F6' stopOpacity='0.04' /&gt;&#10;                    &lt;stop offset='100%' stopColor='#3B82F6' stopOpacity='0' /&gt;&#10;                &lt;/linearGradient&gt;&#10;            &lt;/defs&gt;&#10;            &lt;rect width='1280' height='720' fill='url(#grid)' /&gt;&#10;            &lt;path d='M0 200 H1280' stroke='url(#fade)' strokeWidth='2' /&gt;&#10;            &lt;path d='M0 360 H1280' stroke='url(#fade)' strokeWidth='2' /&gt;&#10;            &lt;path d='M0 520 H1280' stroke='url(#fade)' strokeWidth='2' /&gt;&#10;            &lt;circle cx='180' cy='200' r='5' fill='#22D3EE' fillOpacity='0.8' /&gt;&#10;            &lt;circle cx='300' cy='248' r='4' fill='#22D3EE' fillOpacity='0.45' /&gt;&#10;            &lt;circle cx='420' cy='176' r='4' fill='#22D3EE' fillOpacity='0.35' /&gt;&#10;            &lt;circle cx='540' cy='236' r='5' fill='#22D3EE' fillOpacity='0.6' /&gt;&#10;            &lt;circle cx='700' cy='160' r='4' fill='#22D3EE' fillOpacity='0.3' /&gt;&#10;            &lt;circle cx='850' cy='228' r='4' fill='#22D3EE' fillOpacity='0.25' /&gt;&#10;            &lt;circle cx='260' cy='360' r='5' fill='#22D3EE' fillOpacity='0.7' /&gt;&#10;            &lt;circle cx='400' cy='404' r='4' fill='#22D3EE' fillOpacity='0.4' /&gt;&#10;            &lt;circle cx='560' cy='330' r='4' fill='#22D3EE' fillOpacity='0.3' /&gt;&#10;            &lt;circle cx='760' cy='392' r='4' fill='#22D3EE' fillOpacity='0.22' /&gt;&#10;            &lt;circle cx='200' cy='520' r='5' fill='#22D3EE' fillOpacity='0.55' /&gt;&#10;            &lt;circle cx='340' cy='560' r='4' fill='#22D3EE' fillOpacity='0.3' /&gt;&#10;            &lt;circle cx='480' cy='492' r='4' fill='#22D3EE' fillOpacity='0.22' /&gt;&#10;            &lt;circle cx='640' cy='548' r='4' fill='#22D3EE' fillOpacity='0.18' /&gt;&#10;        &lt;/svg&gt;&#10;    &lt;/Box&gt;&#10;&#10;    &lt;Box&#10;        style={{&#10;            position: 'relative',&#10;            zIndex: 1,&#10;            flex: 1,&#10;            display: 'flex',&#10;            flexDirection: 'column',&#10;            justifyContent: 'center',&#10;            padding: '0px 0px 40px 0px',&#10;        }}&#10;    &gt;&#10;        &lt;Text style={{ fontSize: 140, fontWeight: 'bold', color: '#22D3EE', opacity: 0.18, lineHeight: 1.0, fontFamily: 'Segoe UI' }}&gt;02&lt;/Text&gt;&#10;        &lt;Box style={{ height: 4 }} /&gt;&#10;        &lt;Text style={{ fontSize: 56, fontWeight: 'bold', color: '#E6EEF9', lineHeight: 1.15 }}&gt;建模 · 把一栋宿舍搬进计算机&lt;/Text&gt;&#10;        &lt;Box style={{ height: 24 }} /&gt;&#10;        &lt;Box style={{ width: '88px', height: '4px', background: '#22D3EE' }} /&gt;&#10;        &lt;Box style={{ height: 28 }} /&gt;&#10;        &lt;Text style={{ fontSize: 24, color: '#E6EEF9', opacity: 0.7, lineHeight: 1.6 }}&gt;&#10;            把一栋宿舍搬进计算机：先让问题变得可测量&#10;        &lt;/Text&gt;&#10;        &lt;Box style={{ height: 34 }} /&gt;&#10;        &lt;Text style={{ fontSize: 16, color: '#E6EEF9', opacity: 0.45, letterSpacing: 3, fontFamily: 'Segoe UI' }}&gt;06 – 09&lt;/Text&gt;&#10;    &lt;/Box&gt;&#10;&lt;/Slide&gt;&#10;"/>
        <p:cNvGrpSpPr/>
        <p:nvPr/>
      </p:nvGrpSpPr>
      <p:grpSpPr>
        <a:xfrm>
          <a:off x="0" y="0"/>
          <a:ext cx="0" cy="0"/>
          <a:chOff x="0" y="0"/>
          <a:chExt cx="0" cy="0"/>
        </a:xfrm>
      </p:grpSpPr>
      <p:sp>
        <p:nvSpPr>
          <p:cNvPr id="429" name="矩形 428"/>
          <p:cNvSpPr/>
          <p:nvPr/>
        </p:nvSpPr>
        <p:spPr>
          <a:xfrm>
            <a:off x="0" y="0"/>
            <a:ext cx="12192000" cy="6858000"/>
          </a:xfrm>
          <a:prstGeom prst="rect">
            <a:avLst/>
          </a:prstGeom>
          <a:solidFill>
            <a:srgbClr val="0A1424"/>
          </a:solidFill>
        </p:spPr>
        <p:txBody>
          <a:bodyPr/>
          <a:p/>
        </p:txBody>
      </p:sp>
      <p:pic>
        <p:nvPicPr>
          <p:cNvPr id="430" name="图片 42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31" name="文本框 430" descr="{&quot;isTemplate&quot;:true,&quot;type&quot;:&quot;text&quot;}"/>
          <p:cNvSpPr txBox="1"/>
          <p:nvPr/>
        </p:nvSpPr>
        <p:spPr>
          <a:xfrm>
            <a:off x="609600" y="2981325"/>
            <a:ext cx="10972800" cy="742950"/>
          </a:xfrm>
          <a:prstGeom prst="rect">
            <a:avLst/>
          </a:prstGeom>
        </p:spPr>
        <p:txBody>
          <a:bodyPr wrap="none" lIns="0" tIns="0" rIns="0" bIns="0"/>
          <a:p>
            <a:pPr>
              <a:lnSpc>
                <a:spcPct val="115000"/>
              </a:lnSpc>
            </a:pPr>
            <a:r>
              <a:rPr lang="zh-CN" sz="4200" b="1">
                <a:solidFill>
                  <a:srgbClr val="E6EEF9"/>
                </a:solidFill>
                <a:latin typeface="微软雅黑" panose="020B0503020204020204" charset="-122"/>
                <a:ea typeface="微软雅黑" panose="020B0503020204020204" charset="-122"/>
              </a:rPr>
              <a:t>建模</a:t>
            </a:r>
            <a:r>
              <a:rPr lang="en-US" sz="4200" b="1">
                <a:solidFill>
                  <a:srgbClr val="E6EEF9"/>
                </a:solidFill>
                <a:latin typeface="微软雅黑" panose="020B0503020204020204" charset="-122"/>
                <a:ea typeface="微软雅黑" panose="020B0503020204020204" charset="-122"/>
              </a:rPr>
              <a:t> · </a:t>
            </a:r>
            <a:r>
              <a:rPr lang="zh-CN" sz="4200" b="1">
                <a:solidFill>
                  <a:srgbClr val="E6EEF9"/>
                </a:solidFill>
                <a:latin typeface="微软雅黑" panose="020B0503020204020204" charset="-122"/>
                <a:ea typeface="微软雅黑" panose="020B0503020204020204" charset="-122"/>
              </a:rPr>
              <a:t>把一栋宿舍搬进计算机</a:t>
            </a:r>
            <a:endParaRPr lang="zh-CN" sz="4200" b="1">
              <a:solidFill>
                <a:srgbClr val="E6EEF9"/>
              </a:solidFill>
              <a:latin typeface="微软雅黑" panose="020B0503020204020204" charset="-122"/>
              <a:ea typeface="微软雅黑" panose="020B0503020204020204" charset="-122"/>
            </a:endParaRPr>
          </a:p>
        </p:txBody>
      </p:sp>
      <p:sp>
        <p:nvSpPr>
          <p:cNvPr id="432" name="矩形 431"/>
          <p:cNvSpPr/>
          <p:nvPr/>
        </p:nvSpPr>
        <p:spPr>
          <a:xfrm>
            <a:off x="609600" y="3952875"/>
            <a:ext cx="838200" cy="38100"/>
          </a:xfrm>
          <a:prstGeom prst="rect">
            <a:avLst/>
          </a:prstGeom>
          <a:solidFill>
            <a:srgbClr val="22D3EE"/>
          </a:solidFill>
        </p:spPr>
        <p:txBody>
          <a:bodyPr/>
          <a:p/>
        </p:txBody>
      </p:sp>
      <p:sp>
        <p:nvSpPr>
          <p:cNvPr id="433" name="文本框 432" descr="{&quot;isTemplate&quot;:true,&quot;type&quot;:&quot;text&quot;}"/>
          <p:cNvSpPr txBox="1"/>
          <p:nvPr/>
        </p:nvSpPr>
        <p:spPr>
          <a:xfrm>
            <a:off x="609600" y="1343025"/>
            <a:ext cx="10972800" cy="1600200"/>
          </a:xfrm>
          <a:prstGeom prst="rect">
            <a:avLst/>
          </a:prstGeom>
        </p:spPr>
        <p:txBody>
          <a:bodyPr wrap="none" lIns="0" tIns="0" rIns="0" bIns="0"/>
          <a:p>
            <a:pPr>
              <a:lnSpc>
                <a:spcPct val="100000"/>
              </a:lnSpc>
            </a:pPr>
            <a:r>
              <a:rPr lang="en-US" sz="10500" b="1">
                <a:solidFill>
                  <a:srgbClr val="22D3EE">
                    <a:alpha val="18000"/>
                  </a:srgbClr>
                </a:solidFill>
                <a:latin typeface="Segoe UI" panose="020B0502040204020203"/>
                <a:ea typeface="Segoe UI" panose="020B0502040204020203"/>
              </a:rPr>
              <a:t>03</a:t>
            </a:r>
            <a:endParaRPr lang="en-US" sz="10500" b="1">
              <a:solidFill>
                <a:srgbClr val="22D3EE">
                  <a:alpha val="18000"/>
                </a:srgbClr>
              </a:solidFill>
              <a:latin typeface="Segoe UI" panose="020B0502040204020203"/>
              <a:ea typeface="Segoe UI" panose="020B0502040204020203"/>
            </a:endParaRPr>
          </a:p>
        </p:txBody>
      </p:sp>
      <p:sp>
        <p:nvSpPr>
          <p:cNvPr id="434" name="文本框 433" descr="{&quot;isTemplate&quot;:true,&quot;type&quot;:&quot;text&quot;}"/>
          <p:cNvSpPr txBox="1"/>
          <p:nvPr/>
        </p:nvSpPr>
        <p:spPr>
          <a:xfrm>
            <a:off x="609600" y="4257675"/>
            <a:ext cx="10972800" cy="447675"/>
          </a:xfrm>
          <a:prstGeom prst="rect">
            <a:avLst/>
          </a:prstGeom>
        </p:spPr>
        <p:txBody>
          <a:bodyPr wrap="none" lIns="0" tIns="0" rIns="0" bIns="0"/>
          <a:p>
            <a:pPr>
              <a:lnSpc>
                <a:spcPct val="160000"/>
              </a:lnSpc>
            </a:pPr>
            <a:r>
              <a:rPr lang="zh-CN" sz="1800">
                <a:solidFill>
                  <a:srgbClr val="E6EEF9">
                    <a:alpha val="70000"/>
                  </a:srgbClr>
                </a:solidFill>
                <a:latin typeface="微软雅黑" panose="020B0503020204020204" charset="-122"/>
                <a:ea typeface="微软雅黑" panose="020B0503020204020204" charset="-122"/>
              </a:rPr>
              <a:t>把一栋宿舍搬进计算机：先让问题变得可测量</a:t>
            </a:r>
            <a:endParaRPr lang="zh-CN" sz="1800">
              <a:solidFill>
                <a:srgbClr val="E6EEF9">
                  <a:alpha val="70000"/>
                </a:srgbClr>
              </a:solidFill>
              <a:latin typeface="微软雅黑" panose="020B0503020204020204" charset="-122"/>
              <a:ea typeface="微软雅黑" panose="020B0503020204020204" charset="-122"/>
            </a:endParaRPr>
          </a:p>
        </p:txBody>
      </p:sp>
      <p:sp>
        <p:nvSpPr>
          <p:cNvPr id="435" name="文本框 434" descr="{&quot;isTemplate&quot;:true,&quot;type&quot;:&quot;text&quot;}"/>
          <p:cNvSpPr txBox="1"/>
          <p:nvPr/>
        </p:nvSpPr>
        <p:spPr>
          <a:xfrm>
            <a:off x="609600" y="5029200"/>
            <a:ext cx="10972800" cy="190500"/>
          </a:xfrm>
          <a:prstGeom prst="rect">
            <a:avLst/>
          </a:prstGeom>
        </p:spPr>
        <p:txBody>
          <a:bodyPr wrap="none" lIns="0" tIns="0" rIns="0" bIns="0"/>
          <a:p>
            <a:pPr>
              <a:lnSpc>
                <a:spcPct val="100000"/>
              </a:lnSpc>
            </a:pPr>
            <a:r>
              <a:rPr lang="en-US" sz="1200" spc="225">
                <a:solidFill>
                  <a:srgbClr val="E6EEF9">
                    <a:alpha val="45000"/>
                  </a:srgbClr>
                </a:solidFill>
                <a:latin typeface="Segoe UI" panose="020B0502040204020203"/>
                <a:ea typeface="Segoe UI" panose="020B0502040204020203"/>
              </a:rPr>
              <a:t>10 – 13</a:t>
            </a:r>
            <a:endParaRPr lang="en-US" sz="1200" spc="225">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36"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defs&gt;&#10;            &lt;rect width='1280' height='720' fill='url(#grid)' /&gt;&#10;        &lt;/svg&gt;&#10;    &lt;/Box&gt;&#10;&#10;    &lt;Box style={{ position: 'relative', zIndex: 1, height: 84, display: 'flex', flexDirection: 'column' }}&gt;&#10;        &lt;Text style={{ fontSize: 14, color: '#22D3EE', letterSpacing: 3, fontFamily: 'Segoe UI' }}&gt;CHAPTER 02 · 建模&lt;/Text&gt;&#10;        &lt;Box style={{ height: 8 }} /&gt;&#10;        &lt;Text style={{ fontSize: 32, fontWeight: 'bold', color: '#E6EEF9' }}&gt;实验场：红豆斋&lt;/Text&gt;&#10;        &lt;Box style={{ height: 10 }} /&gt;&#10;        &lt;Box style={{ width: '56px', height: '3px', background: '#22D3EE' }} /&gt;&#10;    &lt;/Box&gt;&#10;&#10;    &lt;Box style={{ position: 'relative', zIndex: 1, height: 520, marginTop: 16, flexDirection: 'row', gap: 24 }}&gt;&#10;        &lt;Box style={{ width: '590px', display: 'flex', flexDirection: 'column' }}&gt;&#10;            &lt;Box&#10;                style={{&#10;                    height: 470,&#10;                    background: 'rgba(59,130,246,0.06)',&#10;                    border: '1px solid rgba(59,130,246,0.24)',&#10;                    borderRadius: 12,&#10;                    alignItems: 'center',&#10;                    justifyContent: 'center',&#10;                }}&#10;            &gt;&#10;                &lt;svg width={560} height={440} viewBox='0 0 590 470'&gt;&#10;                    &lt;defs&gt;&#10;                        &lt;linearGradient id='sg' x1='0' y1='0' x2='0' y2='1'&gt;&#10;                            &lt;stop offset='0%' stopColor='#22D3EE' stopOpacity='0' /&gt;&#10;                            &lt;stop offset='45%' stopColor='#22D3EE' stopOpacity='0.9' /&gt;&#10;                            &lt;stop offset='100%' stopColor='#22D3EE' stopOpacity='0' /&gt;&#10;                        &lt;/linearGradient&gt;&#10;                    &lt;/defs&gt;&#10;                    &lt;rect x='120' y='20' width='380' height='435' fill='#3B82F6' fillOpacity='0.04' stroke='#3B82F6' strokeOpacity='0.55' strokeWidth='1' /&gt;&#10;                    &lt;path d='M120 49 H500' stroke='#3B82F6' strokeOpacity='0.25' strokeWidth='1' /&gt;&#10;                    &lt;path d='M120 78 H500' stroke='#3B82F6' strokeOpacity='0.25' strokeWidth='1' /&gt;&#10;                    &lt;path d='M120 107 H500' stroke='#3B82F6' strokeOpacity='0.25' strokeWidth='1' /&gt;&#10;                    &lt;path d='M120 136 H500' stroke='#3B82F6' strokeOpacity='0.25' strokeWidth='1' /&gt;&#10;                    &lt;path d='M120 165 H500' stroke='#3B82F6' strokeOpacity='0.25' strokeWidth='1' /&gt;&#10;                    &lt;path d='M120 194 H500' stroke='#3B82F6' strokeOpacity='0.25' strokeWidth='1' /&gt;&#10;                    &lt;path d='M120 223 H500' stroke='#3B82F6' strokeOpacity='0.25' strokeWidth='1' /&gt;&#10;                    &lt;path d='M120 252 H500' stroke='#3B82F6' strokeOpacity='0.25' strokeWidth='1' /&gt;&#10;                    &lt;path d='M120 281 H500' stroke='#3B82F6' strokeOpacity='0.25' strokeWidth='1' /&gt;&#10;                    &lt;path d='M120 310 H500' stroke='#3B82F6' strokeOpacity='0.25' strokeWidth='1' /&gt;&#10;                    &lt;path d='M120 339 H500' stroke='#3B82F6' strokeOpacity='0.25' strokeWidth='1' /&gt;&#10;                    &lt;path d='M120 368 H500' stroke='#3B82F6' strokeOpacity='0.25' strokeWidth='1' /&gt;&#10;                    &lt;path d='M120 397 H500' stroke='#3B82F6' strokeOpacity='0.25' strokeWidth='1' /&gt;&#10;                    &lt;path d='M120 426 H500' stroke='#3B82F6' strokeOpacity='0.25' strokeWidth='1' /&gt;&#10;                    &lt;rect x='173' y='20' width='34' height='435' fill='#3B82F6' fillOpacity='0.10' /&gt;&#10;                    &lt;rect x='293' y='20' width='34' height='435' fill='#3B82F6' fillOpacity='0.10' /&gt;&#10;                    &lt;rect x='413' y='20' width='34' height='435' fill='#3B82F6' fillOpacity='0.10' /&gt;&#10;                    &lt;rect x='188' y='20' width='4' height='435' fill='url(#sg)' /&gt;&#10;                    &lt;rect x='308' y='20' width='4' height='435' fill='url(#sg)' /&gt;&#10;                    &lt;rect x='428' y='20' width='4' height='435' fill='url(#sg)' /&gt;&#10;                    &lt;rect x='176' y='296' width='28' height='20' fill='#22D3EE' fillOpacity='0.95' /&gt;&#10;                    &lt;rect x='296' y='376' width='28' height='20' fill='#22D3EE' fillOpacity='0.5' /&gt;&#10;                    &lt;rect x='416' y='164' width='28' height='20' fill='#22D3EE' fillOpacity='0.72' /&gt;&#10;                    &lt;path d='M120 455 H500' stroke='#22D3EE' strokeOpacity='0.6' strokeWidth='3' /&gt;&#10;                &lt;/svg&gt;&#10;            &lt;/Box&gt;&#10;            &lt;Box style={{ height: 16 }} /&gt;&#10;            &lt;Box style={{ height: 34, flexDirection: 'row', alignItems: 'center', gap: 12 }}&gt;&#10;                &lt;Box style={{ padding: '5px 14px', background: 'rgba(34,211,238,0.14)', borderRadius: 4 }}&gt;&#10;                    &lt;Text style={{ fontSize: 15, color: '#22D3EE' }}&gt;单层梯&lt;/Text&gt;&#10;                &lt;/Box&gt;&#10;                &lt;Box style={{ padding: '5px 14px', background: 'rgba(34,211,238,0.14)', borderRadius: 4 }}&gt;&#10;                    &lt;Text style={{ fontSize: 15, color: '#22D3EE' }}&gt;双层梯&lt;/Text&gt;&#10;                &lt;/Box&gt;&#10;                &lt;Box style={{ padding: '5px 14px', background: 'rgba(34,211,238,0.14)', borderRadius: 4 }}&gt;&#10;                    &lt;Text style={{ fontSize: 15, color: '#22D3EE' }}&gt;全层梯&lt;/Text&gt;&#10;                &lt;/Box&gt;&#10;                &lt;Text style={{ fontSize: 15, color: '#E6EEF9', opacity: 0.45, marginLeft: 6 }}&gt;地上 15 层 · 3 部电梯分工不同&lt;/Text&gt;&#10;            &lt;/Box&gt;&#10;        &lt;/Box&gt;&#10;&#10;        &lt;Box style={{ flex: 1, display: 'flex', flexDirection: 'column' }}&gt;&#10;            &lt;Text style={{ fontSize: 17, color: '#E6EEF9', opacity: 0.68, lineHeight: 1.6 }}&gt;&#10;                以下参数全部取自红豆斋的真实楼宇条件，仿真不做任何美化假设 —— 这既是结论可信度的来源，也是结论的边界。&#10;            &lt;/Text&gt;&#10;            &lt;Box style={{ height: 12 }} /&gt;&#10;            &lt;Box style={{ flexDirection: 'row', gap: 10, flexWrap: 'wrap' }}&gt;&#10;                &lt;Box style={{ width: 262, height: 88, padding: '14px 18px', background: 'rgba(59,130,246,0.10)', border: '1px solid rgba(59,130,246,0.24)', borderRadius: 10 }}&gt;&#10;                    &lt;Text style={{ fontSize: 15, color: '#E6EEF9', opacity: 0.55 }}&gt;地上楼层数&lt;/Text&gt;&#10;                    &lt;Box style={{ height: 6 }} /&gt;&#10;                    &lt;Text style={{ fontSize: 21, fontWeight: 'bold', color: '#E6EEF9', fontFamily: 'Segoe UI' }}&gt;15 层&lt;/Text&gt;&#10;                &lt;/Box&gt;&#10;                &lt;Box style={{ width: 262, height: 88, padding: '14px 18px', background: 'rgba(59,130,246,0.10)', border: '1px solid rgba(59,130,246,0.24)', borderRadius: 10 }}&gt;&#10;                    &lt;Text style={{ fontSize: 15, color: '#E6EEF9', opacity: 0.55 }}&gt;电梯数量&lt;/Text&gt;&#10;                    &lt;Box style={{ height: 6 }} /&gt;&#10;                    &lt;Text style={{ fontSize: 21, fontWeight: 'bold', color: '#E6EEF9', fontFamily: 'Segoe UI' }}&gt;3 部&lt;/Text&gt;&#10;                &lt;/Box&gt;&#10;                &lt;Box style={{ width: 262, height: 88, padding: '14px 18px', background: 'rgba(59,130,246,0.10)', border: '1px solid rgba(59,130,246,0.24)', borderRadius: 10 }}&gt;&#10;                    &lt;Text style={{ fontSize: 15, color: '#E6EEF9', opacity: 0.55 }}&gt;轿厢额定载客&lt;/Text&gt;&#10;                    &lt;Box style={{ height: 6 }} /&gt;&#10;                    &lt;Text style={{ fontSize: 21, fontWeight: 'bold', color: '#E6EEF9', fontFamily: 'Segoe UI' }}&gt;10～11 人&lt;/Text&gt;&#10;                &lt;/Box&gt;&#10;                &lt;Box style={{ width: 262, height: 88, padding: '14px 18px', background: 'rgba(59,130,246,0.10)', border: '1px solid rgba(59,130,246,0.24)', borderRadius: 10 }}&gt;&#10;                    &lt;Text style={{ fontSize: 15, color: '#E6EEF9', opacity: 0.55 }}&gt;电梯开关门时间&lt;/Text&gt;&#10;                    &lt;Box style={{ height: 6 }} /&gt;&#10;                    &lt;Text style={{ fontSize: 21, fontWeight: 'bold', color: '#E6EEF9', fontFamily: 'Segoe UI' }}&gt;2.6 s&lt;/Text&gt;&#10;                &lt;/Box&gt;&#10;            &lt;/Box&gt;&#10;            &lt;Box style={{ height: 10 }} /&gt;&#10;            &lt;Box style={{ flexDirection: 'row', gap: 10, flexWrap: 'wrap' }}&gt;&#10;                &lt;Box style={{ width: 262, height: 88, padding: '14px 18px', background: 'rgba(59,130,246,0.10)', border: '1px solid rgba(59,130,246,0.24)', borderRadius: 10 }}&gt;&#10;                    &lt;Text style={{ fontSize: 15, color: '#E6EEF9', opacity: 0.55 }}&gt;运行启动最大加速度&lt;/Text&gt;&#10;                    &lt;Box style={{ height: 6 }} /&gt;&#10;                    &lt;Text style={{ fontSize: 21, fontWeight: 'bold', color: '#E6EEF9', fontFamily: 'Segoe UI' }}&gt;a = 0.6 m/s²&lt;/Text&gt;&#10;                &lt;/Box&gt;&#10;                &lt;Box style={{ width: 262, height: 88, padding: '14px 18px', background: 'rgba(59,130,246,0.10)', border: '1px solid rgba(59,130,246,0.24)', borderRadius: 10 }}&gt;&#10;                    &lt;Text style={{ fontSize: 15, color: '#E6EEF9', opacity: 0.55 }}&gt;运行最大速度&lt;/Text&gt;&#10;                    &lt;Box style={{ height: 6 }} /&gt;&#10;                    &lt;Text style={{ fontSize: 21, fontWeight: 'bold', color: '#E6EEF9', fontFamily: 'Segoe UI' }}&gt;v = 1.75 m/s&lt;/Text&gt;&#10;                &lt;/Box&gt;&#10;                &lt;Box style={{ width: 262, height: 88, padding: '14px 18px', background: 'rgba(34,211,238,0.10)', border: '1px solid rgba(34,211,238,0.32)', borderRadius: 10 }}&gt;&#10;                    &lt;Text style={{ fontSize: 15, color: '#E6EEF9', opacity: 0.55 }}&gt;运行逻辑（改造前基准）&lt;/Text&gt;&#10;                    &lt;Box style={{ height: 6 }} /&gt;&#10;                    &lt;Text style={{ fontSize: 21, fontWeight: 'bold', color: '#22D3EE', fontFamily: 'Segoe UI' }}&gt;LOOK 算法&lt;/Text&gt;&#10;                &lt;/Box&gt;&#10;                &lt;Box style={{ width: 262, height: 88, padding: '14px 18px', background: 'rgba(59,130,246,0.10)', border: '1px solid rgba(59,130,246,0.24)', borderRadius: 10 }}&gt;&#10;                    &lt;Text style={{ fontSize: 15, color: '#E6EEF9', opacity: 0.55 }}&gt;闸机联动&lt;/Text&gt;&#10;                    &lt;Box style={{ height: 6 }} /&gt;&#10;                    &lt;Text style={{ fontSize: 21, fontWeight: 'bold', color: '#E6EEF9', fontFamily: 'Segoe UI' }}&gt;刷闸机后 5 s&lt;/Text&gt;&#10;                &lt;/Box&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07 / 18&lt;/Text&gt;&#10;    &lt;/Box&gt;&#10;&lt;/Slide&gt;&#10;"/>
        <p:cNvGrpSpPr/>
        <p:nvPr/>
      </p:nvGrpSpPr>
      <p:grpSpPr>
        <a:xfrm>
          <a:off x="0" y="0"/>
          <a:ext cx="0" cy="0"/>
          <a:chOff x="0" y="0"/>
          <a:chExt cx="0" cy="0"/>
        </a:xfrm>
      </p:grpSpPr>
      <p:sp>
        <p:nvSpPr>
          <p:cNvPr id="437" name="矩形 436"/>
          <p:cNvSpPr/>
          <p:nvPr/>
        </p:nvSpPr>
        <p:spPr>
          <a:xfrm>
            <a:off x="0" y="0"/>
            <a:ext cx="12192000" cy="6858000"/>
          </a:xfrm>
          <a:prstGeom prst="rect">
            <a:avLst/>
          </a:prstGeom>
          <a:solidFill>
            <a:srgbClr val="0A1424"/>
          </a:solidFill>
        </p:spPr>
        <p:txBody>
          <a:bodyPr/>
          <a:p/>
        </p:txBody>
      </p:sp>
      <p:pic>
        <p:nvPicPr>
          <p:cNvPr id="438" name="图片 43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39" name="文本框 438"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03 · </a:t>
            </a:r>
            <a:r>
              <a:rPr lang="zh-CN" sz="1050" spc="225">
                <a:solidFill>
                  <a:srgbClr val="22D3EE"/>
                </a:solidFill>
                <a:latin typeface="Segoe UI" panose="020B0502040204020203"/>
                <a:ea typeface="Segoe UI" panose="020B0502040204020203"/>
              </a:rPr>
              <a:t>建模</a:t>
            </a:r>
            <a:endParaRPr lang="zh-CN" sz="1050" spc="225">
              <a:solidFill>
                <a:srgbClr val="22D3EE"/>
              </a:solidFill>
              <a:latin typeface="Segoe UI" panose="020B0502040204020203"/>
              <a:ea typeface="Segoe UI" panose="020B0502040204020203"/>
            </a:endParaRPr>
          </a:p>
        </p:txBody>
      </p:sp>
      <p:sp>
        <p:nvSpPr>
          <p:cNvPr id="440" name="文本框 439"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实验场：红豆斋</a:t>
            </a:r>
            <a:endParaRPr lang="zh-CN" sz="2400" b="1">
              <a:solidFill>
                <a:srgbClr val="E6EEF9"/>
              </a:solidFill>
              <a:latin typeface="微软雅黑" panose="020B0503020204020204" charset="-122"/>
              <a:ea typeface="微软雅黑" panose="020B0503020204020204" charset="-122"/>
            </a:endParaRPr>
          </a:p>
        </p:txBody>
      </p:sp>
      <p:sp>
        <p:nvSpPr>
          <p:cNvPr id="441" name="矩形 440"/>
          <p:cNvSpPr/>
          <p:nvPr/>
        </p:nvSpPr>
        <p:spPr>
          <a:xfrm>
            <a:off x="609600" y="1009650"/>
            <a:ext cx="533400" cy="28575"/>
          </a:xfrm>
          <a:prstGeom prst="rect">
            <a:avLst/>
          </a:prstGeom>
          <a:solidFill>
            <a:srgbClr val="22D3EE"/>
          </a:solidFill>
        </p:spPr>
        <p:txBody>
          <a:bodyPr/>
          <a:p/>
        </p:txBody>
      </p:sp>
      <p:sp>
        <p:nvSpPr>
          <p:cNvPr id="442" name="圆角矩形 441"/>
          <p:cNvSpPr/>
          <p:nvPr/>
        </p:nvSpPr>
        <p:spPr>
          <a:xfrm>
            <a:off x="609600" y="1257300"/>
            <a:ext cx="5619750" cy="4476750"/>
          </a:xfrm>
          <a:prstGeom prst="roundRect">
            <a:avLst>
              <a:gd name="adj" fmla="val 2553"/>
            </a:avLst>
          </a:prstGeom>
          <a:solidFill>
            <a:srgbClr val="3B82F6">
              <a:alpha val="6000"/>
            </a:srgbClr>
          </a:solidFill>
          <a:ln w="12700">
            <a:solidFill>
              <a:srgbClr val="3B82F6">
                <a:alpha val="24000"/>
              </a:srgbClr>
            </a:solidFill>
            <a:prstDash val="solid"/>
          </a:ln>
        </p:spPr>
        <p:txBody>
          <a:bodyPr/>
          <a:p/>
        </p:txBody>
      </p:sp>
      <p:pic>
        <p:nvPicPr>
          <p:cNvPr id="443" name="图片 4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2475" y="1400175"/>
            <a:ext cx="5334000" cy="4191000"/>
          </a:xfrm>
          <a:prstGeom prst="rect">
            <a:avLst/>
          </a:prstGeom>
        </p:spPr>
      </p:pic>
      <p:sp>
        <p:nvSpPr>
          <p:cNvPr id="444" name="圆角矩形 443"/>
          <p:cNvSpPr/>
          <p:nvPr/>
        </p:nvSpPr>
        <p:spPr>
          <a:xfrm>
            <a:off x="609600" y="5915025"/>
            <a:ext cx="695325" cy="266700"/>
          </a:xfrm>
          <a:prstGeom prst="roundRect">
            <a:avLst>
              <a:gd name="adj" fmla="val 14286"/>
            </a:avLst>
          </a:prstGeom>
          <a:solidFill>
            <a:srgbClr val="22D3EE">
              <a:alpha val="14000"/>
            </a:srgbClr>
          </a:solidFill>
        </p:spPr>
        <p:txBody>
          <a:bodyPr/>
          <a:p/>
        </p:txBody>
      </p:sp>
      <p:sp>
        <p:nvSpPr>
          <p:cNvPr id="445" name="文本框 444" descr="{&quot;isTemplate&quot;:true,&quot;type&quot;:&quot;text&quot;}"/>
          <p:cNvSpPr txBox="1"/>
          <p:nvPr/>
        </p:nvSpPr>
        <p:spPr>
          <a:xfrm>
            <a:off x="742950" y="5962650"/>
            <a:ext cx="428625" cy="171450"/>
          </a:xfrm>
          <a:prstGeom prst="rect">
            <a:avLst/>
          </a:prstGeom>
        </p:spPr>
        <p:txBody>
          <a:bodyPr wrap="none" lIns="0" tIns="0" rIns="0" bIns="0"/>
          <a:p>
            <a:pPr>
              <a:lnSpc>
                <a:spcPct val="100000"/>
              </a:lnSpc>
            </a:pPr>
            <a:r>
              <a:rPr lang="zh-CN" sz="1125">
                <a:solidFill>
                  <a:srgbClr val="22D3EE"/>
                </a:solidFill>
                <a:latin typeface="微软雅黑" panose="020B0503020204020204" charset="-122"/>
                <a:ea typeface="微软雅黑" panose="020B0503020204020204" charset="-122"/>
              </a:rPr>
              <a:t>单层梯</a:t>
            </a:r>
            <a:endParaRPr lang="zh-CN" sz="1125">
              <a:solidFill>
                <a:srgbClr val="22D3EE"/>
              </a:solidFill>
              <a:latin typeface="微软雅黑" panose="020B0503020204020204" charset="-122"/>
              <a:ea typeface="微软雅黑" panose="020B0503020204020204" charset="-122"/>
            </a:endParaRPr>
          </a:p>
        </p:txBody>
      </p:sp>
      <p:sp>
        <p:nvSpPr>
          <p:cNvPr id="446" name="圆角矩形 445"/>
          <p:cNvSpPr/>
          <p:nvPr/>
        </p:nvSpPr>
        <p:spPr>
          <a:xfrm>
            <a:off x="1419225" y="5915025"/>
            <a:ext cx="695325" cy="266700"/>
          </a:xfrm>
          <a:prstGeom prst="roundRect">
            <a:avLst>
              <a:gd name="adj" fmla="val 14286"/>
            </a:avLst>
          </a:prstGeom>
          <a:solidFill>
            <a:srgbClr val="22D3EE">
              <a:alpha val="14000"/>
            </a:srgbClr>
          </a:solidFill>
        </p:spPr>
        <p:txBody>
          <a:bodyPr/>
          <a:p/>
        </p:txBody>
      </p:sp>
      <p:sp>
        <p:nvSpPr>
          <p:cNvPr id="447" name="文本框 446" descr="{&quot;isTemplate&quot;:true,&quot;type&quot;:&quot;text&quot;}"/>
          <p:cNvSpPr txBox="1"/>
          <p:nvPr/>
        </p:nvSpPr>
        <p:spPr>
          <a:xfrm>
            <a:off x="1552575" y="5962650"/>
            <a:ext cx="428625" cy="171450"/>
          </a:xfrm>
          <a:prstGeom prst="rect">
            <a:avLst/>
          </a:prstGeom>
        </p:spPr>
        <p:txBody>
          <a:bodyPr wrap="none" lIns="0" tIns="0" rIns="0" bIns="0"/>
          <a:p>
            <a:pPr>
              <a:lnSpc>
                <a:spcPct val="100000"/>
              </a:lnSpc>
            </a:pPr>
            <a:r>
              <a:rPr lang="zh-CN" sz="1125">
                <a:solidFill>
                  <a:srgbClr val="22D3EE"/>
                </a:solidFill>
                <a:latin typeface="微软雅黑" panose="020B0503020204020204" charset="-122"/>
                <a:ea typeface="微软雅黑" panose="020B0503020204020204" charset="-122"/>
              </a:rPr>
              <a:t>双层梯</a:t>
            </a:r>
            <a:endParaRPr lang="zh-CN" sz="1125">
              <a:solidFill>
                <a:srgbClr val="22D3EE"/>
              </a:solidFill>
              <a:latin typeface="微软雅黑" panose="020B0503020204020204" charset="-122"/>
              <a:ea typeface="微软雅黑" panose="020B0503020204020204" charset="-122"/>
            </a:endParaRPr>
          </a:p>
        </p:txBody>
      </p:sp>
      <p:sp>
        <p:nvSpPr>
          <p:cNvPr id="448" name="圆角矩形 447"/>
          <p:cNvSpPr/>
          <p:nvPr/>
        </p:nvSpPr>
        <p:spPr>
          <a:xfrm>
            <a:off x="2228850" y="5915025"/>
            <a:ext cx="695325" cy="266700"/>
          </a:xfrm>
          <a:prstGeom prst="roundRect">
            <a:avLst>
              <a:gd name="adj" fmla="val 14286"/>
            </a:avLst>
          </a:prstGeom>
          <a:solidFill>
            <a:srgbClr val="22D3EE">
              <a:alpha val="14000"/>
            </a:srgbClr>
          </a:solidFill>
        </p:spPr>
        <p:txBody>
          <a:bodyPr/>
          <a:p/>
        </p:txBody>
      </p:sp>
      <p:sp>
        <p:nvSpPr>
          <p:cNvPr id="449" name="文本框 448" descr="{&quot;isTemplate&quot;:true,&quot;type&quot;:&quot;text&quot;}"/>
          <p:cNvSpPr txBox="1"/>
          <p:nvPr/>
        </p:nvSpPr>
        <p:spPr>
          <a:xfrm>
            <a:off x="2362200" y="5962650"/>
            <a:ext cx="428625" cy="171450"/>
          </a:xfrm>
          <a:prstGeom prst="rect">
            <a:avLst/>
          </a:prstGeom>
        </p:spPr>
        <p:txBody>
          <a:bodyPr wrap="none" lIns="0" tIns="0" rIns="0" bIns="0"/>
          <a:p>
            <a:pPr>
              <a:lnSpc>
                <a:spcPct val="100000"/>
              </a:lnSpc>
            </a:pPr>
            <a:r>
              <a:rPr lang="zh-CN" sz="1125">
                <a:solidFill>
                  <a:srgbClr val="22D3EE"/>
                </a:solidFill>
                <a:latin typeface="微软雅黑" panose="020B0503020204020204" charset="-122"/>
                <a:ea typeface="微软雅黑" panose="020B0503020204020204" charset="-122"/>
              </a:rPr>
              <a:t>全层梯</a:t>
            </a:r>
            <a:endParaRPr lang="zh-CN" sz="1125">
              <a:solidFill>
                <a:srgbClr val="22D3EE"/>
              </a:solidFill>
              <a:latin typeface="微软雅黑" panose="020B0503020204020204" charset="-122"/>
              <a:ea typeface="微软雅黑" panose="020B0503020204020204" charset="-122"/>
            </a:endParaRPr>
          </a:p>
        </p:txBody>
      </p:sp>
      <p:sp>
        <p:nvSpPr>
          <p:cNvPr id="450" name="圆角矩形 449"/>
          <p:cNvSpPr/>
          <p:nvPr/>
        </p:nvSpPr>
        <p:spPr>
          <a:xfrm>
            <a:off x="6457950" y="2000250"/>
            <a:ext cx="24955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451" name="文本框 450" descr="{&quot;isTemplate&quot;:true,&quot;type&quot;:&quot;text&quot;}"/>
          <p:cNvSpPr txBox="1"/>
          <p:nvPr/>
        </p:nvSpPr>
        <p:spPr>
          <a:xfrm>
            <a:off x="6629400" y="2362200"/>
            <a:ext cx="2152650" cy="247650"/>
          </a:xfrm>
          <a:prstGeom prst="rect">
            <a:avLst/>
          </a:prstGeom>
        </p:spPr>
        <p:txBody>
          <a:bodyPr wrap="none" lIns="0" tIns="0" rIns="0" bIns="0"/>
          <a:p>
            <a:pPr>
              <a:lnSpc>
                <a:spcPct val="100000"/>
              </a:lnSpc>
            </a:pPr>
            <a:r>
              <a:rPr lang="en-US" sz="1575" b="1">
                <a:solidFill>
                  <a:srgbClr val="E6EEF9"/>
                </a:solidFill>
                <a:latin typeface="Segoe UI" panose="020B0502040204020203"/>
                <a:ea typeface="Segoe UI" panose="020B0502040204020203"/>
              </a:rPr>
              <a:t>15 </a:t>
            </a:r>
            <a:r>
              <a:rPr lang="zh-CN" sz="1575" b="1">
                <a:solidFill>
                  <a:srgbClr val="E6EEF9"/>
                </a:solidFill>
                <a:latin typeface="Segoe UI" panose="020B0502040204020203"/>
                <a:ea typeface="Segoe UI" panose="020B0502040204020203"/>
              </a:rPr>
              <a:t>层</a:t>
            </a:r>
            <a:endParaRPr lang="zh-CN" sz="1575" b="1">
              <a:solidFill>
                <a:srgbClr val="E6EEF9"/>
              </a:solidFill>
              <a:latin typeface="Segoe UI" panose="020B0502040204020203"/>
              <a:ea typeface="Segoe UI" panose="020B0502040204020203"/>
            </a:endParaRPr>
          </a:p>
        </p:txBody>
      </p:sp>
      <p:sp>
        <p:nvSpPr>
          <p:cNvPr id="452" name="圆角矩形 451"/>
          <p:cNvSpPr/>
          <p:nvPr/>
        </p:nvSpPr>
        <p:spPr>
          <a:xfrm>
            <a:off x="9048750" y="2000250"/>
            <a:ext cx="24955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453" name="文本框 452" descr="{&quot;isTemplate&quot;:true,&quot;type&quot;:&quot;text&quot;}"/>
          <p:cNvSpPr txBox="1"/>
          <p:nvPr/>
        </p:nvSpPr>
        <p:spPr>
          <a:xfrm>
            <a:off x="9220200" y="2362200"/>
            <a:ext cx="2152650" cy="247650"/>
          </a:xfrm>
          <a:prstGeom prst="rect">
            <a:avLst/>
          </a:prstGeom>
        </p:spPr>
        <p:txBody>
          <a:bodyPr wrap="none" lIns="0" tIns="0" rIns="0" bIns="0"/>
          <a:p>
            <a:pPr>
              <a:lnSpc>
                <a:spcPct val="100000"/>
              </a:lnSpc>
            </a:pPr>
            <a:r>
              <a:rPr lang="en-US" sz="1575" b="1">
                <a:solidFill>
                  <a:srgbClr val="E6EEF9"/>
                </a:solidFill>
                <a:latin typeface="Segoe UI" panose="020B0502040204020203"/>
                <a:ea typeface="Segoe UI" panose="020B0502040204020203"/>
              </a:rPr>
              <a:t>3 </a:t>
            </a:r>
            <a:r>
              <a:rPr lang="zh-CN" sz="1575" b="1">
                <a:solidFill>
                  <a:srgbClr val="E6EEF9"/>
                </a:solidFill>
                <a:latin typeface="Segoe UI" panose="020B0502040204020203"/>
                <a:ea typeface="Segoe UI" panose="020B0502040204020203"/>
              </a:rPr>
              <a:t>部</a:t>
            </a:r>
            <a:endParaRPr lang="zh-CN" sz="1575" b="1">
              <a:solidFill>
                <a:srgbClr val="E6EEF9"/>
              </a:solidFill>
              <a:latin typeface="Segoe UI" panose="020B0502040204020203"/>
              <a:ea typeface="Segoe UI" panose="020B0502040204020203"/>
            </a:endParaRPr>
          </a:p>
        </p:txBody>
      </p:sp>
      <p:sp>
        <p:nvSpPr>
          <p:cNvPr id="454" name="圆角矩形 453"/>
          <p:cNvSpPr/>
          <p:nvPr/>
        </p:nvSpPr>
        <p:spPr>
          <a:xfrm>
            <a:off x="6457950" y="2933700"/>
            <a:ext cx="24955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455" name="文本框 454" descr="{&quot;isTemplate&quot;:true,&quot;type&quot;:&quot;text&quot;}"/>
          <p:cNvSpPr txBox="1"/>
          <p:nvPr/>
        </p:nvSpPr>
        <p:spPr>
          <a:xfrm>
            <a:off x="6629400" y="3295650"/>
            <a:ext cx="2152650" cy="247650"/>
          </a:xfrm>
          <a:prstGeom prst="rect">
            <a:avLst/>
          </a:prstGeom>
        </p:spPr>
        <p:txBody>
          <a:bodyPr wrap="none" lIns="0" tIns="0" rIns="0" bIns="0"/>
          <a:p>
            <a:pPr>
              <a:lnSpc>
                <a:spcPct val="100000"/>
              </a:lnSpc>
            </a:pPr>
            <a:r>
              <a:rPr lang="en-US" sz="1575" b="1">
                <a:solidFill>
                  <a:srgbClr val="E6EEF9"/>
                </a:solidFill>
                <a:latin typeface="Segoe UI" panose="020B0502040204020203"/>
                <a:ea typeface="Segoe UI" panose="020B0502040204020203"/>
              </a:rPr>
              <a:t>10</a:t>
            </a:r>
            <a:r>
              <a:rPr lang="zh-CN" sz="1575" b="1">
                <a:solidFill>
                  <a:srgbClr val="E6EEF9"/>
                </a:solidFill>
                <a:latin typeface="Segoe UI" panose="020B0502040204020203"/>
                <a:ea typeface="Segoe UI" panose="020B0502040204020203"/>
              </a:rPr>
              <a:t>～</a:t>
            </a:r>
            <a:r>
              <a:rPr lang="en-US" sz="1575" b="1">
                <a:solidFill>
                  <a:srgbClr val="E6EEF9"/>
                </a:solidFill>
                <a:latin typeface="Segoe UI" panose="020B0502040204020203"/>
                <a:ea typeface="Segoe UI" panose="020B0502040204020203"/>
              </a:rPr>
              <a:t>11 </a:t>
            </a:r>
            <a:r>
              <a:rPr lang="zh-CN" sz="1575" b="1">
                <a:solidFill>
                  <a:srgbClr val="E6EEF9"/>
                </a:solidFill>
                <a:latin typeface="Segoe UI" panose="020B0502040204020203"/>
                <a:ea typeface="Segoe UI" panose="020B0502040204020203"/>
              </a:rPr>
              <a:t>人</a:t>
            </a:r>
            <a:endParaRPr lang="zh-CN" sz="1575" b="1">
              <a:solidFill>
                <a:srgbClr val="E6EEF9"/>
              </a:solidFill>
              <a:latin typeface="Segoe UI" panose="020B0502040204020203"/>
              <a:ea typeface="Segoe UI" panose="020B0502040204020203"/>
            </a:endParaRPr>
          </a:p>
        </p:txBody>
      </p:sp>
      <p:sp>
        <p:nvSpPr>
          <p:cNvPr id="456" name="圆角矩形 455"/>
          <p:cNvSpPr/>
          <p:nvPr/>
        </p:nvSpPr>
        <p:spPr>
          <a:xfrm>
            <a:off x="9048750" y="2933700"/>
            <a:ext cx="24955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457" name="文本框 456" descr="{&quot;isTemplate&quot;:true,&quot;type&quot;:&quot;text&quot;}"/>
          <p:cNvSpPr txBox="1"/>
          <p:nvPr/>
        </p:nvSpPr>
        <p:spPr>
          <a:xfrm>
            <a:off x="9220200" y="3295650"/>
            <a:ext cx="2152650" cy="247650"/>
          </a:xfrm>
          <a:prstGeom prst="rect">
            <a:avLst/>
          </a:prstGeom>
        </p:spPr>
        <p:txBody>
          <a:bodyPr wrap="none" lIns="0" tIns="0" rIns="0" bIns="0"/>
          <a:p>
            <a:pPr>
              <a:lnSpc>
                <a:spcPct val="100000"/>
              </a:lnSpc>
            </a:pPr>
            <a:r>
              <a:rPr lang="en-US" sz="1575" b="1">
                <a:solidFill>
                  <a:srgbClr val="E6EEF9"/>
                </a:solidFill>
                <a:latin typeface="Segoe UI" panose="020B0502040204020203"/>
                <a:ea typeface="Segoe UI" panose="020B0502040204020203"/>
              </a:rPr>
              <a:t>2.6 s</a:t>
            </a:r>
            <a:endParaRPr lang="en-US" sz="1575" b="1">
              <a:solidFill>
                <a:srgbClr val="E6EEF9"/>
              </a:solidFill>
              <a:latin typeface="Segoe UI" panose="020B0502040204020203"/>
              <a:ea typeface="Segoe UI" panose="020B0502040204020203"/>
            </a:endParaRPr>
          </a:p>
        </p:txBody>
      </p:sp>
      <p:sp>
        <p:nvSpPr>
          <p:cNvPr id="458" name="圆角矩形 457"/>
          <p:cNvSpPr/>
          <p:nvPr/>
        </p:nvSpPr>
        <p:spPr>
          <a:xfrm>
            <a:off x="6457950" y="3867150"/>
            <a:ext cx="24955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459" name="文本框 458" descr="{&quot;isTemplate&quot;:true,&quot;type&quot;:&quot;text&quot;}"/>
          <p:cNvSpPr txBox="1"/>
          <p:nvPr/>
        </p:nvSpPr>
        <p:spPr>
          <a:xfrm>
            <a:off x="6629400" y="4229100"/>
            <a:ext cx="2152650" cy="247650"/>
          </a:xfrm>
          <a:prstGeom prst="rect">
            <a:avLst/>
          </a:prstGeom>
        </p:spPr>
        <p:txBody>
          <a:bodyPr wrap="none" lIns="0" tIns="0" rIns="0" bIns="0"/>
          <a:p>
            <a:pPr>
              <a:lnSpc>
                <a:spcPct val="100000"/>
              </a:lnSpc>
            </a:pPr>
            <a:r>
              <a:rPr lang="en-US" sz="1575" b="1">
                <a:solidFill>
                  <a:srgbClr val="E6EEF9"/>
                </a:solidFill>
                <a:latin typeface="Segoe UI" panose="020B0502040204020203"/>
                <a:ea typeface="Segoe UI" panose="020B0502040204020203"/>
              </a:rPr>
              <a:t>a = 0.6 m/s²</a:t>
            </a:r>
            <a:endParaRPr lang="en-US" sz="1575" b="1">
              <a:solidFill>
                <a:srgbClr val="E6EEF9"/>
              </a:solidFill>
              <a:latin typeface="Segoe UI" panose="020B0502040204020203"/>
              <a:ea typeface="Segoe UI" panose="020B0502040204020203"/>
            </a:endParaRPr>
          </a:p>
        </p:txBody>
      </p:sp>
      <p:sp>
        <p:nvSpPr>
          <p:cNvPr id="460" name="圆角矩形 459"/>
          <p:cNvSpPr/>
          <p:nvPr/>
        </p:nvSpPr>
        <p:spPr>
          <a:xfrm>
            <a:off x="9048750" y="3867150"/>
            <a:ext cx="24955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461" name="文本框 460" descr="{&quot;isTemplate&quot;:true,&quot;type&quot;:&quot;text&quot;}"/>
          <p:cNvSpPr txBox="1"/>
          <p:nvPr/>
        </p:nvSpPr>
        <p:spPr>
          <a:xfrm>
            <a:off x="9220200" y="4229100"/>
            <a:ext cx="2152650" cy="247650"/>
          </a:xfrm>
          <a:prstGeom prst="rect">
            <a:avLst/>
          </a:prstGeom>
        </p:spPr>
        <p:txBody>
          <a:bodyPr wrap="none" lIns="0" tIns="0" rIns="0" bIns="0"/>
          <a:p>
            <a:pPr>
              <a:lnSpc>
                <a:spcPct val="100000"/>
              </a:lnSpc>
            </a:pPr>
            <a:r>
              <a:rPr lang="en-US" sz="1575" b="1">
                <a:solidFill>
                  <a:srgbClr val="E6EEF9"/>
                </a:solidFill>
                <a:latin typeface="Segoe UI" panose="020B0502040204020203"/>
                <a:ea typeface="Segoe UI" panose="020B0502040204020203"/>
              </a:rPr>
              <a:t>v = 1.75 m/s</a:t>
            </a:r>
            <a:endParaRPr lang="en-US" sz="1575" b="1">
              <a:solidFill>
                <a:srgbClr val="E6EEF9"/>
              </a:solidFill>
              <a:latin typeface="Segoe UI" panose="020B0502040204020203"/>
              <a:ea typeface="Segoe UI" panose="020B0502040204020203"/>
            </a:endParaRPr>
          </a:p>
        </p:txBody>
      </p:sp>
      <p:sp>
        <p:nvSpPr>
          <p:cNvPr id="462" name="圆角矩形 461"/>
          <p:cNvSpPr/>
          <p:nvPr/>
        </p:nvSpPr>
        <p:spPr>
          <a:xfrm>
            <a:off x="6457950" y="4800600"/>
            <a:ext cx="2495550" cy="838200"/>
          </a:xfrm>
          <a:prstGeom prst="roundRect">
            <a:avLst>
              <a:gd name="adj" fmla="val 11364"/>
            </a:avLst>
          </a:prstGeom>
          <a:solidFill>
            <a:srgbClr val="22D3EE">
              <a:alpha val="10000"/>
            </a:srgbClr>
          </a:solidFill>
          <a:ln w="12700">
            <a:solidFill>
              <a:srgbClr val="22D3EE">
                <a:alpha val="32000"/>
              </a:srgbClr>
            </a:solidFill>
            <a:prstDash val="solid"/>
          </a:ln>
        </p:spPr>
        <p:txBody>
          <a:bodyPr/>
          <a:p/>
        </p:txBody>
      </p:sp>
      <p:sp>
        <p:nvSpPr>
          <p:cNvPr id="463" name="文本框 462" descr="{&quot;isTemplate&quot;:true,&quot;type&quot;:&quot;text&quot;}"/>
          <p:cNvSpPr txBox="1"/>
          <p:nvPr/>
        </p:nvSpPr>
        <p:spPr>
          <a:xfrm>
            <a:off x="6629400" y="5162550"/>
            <a:ext cx="2152650" cy="247650"/>
          </a:xfrm>
          <a:prstGeom prst="rect">
            <a:avLst/>
          </a:prstGeom>
        </p:spPr>
        <p:txBody>
          <a:bodyPr wrap="none" lIns="0" tIns="0" rIns="0" bIns="0"/>
          <a:p>
            <a:pPr>
              <a:lnSpc>
                <a:spcPct val="100000"/>
              </a:lnSpc>
            </a:pPr>
            <a:r>
              <a:rPr lang="en-US" sz="1575" b="1">
                <a:solidFill>
                  <a:srgbClr val="22D3EE"/>
                </a:solidFill>
                <a:latin typeface="Segoe UI" panose="020B0502040204020203"/>
                <a:ea typeface="Segoe UI" panose="020B0502040204020203"/>
              </a:rPr>
              <a:t>LOOK </a:t>
            </a:r>
            <a:r>
              <a:rPr lang="zh-CN" sz="1575" b="1">
                <a:solidFill>
                  <a:srgbClr val="22D3EE"/>
                </a:solidFill>
                <a:latin typeface="Segoe UI" panose="020B0502040204020203"/>
                <a:ea typeface="Segoe UI" panose="020B0502040204020203"/>
              </a:rPr>
              <a:t>算法</a:t>
            </a:r>
            <a:endParaRPr lang="zh-CN" sz="1575" b="1">
              <a:solidFill>
                <a:srgbClr val="22D3EE"/>
              </a:solidFill>
              <a:latin typeface="Segoe UI" panose="020B0502040204020203"/>
              <a:ea typeface="Segoe UI" panose="020B0502040204020203"/>
            </a:endParaRPr>
          </a:p>
        </p:txBody>
      </p:sp>
      <p:sp>
        <p:nvSpPr>
          <p:cNvPr id="464" name="圆角矩形 463"/>
          <p:cNvSpPr/>
          <p:nvPr/>
        </p:nvSpPr>
        <p:spPr>
          <a:xfrm>
            <a:off x="9048750" y="4800600"/>
            <a:ext cx="24955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465" name="文本框 464" descr="{&quot;isTemplate&quot;:true,&quot;type&quot;:&quot;text&quot;}"/>
          <p:cNvSpPr txBox="1"/>
          <p:nvPr/>
        </p:nvSpPr>
        <p:spPr>
          <a:xfrm>
            <a:off x="9220200" y="5162550"/>
            <a:ext cx="2152650" cy="247650"/>
          </a:xfrm>
          <a:prstGeom prst="rect">
            <a:avLst/>
          </a:prstGeom>
        </p:spPr>
        <p:txBody>
          <a:bodyPr wrap="none" lIns="0" tIns="0" rIns="0" bIns="0"/>
          <a:p>
            <a:pPr>
              <a:lnSpc>
                <a:spcPct val="100000"/>
              </a:lnSpc>
            </a:pPr>
            <a:r>
              <a:rPr lang="zh-CN" sz="1575" b="1">
                <a:solidFill>
                  <a:srgbClr val="E6EEF9"/>
                </a:solidFill>
                <a:latin typeface="Segoe UI" panose="020B0502040204020203"/>
                <a:ea typeface="Segoe UI" panose="020B0502040204020203"/>
              </a:rPr>
              <a:t>刷闸机后</a:t>
            </a:r>
            <a:r>
              <a:rPr lang="en-US" sz="1575" b="1">
                <a:solidFill>
                  <a:srgbClr val="E6EEF9"/>
                </a:solidFill>
                <a:latin typeface="Segoe UI" panose="020B0502040204020203"/>
                <a:ea typeface="Segoe UI" panose="020B0502040204020203"/>
              </a:rPr>
              <a:t> 5 s</a:t>
            </a:r>
            <a:endParaRPr lang="en-US" sz="1575" b="1">
              <a:solidFill>
                <a:srgbClr val="E6EEF9"/>
              </a:solidFill>
              <a:latin typeface="Segoe UI" panose="020B0502040204020203"/>
              <a:ea typeface="Segoe UI" panose="020B0502040204020203"/>
            </a:endParaRPr>
          </a:p>
        </p:txBody>
      </p:sp>
      <p:sp>
        <p:nvSpPr>
          <p:cNvPr id="466" name="文本框 465" descr="{&quot;isTemplate&quot;:true,&quot;type&quot;:&quot;text&quot;}"/>
          <p:cNvSpPr txBox="1"/>
          <p:nvPr/>
        </p:nvSpPr>
        <p:spPr>
          <a:xfrm>
            <a:off x="3095625" y="5962650"/>
            <a:ext cx="1933575" cy="171450"/>
          </a:xfrm>
          <a:prstGeom prst="rect">
            <a:avLst/>
          </a:prstGeom>
        </p:spPr>
        <p:txBody>
          <a:bodyPr wrap="none" lIns="0" tIns="0" rIns="0" bIns="0"/>
          <a:p>
            <a:pPr>
              <a:lnSpc>
                <a:spcPct val="100000"/>
              </a:lnSpc>
            </a:pPr>
            <a:r>
              <a:rPr lang="zh-CN" sz="1125">
                <a:solidFill>
                  <a:srgbClr val="E6EEF9">
                    <a:alpha val="45000"/>
                  </a:srgbClr>
                </a:solidFill>
                <a:latin typeface="微软雅黑" panose="020B0503020204020204" charset="-122"/>
                <a:ea typeface="微软雅黑" panose="020B0503020204020204" charset="-122"/>
              </a:rPr>
              <a:t>地上</a:t>
            </a:r>
            <a:r>
              <a:rPr lang="en-US" sz="1125">
                <a:solidFill>
                  <a:srgbClr val="E6EEF9">
                    <a:alpha val="45000"/>
                  </a:srgbClr>
                </a:solidFill>
                <a:latin typeface="微软雅黑" panose="020B0503020204020204" charset="-122"/>
                <a:ea typeface="微软雅黑" panose="020B0503020204020204" charset="-122"/>
              </a:rPr>
              <a:t> 15 </a:t>
            </a:r>
            <a:r>
              <a:rPr lang="zh-CN" sz="1125">
                <a:solidFill>
                  <a:srgbClr val="E6EEF9">
                    <a:alpha val="45000"/>
                  </a:srgbClr>
                </a:solidFill>
                <a:latin typeface="微软雅黑" panose="020B0503020204020204" charset="-122"/>
                <a:ea typeface="微软雅黑" panose="020B0503020204020204" charset="-122"/>
              </a:rPr>
              <a:t>层</a:t>
            </a:r>
            <a:r>
              <a:rPr lang="en-US" sz="1125">
                <a:solidFill>
                  <a:srgbClr val="E6EEF9">
                    <a:alpha val="45000"/>
                  </a:srgbClr>
                </a:solidFill>
                <a:latin typeface="微软雅黑" panose="020B0503020204020204" charset="-122"/>
                <a:ea typeface="微软雅黑" panose="020B0503020204020204" charset="-122"/>
              </a:rPr>
              <a:t> · 3 </a:t>
            </a:r>
            <a:r>
              <a:rPr lang="zh-CN" sz="1125">
                <a:solidFill>
                  <a:srgbClr val="E6EEF9">
                    <a:alpha val="45000"/>
                  </a:srgbClr>
                </a:solidFill>
                <a:latin typeface="微软雅黑" panose="020B0503020204020204" charset="-122"/>
                <a:ea typeface="微软雅黑" panose="020B0503020204020204" charset="-122"/>
              </a:rPr>
              <a:t>部电梯分工不同</a:t>
            </a:r>
            <a:endParaRPr lang="zh-CN" sz="1125">
              <a:solidFill>
                <a:srgbClr val="E6EEF9">
                  <a:alpha val="45000"/>
                </a:srgbClr>
              </a:solidFill>
              <a:latin typeface="微软雅黑" panose="020B0503020204020204" charset="-122"/>
              <a:ea typeface="微软雅黑" panose="020B0503020204020204" charset="-122"/>
            </a:endParaRPr>
          </a:p>
        </p:txBody>
      </p:sp>
      <p:sp>
        <p:nvSpPr>
          <p:cNvPr id="467" name="文本框 466" descr="{&quot;isTemplate&quot;:true,&quot;type&quot;:&quot;text&quot;}"/>
          <p:cNvSpPr txBox="1"/>
          <p:nvPr/>
        </p:nvSpPr>
        <p:spPr>
          <a:xfrm>
            <a:off x="6457950" y="1257300"/>
            <a:ext cx="5124450" cy="628650"/>
          </a:xfrm>
          <a:prstGeom prst="rect">
            <a:avLst/>
          </a:prstGeom>
        </p:spPr>
        <p:txBody>
          <a:bodyPr wrap="square" lIns="0" tIns="0" rIns="0" bIns="0">
            <a:normAutofit/>
          </a:bodyPr>
          <a:p>
            <a:pPr>
              <a:lnSpc>
                <a:spcPct val="160000"/>
              </a:lnSpc>
            </a:pPr>
            <a:r>
              <a:rPr lang="zh-CN" sz="1275">
                <a:solidFill>
                  <a:srgbClr val="E6EEF9">
                    <a:alpha val="68000"/>
                  </a:srgbClr>
                </a:solidFill>
                <a:latin typeface="微软雅黑" panose="020B0503020204020204" charset="-122"/>
                <a:ea typeface="微软雅黑" panose="020B0503020204020204" charset="-122"/>
              </a:rPr>
              <a:t>以下参数全部取自红豆斋的真实楼宇条件，仿真不做任何美化假设</a:t>
            </a:r>
            <a:r>
              <a:rPr lang="en-US" sz="1275">
                <a:solidFill>
                  <a:srgbClr val="E6EEF9">
                    <a:alpha val="68000"/>
                  </a:srgbClr>
                </a:solidFill>
                <a:latin typeface="微软雅黑" panose="020B0503020204020204" charset="-122"/>
                <a:ea typeface="微软雅黑" panose="020B0503020204020204" charset="-122"/>
              </a:rPr>
              <a:t> —— </a:t>
            </a:r>
            <a:r>
              <a:rPr lang="zh-CN" sz="1275">
                <a:solidFill>
                  <a:srgbClr val="E6EEF9">
                    <a:alpha val="68000"/>
                  </a:srgbClr>
                </a:solidFill>
                <a:latin typeface="微软雅黑" panose="020B0503020204020204" charset="-122"/>
                <a:ea typeface="微软雅黑" panose="020B0503020204020204" charset="-122"/>
              </a:rPr>
              <a:t>这既是结论可信度的来源，也是结论的边界。</a:t>
            </a:r>
            <a:endParaRPr lang="zh-CN" sz="1275">
              <a:solidFill>
                <a:srgbClr val="E6EEF9">
                  <a:alpha val="68000"/>
                </a:srgbClr>
              </a:solidFill>
              <a:latin typeface="微软雅黑" panose="020B0503020204020204" charset="-122"/>
              <a:ea typeface="微软雅黑" panose="020B0503020204020204" charset="-122"/>
            </a:endParaRPr>
          </a:p>
        </p:txBody>
      </p:sp>
      <p:sp>
        <p:nvSpPr>
          <p:cNvPr id="468" name="文本框 467" descr="{&quot;isTemplate&quot;:true,&quot;type&quot;:&quot;text&quot;}"/>
          <p:cNvSpPr txBox="1"/>
          <p:nvPr/>
        </p:nvSpPr>
        <p:spPr>
          <a:xfrm>
            <a:off x="6629400" y="213360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地上楼层数</a:t>
            </a:r>
            <a:endParaRPr lang="zh-CN" sz="1125">
              <a:solidFill>
                <a:srgbClr val="E6EEF9">
                  <a:alpha val="55000"/>
                </a:srgbClr>
              </a:solidFill>
              <a:latin typeface="微软雅黑" panose="020B0503020204020204" charset="-122"/>
              <a:ea typeface="微软雅黑" panose="020B0503020204020204" charset="-122"/>
            </a:endParaRPr>
          </a:p>
        </p:txBody>
      </p:sp>
      <p:sp>
        <p:nvSpPr>
          <p:cNvPr id="469" name="文本框 468" descr="{&quot;isTemplate&quot;:true,&quot;type&quot;:&quot;text&quot;}"/>
          <p:cNvSpPr txBox="1"/>
          <p:nvPr/>
        </p:nvSpPr>
        <p:spPr>
          <a:xfrm>
            <a:off x="9220200" y="213360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电梯数量</a:t>
            </a:r>
            <a:endParaRPr lang="zh-CN" sz="1125">
              <a:solidFill>
                <a:srgbClr val="E6EEF9">
                  <a:alpha val="55000"/>
                </a:srgbClr>
              </a:solidFill>
              <a:latin typeface="微软雅黑" panose="020B0503020204020204" charset="-122"/>
              <a:ea typeface="微软雅黑" panose="020B0503020204020204" charset="-122"/>
            </a:endParaRPr>
          </a:p>
        </p:txBody>
      </p:sp>
      <p:sp>
        <p:nvSpPr>
          <p:cNvPr id="470" name="文本框 469" descr="{&quot;isTemplate&quot;:true,&quot;type&quot;:&quot;text&quot;}"/>
          <p:cNvSpPr txBox="1"/>
          <p:nvPr/>
        </p:nvSpPr>
        <p:spPr>
          <a:xfrm>
            <a:off x="6629400" y="306705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轿厢额定载客</a:t>
            </a:r>
            <a:endParaRPr lang="zh-CN" sz="1125">
              <a:solidFill>
                <a:srgbClr val="E6EEF9">
                  <a:alpha val="55000"/>
                </a:srgbClr>
              </a:solidFill>
              <a:latin typeface="微软雅黑" panose="020B0503020204020204" charset="-122"/>
              <a:ea typeface="微软雅黑" panose="020B0503020204020204" charset="-122"/>
            </a:endParaRPr>
          </a:p>
        </p:txBody>
      </p:sp>
      <p:sp>
        <p:nvSpPr>
          <p:cNvPr id="471" name="文本框 470" descr="{&quot;isTemplate&quot;:true,&quot;type&quot;:&quot;text&quot;}"/>
          <p:cNvSpPr txBox="1"/>
          <p:nvPr/>
        </p:nvSpPr>
        <p:spPr>
          <a:xfrm>
            <a:off x="9220200" y="306705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电梯开关门时间</a:t>
            </a:r>
            <a:endParaRPr lang="zh-CN" sz="1125">
              <a:solidFill>
                <a:srgbClr val="E6EEF9">
                  <a:alpha val="55000"/>
                </a:srgbClr>
              </a:solidFill>
              <a:latin typeface="微软雅黑" panose="020B0503020204020204" charset="-122"/>
              <a:ea typeface="微软雅黑" panose="020B0503020204020204" charset="-122"/>
            </a:endParaRPr>
          </a:p>
        </p:txBody>
      </p:sp>
      <p:sp>
        <p:nvSpPr>
          <p:cNvPr id="472" name="文本框 471" descr="{&quot;isTemplate&quot;:true,&quot;type&quot;:&quot;text&quot;}"/>
          <p:cNvSpPr txBox="1"/>
          <p:nvPr/>
        </p:nvSpPr>
        <p:spPr>
          <a:xfrm>
            <a:off x="6629400" y="400050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运行启动最大加速度</a:t>
            </a:r>
            <a:endParaRPr lang="zh-CN" sz="1125">
              <a:solidFill>
                <a:srgbClr val="E6EEF9">
                  <a:alpha val="55000"/>
                </a:srgbClr>
              </a:solidFill>
              <a:latin typeface="微软雅黑" panose="020B0503020204020204" charset="-122"/>
              <a:ea typeface="微软雅黑" panose="020B0503020204020204" charset="-122"/>
            </a:endParaRPr>
          </a:p>
        </p:txBody>
      </p:sp>
      <p:sp>
        <p:nvSpPr>
          <p:cNvPr id="473" name="文本框 472" descr="{&quot;isTemplate&quot;:true,&quot;type&quot;:&quot;text&quot;}"/>
          <p:cNvSpPr txBox="1"/>
          <p:nvPr/>
        </p:nvSpPr>
        <p:spPr>
          <a:xfrm>
            <a:off x="9220200" y="400050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运行最大速度</a:t>
            </a:r>
            <a:endParaRPr lang="zh-CN" sz="1125">
              <a:solidFill>
                <a:srgbClr val="E6EEF9">
                  <a:alpha val="55000"/>
                </a:srgbClr>
              </a:solidFill>
              <a:latin typeface="微软雅黑" panose="020B0503020204020204" charset="-122"/>
              <a:ea typeface="微软雅黑" panose="020B0503020204020204" charset="-122"/>
            </a:endParaRPr>
          </a:p>
        </p:txBody>
      </p:sp>
      <p:sp>
        <p:nvSpPr>
          <p:cNvPr id="474" name="文本框 473" descr="{&quot;isTemplate&quot;:true,&quot;type&quot;:&quot;text&quot;}"/>
          <p:cNvSpPr txBox="1"/>
          <p:nvPr/>
        </p:nvSpPr>
        <p:spPr>
          <a:xfrm>
            <a:off x="6629400" y="493395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运行逻辑（改造前基准）</a:t>
            </a:r>
            <a:endParaRPr lang="zh-CN" sz="1125">
              <a:solidFill>
                <a:srgbClr val="E6EEF9">
                  <a:alpha val="55000"/>
                </a:srgbClr>
              </a:solidFill>
              <a:latin typeface="微软雅黑" panose="020B0503020204020204" charset="-122"/>
              <a:ea typeface="微软雅黑" panose="020B0503020204020204" charset="-122"/>
            </a:endParaRPr>
          </a:p>
        </p:txBody>
      </p:sp>
      <p:sp>
        <p:nvSpPr>
          <p:cNvPr id="475" name="文本框 474" descr="{&quot;isTemplate&quot;:true,&quot;type&quot;:&quot;text&quot;}"/>
          <p:cNvSpPr txBox="1"/>
          <p:nvPr/>
        </p:nvSpPr>
        <p:spPr>
          <a:xfrm>
            <a:off x="9220200" y="4933950"/>
            <a:ext cx="2152650" cy="171450"/>
          </a:xfrm>
          <a:prstGeom prst="rect">
            <a:avLst/>
          </a:prstGeom>
        </p:spPr>
        <p:txBody>
          <a:bodyPr wrap="none" lIns="0" tIns="0" rIns="0" bIns="0"/>
          <a:p>
            <a:pPr>
              <a:lnSpc>
                <a:spcPct val="100000"/>
              </a:lnSpc>
            </a:pPr>
            <a:r>
              <a:rPr lang="zh-CN" sz="1125">
                <a:solidFill>
                  <a:srgbClr val="E6EEF9">
                    <a:alpha val="55000"/>
                  </a:srgbClr>
                </a:solidFill>
                <a:latin typeface="微软雅黑" panose="020B0503020204020204" charset="-122"/>
                <a:ea typeface="微软雅黑" panose="020B0503020204020204" charset="-122"/>
              </a:rPr>
              <a:t>闸机联动</a:t>
            </a:r>
            <a:endParaRPr lang="zh-CN" sz="1125">
              <a:solidFill>
                <a:srgbClr val="E6EEF9">
                  <a:alpha val="55000"/>
                </a:srgbClr>
              </a:solidFill>
              <a:latin typeface="微软雅黑" panose="020B0503020204020204" charset="-122"/>
              <a:ea typeface="微软雅黑" panose="020B0503020204020204" charset="-122"/>
            </a:endParaRPr>
          </a:p>
        </p:txBody>
      </p:sp>
      <p:sp>
        <p:nvSpPr>
          <p:cNvPr id="476" name="任意多边形 475"/>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477" name="文本框 476"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478" name="文本框 477"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11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79" name="" descr="&lt;Slide&#13;&#10;    style={{&#13;&#10;        width: '1280px',&#13;&#10;        height: '720px',&#13;&#10;        background: '#0A1424',&#13;&#10;        padding: '32px 64px 24px 64px',&#13;&#10;        display: 'flex',&#13;&#10;        flexDirection: 'column',&#13;&#10;        fontFamily: 'Microsoft YaHei',&#13;&#10;        position: 'relative',&#13;&#10;    }}&#13;&#10;&gt;&#13;&#10;    &lt;Box style={{ position: 'absolute', top: 0, left: 0, width: '1280px', height: '720px', zIndex: 0 }}&gt;&#13;&#10;        &lt;svg width={1280} height={720} viewBox='0 0 1280 720'&gt;&#13;&#10;            &lt;defs&gt;&#13;&#10;                &lt;pattern id='grid' width='40' height='40' patternUnits='userSpaceOnUse'&gt;&#13;&#10;                    &lt;path d='M40 0 L0 0 0 40' fill='none' stroke='#3B82F6' strokeOpacity='0.08' strokeWidth='1' /&gt;&#13;&#10;                &lt;/pattern&gt;&#13;&#10;            &lt;/defs&gt;&#13;&#10;            &lt;rect width='1280' height='720' fill='url(#grid)' /&gt;&#13;&#10;        &lt;/svg&gt;&#13;&#10;    &lt;/Box&gt;&#13;&#10;&#13;&#10;    &lt;Box style={{ position: 'relative', zIndex: 1, height: 84, display: 'flex', flexDirection: 'column' }}&gt;&#13;&#10;        &lt;Text style={{ fontSize: 14, color: '#22D3EE', letterSpacing: 3, fontFamily: 'Segoe UI' }}&gt;CHAPTER 02 · 建模&lt;/Text&gt;&#13;&#10;        &lt;Box style={{ height: 8 }} /&gt;&#13;&#10;        &lt;Text style={{ fontSize: 32, fontWeight: 'bold', color: '#E6EEF9' }}&gt;人群与需求建模&lt;/Text&gt;&#13;&#10;        &lt;Box style={{ height: 10 }} /&gt;&#13;&#10;        &lt;Box style={{ width: '56px', height: '3px', background: '#22D3EE' }} /&gt;&#13;&#10;    &lt;/Box&gt;&#13;&#10;&#13;&#10;    &lt;Box style={{ position: 'relative', zIndex: 1, height: 520, marginTop: 16, flexDirection: 'row', gap: 24 }}&gt;&#13;&#10;        &lt;Box style={{ width: '740px', display: 'flex', flexDirection: 'column' }}&gt;&#13;&#10;            &lt;Box&#13;&#10;                style={{&#13;&#10;                    height: 470,&#13;&#10;                    padding: '20px 22px',&#13;&#10;                    background: 'rgba(59,130,246,0.06)',&#13;&#10;                    border: '1px solid rgba(59,130,246,0.24)',&#13;&#10;                    borderRadius: 12,&#13;&#10;                    position: 'relative',&#13;&#10;                    flexDirection: 'row',&#13;&#10;                }}&#13;&#10;            &gt;&#13;&#10;                &lt;Box style={{ width: 60, height: 450, position: 'relative' }}&gt;&#13;&#10;                    &lt;Text style={{ position: 'absolute', top: 5, right: 0, fontSize: 13, color: '#22D3EE', opacity: 0.8, fontFamily: 'Segoe UI' }}&gt;15F&lt;/Text&gt;&#13;&#10;                    &lt;Text style={{ position: 'absolute', top: 185, right: 0, fontSize: 13, color: '#22D3EE', opacity: 0.8, fontFamily: 'Segoe UI' }}&gt;9F&lt;/Text&gt;&#13;&#10;                    &lt;Text style={{ position: 'absolute', top: 215, right: 0, fontSize: 13, color: '#3B82F6', opacity: 0.9, fontFamily: 'Segoe UI' }}&gt;8F&lt;/Text&gt;&#13;&#10;                    &lt;Text style={{ position: 'absolute', top: 395, right: 0, fontSize: 13, color: '#3B82F6', opacity: 0.9, fontFamily: 'Segoe UI' }}&gt;2F&lt;/Text&gt;&#13;&#10;                    &lt;Text style={{ position: 'absolute', top: 425, right: 0, fontSize: 13, color: '#E6EEF9', opacity: 0.45, fontFamily: 'Segoe UI' }}&gt;1F&lt;/Text&gt;&#13;&#10;                &lt;/Box&gt;&#13;&#10;                &lt;svg width={640} height={450} viewBox='0 0 640 450'&gt;&#13;&#10;                    &lt;rect x='0' y='0' width='640' height='210' fill='#22D3EE' fillOpacity='0.06' /&gt;&#13;&#10;                    &lt;rect x='0' y='210' width='640' height='210' fill='#3B82F6' fillOpacity='0.06' /&gt;&#13;&#10;                    &lt;rect x='0' y='7' width='420' height='16' fill='#22D3EE' fillOpacity='0.85' /&gt;&#13;&#10;                    &lt;rect x='0' y='37' width='420' height='16' fill='#22D3EE' fillOpacity='0.85' /&gt;&#13;&#10;                    &lt;rect x='0' y='67' width='420' height='16' fill='#22D3EE' fillOpacity='0.85' /&gt;&#13;&#10;                    &lt;rect x='0' y='97' width='420' height='16' fill='#22D3EE' fillOpacity='0.85' /&gt;&#13;&#10;                    &lt;rect x='0' y='127' width='420' height='16' fill='#22D3EE' fillOpacity='0.85' /&gt;&#13;&#10;                    &lt;rect x='0' y='157' width='420' height='16' fill='#22D3EE' fillOpacity='0.85' /&gt;&#13;&#10;                    &lt;rect x='0' y='187' width='420' height='16' fill='#22D3EE' fillOpacity='0.85' /&gt;&#13;&#10;                    &lt;rect x='0' y='217' width='105' height='16' fill='#3B82F6' fillOpacity='0.8' /&gt;&#13;&#10;                    &lt;rect x='0' y='247' width='105' height='16' fill='#3B82F6' fillOpacity='0.8' /&gt;&#13;&#10;                    &lt;rect x='0' y='277' width='105' height='16' fill='#3B82F6' fillOpacity='0.8' /&gt;&#13;&#10;                    &lt;rect x='0' y='307' width='105' height='16' fill='#3B82F6' fillOpacity='0.8' /&gt;&#13;&#10;                    &lt;rect x='0' y='337' width='105' height='16' fill='#3B82F6' fillOpacity='0.8' /&gt;&#13;&#10;                    &lt;rect x='0' y='367' width='105' height='16' fill='#3B82F6' fillOpacity='0.8' /&gt;&#13;&#10;                    &lt;rect x='0' y='397' width='105' height='16' fill='#3B82F6' fillOpacity='0.8' /&gt;&#13;&#10;                    &lt;rect x='0' y='427' width='6' height='16' fill='#E6EEF9' fillOpacity='0.35' /&gt;&#13;&#10;                &lt;/svg&gt;&#13;&#10;                &lt;Text style={{ position: 'absolute', top: 205, left: 552, fontSize: 15, color: '#22D3EE', fontFamily: 'Segoe UI' }}&gt;每层 80 人&lt;/Text&gt;&#13;&#10;                &lt;Text style={{ position: 'absolute', top: 415, left: 237, fontSize: 15, color: '#3B82F6', fontFamily: 'Segoe UI' }}&gt;每层 20 人&lt;/Text&gt;&#13;&#10;            &lt;/Box&gt;&#13;&#10;        &lt;/Box&gt;&#13;&#10;&#13;&#10;        &lt;Box style={{ flex: 1, display: 'flex', flexDirection: 'column', gap: 14 }}&gt;&#13;&#10;            &lt;Box&#13;&#10;                style={{&#13;&#10;                    height: 180,&#13;&#10;                    padding: '18px 20px',&#13;&#10;                    background: 'rgba(59,130,246,0.10)',&#13;&#10;                    border: '1px solid rgba(59,130,246,0.24)',&#13;&#10;                    borderRadius: 10,&#13;&#10;                }}&#13;&#10;            &gt;&#13;&#10;                &lt;Box style={{ flexDirection: 'row', alignItems: 'center', justifyContent: 'space-between' }}&gt;&#13;&#10;                    &lt;Text style={{ fontSize: 22, fontWeight: 'bold', color: '#E6EEF9' }}&gt;学长 · 2–8 层&lt;/Text&gt;&#13;&#10;                    &lt;Text style={{ fontSize: 14, color: '#3B82F6', fontFamily: 'Segoe UI' }}&gt;共 140 人&lt;/Text&gt;&#13;&#10;                &lt;/Box&gt;&#13;&#10;                &lt;Box style={{ height: 12 }} /&gt;&#13;&#10;                &lt;Text style={{ fontSize: 16, color: '#E6EEF9', opacity: 0.62, lineHeight: 1.6 }}&gt;&#13;&#10;                    · 只下楼，目标楼层固定为 1 层&#13;&#10;                    &lt;br /&gt;&#13;&#10;                    · 下楼人流在全时段分布不均匀&#13;&#10;                    &lt;br /&gt;&#13;&#10;                    · 学长之间互不相干，各自独立出行&#13;&#10;                &lt;/Text&gt;&#13;&#10;            &lt;/Box&gt;&#13;&#10;&#13;&#10;            &lt;Box&#13;&#10;                style={{&#13;&#10;                    height: 180,&#13;&#10;                    padding: '18px 20px',&#13;&#10;                    background: 'rgba(34,211,238,0.10)',&#13;&#10;                    border: '1px solid rgba(34,211,238,0.32)',&#13;&#10;                    borderRadius: 10,&#13;&#10;                }}&#13;&#10;            &gt;&#13;&#10;                &lt;Box style={{ flexDirection: 'row', alignItems: 'center', justifyContent: 'space-between' }}&gt;&#13;&#10;                    &lt;Text style={{ fontSize: 22, fontWeight: 'bold', color: '#22D3EE' }}&gt;学弟 · 9–15 层&lt;/Text&gt;&#13;&#10;                    &lt;Text style={{ fontSize: 14, color: '#22D3EE', fontFamily: 'Segoe UI' }}&gt;共 560 人&lt;/Text&gt;&#13;&#10;                &lt;/Box&gt;&#13;&#10;                &lt;Box style={{ height: 12 }} /&gt;&#13;&#10;                &lt;Text style={{ fontSize: 16, color: '#E6EEF9', opacity: 0.72, lineHeight: 1.6 }}&gt;&#13;&#10;                    · 只上楼，目标楼层固定为自己宿舍所在层&#13;&#10;                    &lt;br /&gt;&#13;&#10;                    · 上楼人流在高峰时段分布均匀&#13;&#10;                    &lt;br /&gt;&#13;&#10;                    · 结伴上楼，结伴人数 2～5 人不等&#13;&#10;                &lt;/Text&gt;&#13;&#10;            &lt;/Box&gt;&#13;&#10;&#13;&#10;            &lt;Box&#13;&#10;                style={{&#13;&#10;                    marginTop: 'auto',&#13;&#10;                    padding: '16px 20px',&#13;&#10;                    background: 'rgba(34,211,238,0.10)',&#13;&#10;                    borderLeft: '3px solid #22D3EE',&#13;&#10;                    borderRadius: 4,&#13;&#10;                }}&#13;&#10;            &gt;&#13;&#10;                &lt;Text style={{ fontSize: 15, color: '#E6EEF9', opacity: 0.85, lineHeight: 1.6 }}&gt;&#13;&#10;                    上行 560 人集中压向高层、下行 140 人分散在低层——方向与人数双重不对称，是「停停走走」的根源。&#13;&#10;                &lt;/Text&gt;&#13;&#10;            &lt;/Box&gt;&#13;&#10;        &lt;/Box&gt;&#13;&#10;    &lt;/Box&gt;&#13;&#10;&#13;&#10;    &lt;Box&#13;&#10;        style={{&#13;&#10;            position: 'relative',&#13;&#10;            zIndex: 1,&#13;&#10;            height: 36,&#13;&#10;            marginTop: 8,&#13;&#10;            flexDirection: 'row',&#13;&#10;            alignItems: 'center',&#13;&#10;            justifyContent: 'space-between',&#13;&#10;            borderTop: '1px solid rgba(59,130,246,0.22)',&#13;&#10;        }}&#13;&#10;    &gt;&#13;&#10;        &lt;Text style={{ fontSize: 14, color: '#E6EEF9', opacity: 0.45 }}&gt;宿舍电梯运行策略优化 · 红豆斋&lt;/Text&gt;&#13;&#10;        &lt;Text style={{ fontSize: 14, color: '#E6EEF9', opacity: 0.45, fontFamily: 'Segoe UI' }}&gt;08 / 18&lt;/Text&gt;&#13;&#10;    &lt;/Box&gt;&#13;&#10;&lt;/Slide&gt;&#13;&#10;"/>
        <p:cNvGrpSpPr/>
        <p:nvPr/>
      </p:nvGrpSpPr>
      <p:grpSpPr>
        <a:xfrm>
          <a:off x="0" y="0"/>
          <a:ext cx="0" cy="0"/>
          <a:chOff x="0" y="0"/>
          <a:chExt cx="0" cy="0"/>
        </a:xfrm>
      </p:grpSpPr>
      <p:sp>
        <p:nvSpPr>
          <p:cNvPr id="480" name="矩形 479"/>
          <p:cNvSpPr/>
          <p:nvPr/>
        </p:nvSpPr>
        <p:spPr>
          <a:xfrm>
            <a:off x="0" y="0"/>
            <a:ext cx="12192000" cy="6858000"/>
          </a:xfrm>
          <a:prstGeom prst="rect">
            <a:avLst/>
          </a:prstGeom>
          <a:solidFill>
            <a:srgbClr val="0A1424"/>
          </a:solidFill>
        </p:spPr>
        <p:txBody>
          <a:bodyPr/>
          <a:p/>
        </p:txBody>
      </p:sp>
      <p:pic>
        <p:nvPicPr>
          <p:cNvPr id="481" name="图片 480"/>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482" name="文本框 481"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02 · </a:t>
            </a:r>
            <a:r>
              <a:rPr lang="zh-CN" sz="1050" spc="225">
                <a:solidFill>
                  <a:srgbClr val="22D3EE"/>
                </a:solidFill>
                <a:latin typeface="Segoe UI" panose="020B0502040204020203"/>
                <a:ea typeface="Segoe UI" panose="020B0502040204020203"/>
              </a:rPr>
              <a:t>建模</a:t>
            </a:r>
            <a:endParaRPr lang="zh-CN" sz="1050" spc="225">
              <a:solidFill>
                <a:srgbClr val="22D3EE"/>
              </a:solidFill>
              <a:latin typeface="Segoe UI" panose="020B0502040204020203"/>
              <a:ea typeface="Segoe UI" panose="020B0502040204020203"/>
            </a:endParaRPr>
          </a:p>
        </p:txBody>
      </p:sp>
      <p:sp>
        <p:nvSpPr>
          <p:cNvPr id="483" name="文本框 482"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人群与需求建模</a:t>
            </a:r>
            <a:endParaRPr lang="zh-CN" sz="2400" b="1">
              <a:solidFill>
                <a:srgbClr val="E6EEF9"/>
              </a:solidFill>
              <a:latin typeface="微软雅黑" panose="020B0503020204020204" charset="-122"/>
              <a:ea typeface="微软雅黑" panose="020B0503020204020204" charset="-122"/>
            </a:endParaRPr>
          </a:p>
        </p:txBody>
      </p:sp>
      <p:sp>
        <p:nvSpPr>
          <p:cNvPr id="484" name="矩形 483"/>
          <p:cNvSpPr/>
          <p:nvPr/>
        </p:nvSpPr>
        <p:spPr>
          <a:xfrm>
            <a:off x="609600" y="1009650"/>
            <a:ext cx="533400" cy="28575"/>
          </a:xfrm>
          <a:prstGeom prst="rect">
            <a:avLst/>
          </a:prstGeom>
          <a:solidFill>
            <a:srgbClr val="22D3EE"/>
          </a:solidFill>
        </p:spPr>
        <p:txBody>
          <a:bodyPr/>
          <a:p/>
        </p:txBody>
      </p:sp>
      <p:sp>
        <p:nvSpPr>
          <p:cNvPr id="485" name="圆角矩形 484"/>
          <p:cNvSpPr/>
          <p:nvPr/>
        </p:nvSpPr>
        <p:spPr>
          <a:xfrm>
            <a:off x="7886700" y="1257300"/>
            <a:ext cx="3695700" cy="1714500"/>
          </a:xfrm>
          <a:prstGeom prst="roundRect">
            <a:avLst>
              <a:gd name="adj" fmla="val 5556"/>
            </a:avLst>
          </a:prstGeom>
          <a:solidFill>
            <a:srgbClr val="3B82F6">
              <a:alpha val="10000"/>
            </a:srgbClr>
          </a:solidFill>
          <a:ln w="12700">
            <a:solidFill>
              <a:srgbClr val="3B82F6">
                <a:alpha val="24000"/>
              </a:srgbClr>
            </a:solidFill>
            <a:prstDash val="solid"/>
          </a:ln>
        </p:spPr>
        <p:txBody>
          <a:bodyPr/>
          <a:p/>
        </p:txBody>
      </p:sp>
      <p:sp>
        <p:nvSpPr>
          <p:cNvPr id="486" name="文本框 485" descr="{&quot;isTemplate&quot;:true,&quot;type&quot;:&quot;text&quot;}"/>
          <p:cNvSpPr txBox="1"/>
          <p:nvPr/>
        </p:nvSpPr>
        <p:spPr>
          <a:xfrm>
            <a:off x="8077200" y="1428750"/>
            <a:ext cx="1285875" cy="257175"/>
          </a:xfrm>
          <a:prstGeom prst="rect">
            <a:avLst/>
          </a:prstGeom>
        </p:spPr>
        <p:txBody>
          <a:bodyPr wrap="none" lIns="0" tIns="0" rIns="0" bIns="0"/>
          <a:p>
            <a:pPr>
              <a:lnSpc>
                <a:spcPct val="100000"/>
              </a:lnSpc>
            </a:pPr>
            <a:r>
              <a:rPr lang="zh-CN" sz="1650" b="1">
                <a:solidFill>
                  <a:srgbClr val="E6EEF9"/>
                </a:solidFill>
                <a:latin typeface="微软雅黑" panose="020B0503020204020204" charset="-122"/>
                <a:ea typeface="微软雅黑" panose="020B0503020204020204" charset="-122"/>
              </a:rPr>
              <a:t>学长</a:t>
            </a:r>
            <a:r>
              <a:rPr lang="en-US" sz="1650" b="1">
                <a:solidFill>
                  <a:srgbClr val="E6EEF9"/>
                </a:solidFill>
                <a:latin typeface="微软雅黑" panose="020B0503020204020204" charset="-122"/>
                <a:ea typeface="微软雅黑" panose="020B0503020204020204" charset="-122"/>
              </a:rPr>
              <a:t> · 2–8 </a:t>
            </a:r>
            <a:r>
              <a:rPr lang="zh-CN" sz="1650" b="1">
                <a:solidFill>
                  <a:srgbClr val="E6EEF9"/>
                </a:solidFill>
                <a:latin typeface="微软雅黑" panose="020B0503020204020204" charset="-122"/>
                <a:ea typeface="微软雅黑" panose="020B0503020204020204" charset="-122"/>
              </a:rPr>
              <a:t>层</a:t>
            </a:r>
            <a:endParaRPr lang="zh-CN" sz="1650" b="1">
              <a:solidFill>
                <a:srgbClr val="E6EEF9"/>
              </a:solidFill>
              <a:latin typeface="微软雅黑" panose="020B0503020204020204" charset="-122"/>
              <a:ea typeface="微软雅黑" panose="020B0503020204020204" charset="-122"/>
            </a:endParaRPr>
          </a:p>
        </p:txBody>
      </p:sp>
      <p:sp>
        <p:nvSpPr>
          <p:cNvPr id="487" name="文本框 486" descr="{&quot;isTemplate&quot;:true,&quot;type&quot;:&quot;text&quot;}"/>
          <p:cNvSpPr txBox="1"/>
          <p:nvPr/>
        </p:nvSpPr>
        <p:spPr>
          <a:xfrm>
            <a:off x="10829925" y="1476375"/>
            <a:ext cx="561975" cy="161925"/>
          </a:xfrm>
          <a:prstGeom prst="rect">
            <a:avLst/>
          </a:prstGeom>
        </p:spPr>
        <p:txBody>
          <a:bodyPr wrap="none" lIns="0" tIns="0" rIns="0" bIns="0"/>
          <a:p>
            <a:pPr>
              <a:lnSpc>
                <a:spcPct val="100000"/>
              </a:lnSpc>
            </a:pPr>
            <a:r>
              <a:rPr lang="zh-CN" sz="1050">
                <a:solidFill>
                  <a:srgbClr val="3B82F6"/>
                </a:solidFill>
                <a:latin typeface="Segoe UI" panose="020B0502040204020203"/>
                <a:ea typeface="Segoe UI" panose="020B0502040204020203"/>
              </a:rPr>
              <a:t>共</a:t>
            </a:r>
            <a:r>
              <a:rPr lang="en-US" sz="1050">
                <a:solidFill>
                  <a:srgbClr val="3B82F6"/>
                </a:solidFill>
                <a:latin typeface="Segoe UI" panose="020B0502040204020203"/>
                <a:ea typeface="Segoe UI" panose="020B0502040204020203"/>
              </a:rPr>
              <a:t> 140 </a:t>
            </a:r>
            <a:r>
              <a:rPr lang="zh-CN" sz="1050">
                <a:solidFill>
                  <a:srgbClr val="3B82F6"/>
                </a:solidFill>
                <a:latin typeface="Segoe UI" panose="020B0502040204020203"/>
                <a:ea typeface="Segoe UI" panose="020B0502040204020203"/>
              </a:rPr>
              <a:t>人</a:t>
            </a:r>
            <a:endParaRPr lang="zh-CN" sz="1050">
              <a:solidFill>
                <a:srgbClr val="3B82F6"/>
              </a:solidFill>
              <a:latin typeface="Segoe UI" panose="020B0502040204020203"/>
              <a:ea typeface="Segoe UI" panose="020B0502040204020203"/>
            </a:endParaRPr>
          </a:p>
        </p:txBody>
      </p:sp>
      <p:sp>
        <p:nvSpPr>
          <p:cNvPr id="488" name="圆角矩形 487"/>
          <p:cNvSpPr/>
          <p:nvPr/>
        </p:nvSpPr>
        <p:spPr>
          <a:xfrm>
            <a:off x="7886700" y="3105150"/>
            <a:ext cx="3695700" cy="1714500"/>
          </a:xfrm>
          <a:prstGeom prst="roundRect">
            <a:avLst>
              <a:gd name="adj" fmla="val 5556"/>
            </a:avLst>
          </a:prstGeom>
          <a:solidFill>
            <a:srgbClr val="22D3EE">
              <a:alpha val="10000"/>
            </a:srgbClr>
          </a:solidFill>
          <a:ln w="12700">
            <a:solidFill>
              <a:srgbClr val="22D3EE">
                <a:alpha val="32000"/>
              </a:srgbClr>
            </a:solidFill>
            <a:prstDash val="solid"/>
          </a:ln>
        </p:spPr>
        <p:txBody>
          <a:bodyPr/>
          <a:p/>
        </p:txBody>
      </p:sp>
      <p:sp>
        <p:nvSpPr>
          <p:cNvPr id="489" name="文本框 488" descr="{&quot;isTemplate&quot;:true,&quot;type&quot;:&quot;text&quot;}"/>
          <p:cNvSpPr txBox="1"/>
          <p:nvPr/>
        </p:nvSpPr>
        <p:spPr>
          <a:xfrm>
            <a:off x="8077200" y="3276600"/>
            <a:ext cx="1409700" cy="257175"/>
          </a:xfrm>
          <a:prstGeom prst="rect">
            <a:avLst/>
          </a:prstGeom>
        </p:spPr>
        <p:txBody>
          <a:bodyPr wrap="none" lIns="0" tIns="0" rIns="0" bIns="0"/>
          <a:p>
            <a:pPr>
              <a:lnSpc>
                <a:spcPct val="100000"/>
              </a:lnSpc>
            </a:pPr>
            <a:r>
              <a:rPr lang="zh-CN" sz="1650" b="1">
                <a:solidFill>
                  <a:srgbClr val="22D3EE"/>
                </a:solidFill>
                <a:latin typeface="微软雅黑" panose="020B0503020204020204" charset="-122"/>
                <a:ea typeface="微软雅黑" panose="020B0503020204020204" charset="-122"/>
              </a:rPr>
              <a:t>学弟</a:t>
            </a:r>
            <a:r>
              <a:rPr lang="en-US" sz="1650" b="1">
                <a:solidFill>
                  <a:srgbClr val="22D3EE"/>
                </a:solidFill>
                <a:latin typeface="微软雅黑" panose="020B0503020204020204" charset="-122"/>
                <a:ea typeface="微软雅黑" panose="020B0503020204020204" charset="-122"/>
              </a:rPr>
              <a:t> · 9–15 </a:t>
            </a:r>
            <a:r>
              <a:rPr lang="zh-CN" sz="1650" b="1">
                <a:solidFill>
                  <a:srgbClr val="22D3EE"/>
                </a:solidFill>
                <a:latin typeface="微软雅黑" panose="020B0503020204020204" charset="-122"/>
                <a:ea typeface="微软雅黑" panose="020B0503020204020204" charset="-122"/>
              </a:rPr>
              <a:t>层</a:t>
            </a:r>
            <a:endParaRPr lang="zh-CN" sz="1650" b="1">
              <a:solidFill>
                <a:srgbClr val="22D3EE"/>
              </a:solidFill>
              <a:latin typeface="微软雅黑" panose="020B0503020204020204" charset="-122"/>
              <a:ea typeface="微软雅黑" panose="020B0503020204020204" charset="-122"/>
            </a:endParaRPr>
          </a:p>
        </p:txBody>
      </p:sp>
      <p:sp>
        <p:nvSpPr>
          <p:cNvPr id="490" name="文本框 489" descr="{&quot;isTemplate&quot;:true,&quot;type&quot;:&quot;text&quot;}"/>
          <p:cNvSpPr txBox="1"/>
          <p:nvPr/>
        </p:nvSpPr>
        <p:spPr>
          <a:xfrm>
            <a:off x="10829925" y="3324225"/>
            <a:ext cx="561975" cy="161925"/>
          </a:xfrm>
          <a:prstGeom prst="rect">
            <a:avLst/>
          </a:prstGeom>
        </p:spPr>
        <p:txBody>
          <a:bodyPr wrap="none" lIns="0" tIns="0" rIns="0" bIns="0"/>
          <a:p>
            <a:pPr>
              <a:lnSpc>
                <a:spcPct val="100000"/>
              </a:lnSpc>
            </a:pPr>
            <a:r>
              <a:rPr lang="zh-CN" sz="1050">
                <a:solidFill>
                  <a:srgbClr val="22D3EE"/>
                </a:solidFill>
                <a:latin typeface="Segoe UI" panose="020B0502040204020203"/>
                <a:ea typeface="Segoe UI" panose="020B0502040204020203"/>
              </a:rPr>
              <a:t>共</a:t>
            </a:r>
            <a:r>
              <a:rPr lang="en-US" sz="1050">
                <a:solidFill>
                  <a:srgbClr val="22D3EE"/>
                </a:solidFill>
                <a:latin typeface="Segoe UI" panose="020B0502040204020203"/>
                <a:ea typeface="Segoe UI" panose="020B0502040204020203"/>
              </a:rPr>
              <a:t> 560 </a:t>
            </a:r>
            <a:r>
              <a:rPr lang="zh-CN" sz="1050">
                <a:solidFill>
                  <a:srgbClr val="22D3EE"/>
                </a:solidFill>
                <a:latin typeface="Segoe UI" panose="020B0502040204020203"/>
                <a:ea typeface="Segoe UI" panose="020B0502040204020203"/>
              </a:rPr>
              <a:t>人</a:t>
            </a:r>
            <a:endParaRPr lang="zh-CN" sz="1050">
              <a:solidFill>
                <a:srgbClr val="22D3EE"/>
              </a:solidFill>
              <a:latin typeface="Segoe UI" panose="020B0502040204020203"/>
              <a:ea typeface="Segoe UI" panose="020B0502040204020203"/>
            </a:endParaRPr>
          </a:p>
        </p:txBody>
      </p:sp>
      <p:sp>
        <p:nvSpPr>
          <p:cNvPr id="491" name="圆角矩形 490"/>
          <p:cNvSpPr/>
          <p:nvPr/>
        </p:nvSpPr>
        <p:spPr>
          <a:xfrm>
            <a:off x="7915275" y="5076825"/>
            <a:ext cx="3695700" cy="1133475"/>
          </a:xfrm>
          <a:prstGeom prst="roundRect">
            <a:avLst>
              <a:gd name="adj" fmla="val 3361"/>
            </a:avLst>
          </a:prstGeom>
          <a:solidFill>
            <a:srgbClr val="22D3EE">
              <a:alpha val="10000"/>
            </a:srgbClr>
          </a:solidFill>
        </p:spPr>
        <p:txBody>
          <a:bodyPr/>
          <a:p/>
        </p:txBody>
      </p:sp>
      <p:sp>
        <p:nvSpPr>
          <p:cNvPr id="492" name="任意多边形 491"/>
          <p:cNvSpPr/>
          <p:nvPr/>
        </p:nvSpPr>
        <p:spPr>
          <a:xfrm>
            <a:off x="7915275" y="5076825"/>
            <a:ext cx="3695700" cy="1133475"/>
          </a:xfrm>
          <a:custGeom>
            <a:avLst/>
            <a:gdLst/>
            <a:ahLst/>
            <a:cxnLst/>
            <a:pathLst>
              <a:path w="388" h="119">
                <a:moveTo>
                  <a:pt x="4" y="0"/>
                </a:moveTo>
                <a:cubicBezTo>
                  <a:pt x="3" y="0"/>
                  <a:pt x="3" y="0"/>
                  <a:pt x="3" y="1"/>
                </a:cubicBezTo>
                <a:lnTo>
                  <a:pt x="3" y="118"/>
                </a:lnTo>
                <a:cubicBezTo>
                  <a:pt x="3" y="118"/>
                  <a:pt x="3" y="119"/>
                  <a:pt x="4" y="119"/>
                </a:cubicBezTo>
                <a:cubicBezTo>
                  <a:pt x="2" y="119"/>
                  <a:pt x="0" y="117"/>
                  <a:pt x="0" y="115"/>
                </a:cubicBezTo>
                <a:lnTo>
                  <a:pt x="0" y="4"/>
                </a:lnTo>
                <a:cubicBezTo>
                  <a:pt x="0" y="2"/>
                  <a:pt x="2" y="0"/>
                  <a:pt x="4" y="0"/>
                </a:cubicBezTo>
                <a:close/>
              </a:path>
            </a:pathLst>
          </a:custGeom>
          <a:solidFill>
            <a:srgbClr val="22D3EE"/>
          </a:solidFill>
        </p:spPr>
        <p:txBody>
          <a:bodyPr/>
          <a:p/>
        </p:txBody>
      </p:sp>
      <p:sp>
        <p:nvSpPr>
          <p:cNvPr id="493" name="圆角矩形 492"/>
          <p:cNvSpPr/>
          <p:nvPr/>
        </p:nvSpPr>
        <p:spPr>
          <a:xfrm>
            <a:off x="609600" y="1257300"/>
            <a:ext cx="7048500" cy="4476750"/>
          </a:xfrm>
          <a:prstGeom prst="roundRect">
            <a:avLst>
              <a:gd name="adj" fmla="val 2553"/>
            </a:avLst>
          </a:prstGeom>
          <a:solidFill>
            <a:srgbClr val="3B82F6">
              <a:alpha val="6000"/>
            </a:srgbClr>
          </a:solidFill>
          <a:ln w="12700">
            <a:solidFill>
              <a:srgbClr val="3B82F6">
                <a:alpha val="24000"/>
              </a:srgbClr>
            </a:solidFill>
            <a:prstDash val="solid"/>
          </a:ln>
        </p:spPr>
        <p:txBody>
          <a:bodyPr/>
          <a:p/>
        </p:txBody>
      </p:sp>
      <p:pic>
        <p:nvPicPr>
          <p:cNvPr id="494" name="图片 49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0650" y="1447800"/>
            <a:ext cx="6096000" cy="4286250"/>
          </a:xfrm>
          <a:prstGeom prst="rect">
            <a:avLst/>
          </a:prstGeom>
        </p:spPr>
      </p:pic>
      <p:sp>
        <p:nvSpPr>
          <p:cNvPr id="495" name="文本框 494" descr="{&quot;isTemplate&quot;:true,&quot;type&quot;:&quot;text&quot;}"/>
          <p:cNvSpPr txBox="1"/>
          <p:nvPr/>
        </p:nvSpPr>
        <p:spPr>
          <a:xfrm>
            <a:off x="1190625" y="1495425"/>
            <a:ext cx="200025" cy="152400"/>
          </a:xfrm>
          <a:prstGeom prst="rect">
            <a:avLst/>
          </a:prstGeom>
        </p:spPr>
        <p:txBody>
          <a:bodyPr wrap="none" lIns="0" tIns="0" rIns="0" bIns="0"/>
          <a:p>
            <a:pPr>
              <a:lnSpc>
                <a:spcPct val="100000"/>
              </a:lnSpc>
            </a:pPr>
            <a:r>
              <a:rPr lang="en-US" sz="975">
                <a:solidFill>
                  <a:srgbClr val="22D3EE">
                    <a:alpha val="80000"/>
                  </a:srgbClr>
                </a:solidFill>
                <a:latin typeface="Segoe UI" panose="020B0502040204020203"/>
                <a:ea typeface="Segoe UI" panose="020B0502040204020203"/>
              </a:rPr>
              <a:t>15F</a:t>
            </a:r>
            <a:endParaRPr lang="en-US" sz="975">
              <a:solidFill>
                <a:srgbClr val="22D3EE">
                  <a:alpha val="80000"/>
                </a:srgbClr>
              </a:solidFill>
              <a:latin typeface="Segoe UI" panose="020B0502040204020203"/>
              <a:ea typeface="Segoe UI" panose="020B0502040204020203"/>
            </a:endParaRPr>
          </a:p>
        </p:txBody>
      </p:sp>
      <p:sp>
        <p:nvSpPr>
          <p:cNvPr id="496" name="文本框 495" descr="{&quot;isTemplate&quot;:true,&quot;type&quot;:&quot;text&quot;}"/>
          <p:cNvSpPr txBox="1"/>
          <p:nvPr/>
        </p:nvSpPr>
        <p:spPr>
          <a:xfrm>
            <a:off x="1257300" y="3209925"/>
            <a:ext cx="133350" cy="152400"/>
          </a:xfrm>
          <a:prstGeom prst="rect">
            <a:avLst/>
          </a:prstGeom>
        </p:spPr>
        <p:txBody>
          <a:bodyPr wrap="none" lIns="0" tIns="0" rIns="0" bIns="0"/>
          <a:p>
            <a:pPr>
              <a:lnSpc>
                <a:spcPct val="100000"/>
              </a:lnSpc>
            </a:pPr>
            <a:r>
              <a:rPr lang="en-US" sz="975">
                <a:solidFill>
                  <a:srgbClr val="22D3EE">
                    <a:alpha val="80000"/>
                  </a:srgbClr>
                </a:solidFill>
                <a:latin typeface="Segoe UI" panose="020B0502040204020203"/>
                <a:ea typeface="Segoe UI" panose="020B0502040204020203"/>
              </a:rPr>
              <a:t>9F</a:t>
            </a:r>
            <a:endParaRPr lang="en-US" sz="975">
              <a:solidFill>
                <a:srgbClr val="22D3EE">
                  <a:alpha val="80000"/>
                </a:srgbClr>
              </a:solidFill>
              <a:latin typeface="Segoe UI" panose="020B0502040204020203"/>
              <a:ea typeface="Segoe UI" panose="020B0502040204020203"/>
            </a:endParaRPr>
          </a:p>
        </p:txBody>
      </p:sp>
      <p:sp>
        <p:nvSpPr>
          <p:cNvPr id="497" name="文本框 496" descr="{&quot;isTemplate&quot;:true,&quot;type&quot;:&quot;text&quot;}"/>
          <p:cNvSpPr txBox="1"/>
          <p:nvPr/>
        </p:nvSpPr>
        <p:spPr>
          <a:xfrm>
            <a:off x="1257300" y="3495675"/>
            <a:ext cx="133350" cy="152400"/>
          </a:xfrm>
          <a:prstGeom prst="rect">
            <a:avLst/>
          </a:prstGeom>
        </p:spPr>
        <p:txBody>
          <a:bodyPr wrap="none" lIns="0" tIns="0" rIns="0" bIns="0"/>
          <a:p>
            <a:pPr>
              <a:lnSpc>
                <a:spcPct val="100000"/>
              </a:lnSpc>
            </a:pPr>
            <a:r>
              <a:rPr lang="en-US" sz="975">
                <a:solidFill>
                  <a:srgbClr val="3B82F6">
                    <a:alpha val="90000"/>
                  </a:srgbClr>
                </a:solidFill>
                <a:latin typeface="Segoe UI" panose="020B0502040204020203"/>
                <a:ea typeface="Segoe UI" panose="020B0502040204020203"/>
              </a:rPr>
              <a:t>8F</a:t>
            </a:r>
            <a:endParaRPr lang="en-US" sz="975">
              <a:solidFill>
                <a:srgbClr val="3B82F6">
                  <a:alpha val="90000"/>
                </a:srgbClr>
              </a:solidFill>
              <a:latin typeface="Segoe UI" panose="020B0502040204020203"/>
              <a:ea typeface="Segoe UI" panose="020B0502040204020203"/>
            </a:endParaRPr>
          </a:p>
        </p:txBody>
      </p:sp>
      <p:sp>
        <p:nvSpPr>
          <p:cNvPr id="498" name="文本框 497" descr="{&quot;isTemplate&quot;:true,&quot;type&quot;:&quot;text&quot;}"/>
          <p:cNvSpPr txBox="1"/>
          <p:nvPr/>
        </p:nvSpPr>
        <p:spPr>
          <a:xfrm>
            <a:off x="1257300" y="5210175"/>
            <a:ext cx="133350" cy="152400"/>
          </a:xfrm>
          <a:prstGeom prst="rect">
            <a:avLst/>
          </a:prstGeom>
        </p:spPr>
        <p:txBody>
          <a:bodyPr wrap="none" lIns="0" tIns="0" rIns="0" bIns="0"/>
          <a:p>
            <a:pPr>
              <a:lnSpc>
                <a:spcPct val="100000"/>
              </a:lnSpc>
            </a:pPr>
            <a:r>
              <a:rPr lang="en-US" sz="975">
                <a:solidFill>
                  <a:srgbClr val="3B82F6">
                    <a:alpha val="90000"/>
                  </a:srgbClr>
                </a:solidFill>
                <a:latin typeface="Segoe UI" panose="020B0502040204020203"/>
                <a:ea typeface="Segoe UI" panose="020B0502040204020203"/>
              </a:rPr>
              <a:t>2F</a:t>
            </a:r>
            <a:endParaRPr lang="en-US" sz="975">
              <a:solidFill>
                <a:srgbClr val="3B82F6">
                  <a:alpha val="90000"/>
                </a:srgbClr>
              </a:solidFill>
              <a:latin typeface="Segoe UI" panose="020B0502040204020203"/>
              <a:ea typeface="Segoe UI" panose="020B0502040204020203"/>
            </a:endParaRPr>
          </a:p>
        </p:txBody>
      </p:sp>
      <p:sp>
        <p:nvSpPr>
          <p:cNvPr id="499" name="文本框 498" descr="{&quot;isTemplate&quot;:true,&quot;type&quot;:&quot;text&quot;}"/>
          <p:cNvSpPr txBox="1"/>
          <p:nvPr/>
        </p:nvSpPr>
        <p:spPr>
          <a:xfrm>
            <a:off x="1257300" y="5495925"/>
            <a:ext cx="133350" cy="152400"/>
          </a:xfrm>
          <a:prstGeom prst="rect">
            <a:avLst/>
          </a:prstGeom>
        </p:spPr>
        <p:txBody>
          <a:bodyPr wrap="none" lIns="0" tIns="0" rIns="0" bIns="0"/>
          <a:p>
            <a:pPr>
              <a:lnSpc>
                <a:spcPct val="100000"/>
              </a:lnSpc>
            </a:pPr>
            <a:r>
              <a:rPr lang="en-US" sz="975">
                <a:solidFill>
                  <a:srgbClr val="E6EEF9">
                    <a:alpha val="45000"/>
                  </a:srgbClr>
                </a:solidFill>
                <a:latin typeface="Segoe UI" panose="020B0502040204020203"/>
                <a:ea typeface="Segoe UI" panose="020B0502040204020203"/>
              </a:rPr>
              <a:t>1F</a:t>
            </a:r>
            <a:endParaRPr lang="en-US" sz="975">
              <a:solidFill>
                <a:srgbClr val="E6EEF9">
                  <a:alpha val="45000"/>
                </a:srgbClr>
              </a:solidFill>
              <a:latin typeface="Segoe UI" panose="020B0502040204020203"/>
              <a:ea typeface="Segoe UI" panose="020B0502040204020203"/>
            </a:endParaRPr>
          </a:p>
        </p:txBody>
      </p:sp>
      <p:sp>
        <p:nvSpPr>
          <p:cNvPr id="500" name="文本框 499" descr="{&quot;isTemplate&quot;:true,&quot;type&quot;:&quot;text&quot;}"/>
          <p:cNvSpPr txBox="1"/>
          <p:nvPr/>
        </p:nvSpPr>
        <p:spPr>
          <a:xfrm>
            <a:off x="5867400" y="3209925"/>
            <a:ext cx="666750" cy="171450"/>
          </a:xfrm>
          <a:prstGeom prst="rect">
            <a:avLst/>
          </a:prstGeom>
        </p:spPr>
        <p:txBody>
          <a:bodyPr wrap="none" lIns="0" tIns="0" rIns="0" bIns="0"/>
          <a:p>
            <a:pPr>
              <a:lnSpc>
                <a:spcPct val="100000"/>
              </a:lnSpc>
            </a:pPr>
            <a:r>
              <a:rPr lang="zh-CN" sz="1125">
                <a:solidFill>
                  <a:srgbClr val="22D3EE"/>
                </a:solidFill>
                <a:latin typeface="Segoe UI" panose="020B0502040204020203"/>
                <a:ea typeface="Segoe UI" panose="020B0502040204020203"/>
              </a:rPr>
              <a:t>每层</a:t>
            </a:r>
            <a:r>
              <a:rPr lang="en-US" sz="1125">
                <a:solidFill>
                  <a:srgbClr val="22D3EE"/>
                </a:solidFill>
                <a:latin typeface="Segoe UI" panose="020B0502040204020203"/>
                <a:ea typeface="Segoe UI" panose="020B0502040204020203"/>
              </a:rPr>
              <a:t> 80 </a:t>
            </a:r>
            <a:r>
              <a:rPr lang="zh-CN" sz="1125">
                <a:solidFill>
                  <a:srgbClr val="22D3EE"/>
                </a:solidFill>
                <a:latin typeface="Segoe UI" panose="020B0502040204020203"/>
                <a:ea typeface="Segoe UI" panose="020B0502040204020203"/>
              </a:rPr>
              <a:t>人</a:t>
            </a:r>
            <a:endParaRPr lang="zh-CN" sz="1125">
              <a:solidFill>
                <a:srgbClr val="22D3EE"/>
              </a:solidFill>
              <a:latin typeface="Segoe UI" panose="020B0502040204020203"/>
              <a:ea typeface="Segoe UI" panose="020B0502040204020203"/>
            </a:endParaRPr>
          </a:p>
        </p:txBody>
      </p:sp>
      <p:sp>
        <p:nvSpPr>
          <p:cNvPr id="501" name="文本框 500" descr="{&quot;isTemplate&quot;:true,&quot;type&quot;:&quot;text&quot;}"/>
          <p:cNvSpPr txBox="1"/>
          <p:nvPr/>
        </p:nvSpPr>
        <p:spPr>
          <a:xfrm>
            <a:off x="2867025" y="5210175"/>
            <a:ext cx="666750" cy="171450"/>
          </a:xfrm>
          <a:prstGeom prst="rect">
            <a:avLst/>
          </a:prstGeom>
        </p:spPr>
        <p:txBody>
          <a:bodyPr wrap="none" lIns="0" tIns="0" rIns="0" bIns="0"/>
          <a:p>
            <a:pPr>
              <a:lnSpc>
                <a:spcPct val="100000"/>
              </a:lnSpc>
            </a:pPr>
            <a:r>
              <a:rPr lang="zh-CN" sz="1125">
                <a:solidFill>
                  <a:srgbClr val="3B82F6"/>
                </a:solidFill>
                <a:latin typeface="Segoe UI" panose="020B0502040204020203"/>
                <a:ea typeface="Segoe UI" panose="020B0502040204020203"/>
              </a:rPr>
              <a:t>每层</a:t>
            </a:r>
            <a:r>
              <a:rPr lang="en-US" sz="1125">
                <a:solidFill>
                  <a:srgbClr val="3B82F6"/>
                </a:solidFill>
                <a:latin typeface="Segoe UI" panose="020B0502040204020203"/>
                <a:ea typeface="Segoe UI" panose="020B0502040204020203"/>
              </a:rPr>
              <a:t> 20 </a:t>
            </a:r>
            <a:r>
              <a:rPr lang="zh-CN" sz="1125">
                <a:solidFill>
                  <a:srgbClr val="3B82F6"/>
                </a:solidFill>
                <a:latin typeface="Segoe UI" panose="020B0502040204020203"/>
                <a:ea typeface="Segoe UI" panose="020B0502040204020203"/>
              </a:rPr>
              <a:t>人</a:t>
            </a:r>
            <a:endParaRPr lang="zh-CN" sz="1125">
              <a:solidFill>
                <a:srgbClr val="3B82F6"/>
              </a:solidFill>
              <a:latin typeface="Segoe UI" panose="020B0502040204020203"/>
              <a:ea typeface="Segoe UI" panose="020B0502040204020203"/>
            </a:endParaRPr>
          </a:p>
        </p:txBody>
      </p:sp>
      <p:sp>
        <p:nvSpPr>
          <p:cNvPr id="502" name="文本框 501" descr="{&quot;isTemplate&quot;:true,&quot;type&quot;:&quot;text&quot;}"/>
          <p:cNvSpPr txBox="1"/>
          <p:nvPr/>
        </p:nvSpPr>
        <p:spPr>
          <a:xfrm>
            <a:off x="8077200" y="1800225"/>
            <a:ext cx="3314700" cy="885825"/>
          </a:xfrm>
          <a:prstGeom prst="rect">
            <a:avLst/>
          </a:prstGeom>
        </p:spPr>
        <p:txBody>
          <a:bodyPr wrap="none" lIns="0" tIns="0" rIns="0" bIns="0"/>
          <a:p>
            <a:pPr>
              <a:lnSpc>
                <a:spcPct val="160000"/>
              </a:lnSpc>
            </a:pPr>
            <a:r>
              <a:rPr lang="en-US" sz="1200">
                <a:solidFill>
                  <a:srgbClr val="E6EEF9">
                    <a:alpha val="62000"/>
                  </a:srgbClr>
                </a:solidFill>
                <a:latin typeface="微软雅黑" panose="020B0503020204020204" charset="-122"/>
                <a:ea typeface="微软雅黑" panose="020B0503020204020204" charset="-122"/>
              </a:rPr>
              <a:t>· 只下楼，目标楼层固定为 1 层</a:t>
            </a:r>
            <a:endParaRPr lang="zh-CN" sz="1200">
              <a:solidFill>
                <a:srgbClr val="E6EEF9">
                  <a:alpha val="62000"/>
                </a:srgbClr>
              </a:solidFill>
              <a:latin typeface="微软雅黑" panose="020B0503020204020204" charset="-122"/>
              <a:ea typeface="微软雅黑" panose="020B0503020204020204" charset="-122"/>
            </a:endParaRPr>
          </a:p>
          <a:p>
            <a:pPr>
              <a:lnSpc>
                <a:spcPct val="160000"/>
              </a:lnSpc>
            </a:pPr>
            <a:r>
              <a:rPr lang="en-US" sz="1200">
                <a:solidFill>
                  <a:srgbClr val="E6EEF9">
                    <a:alpha val="62000"/>
                  </a:srgbClr>
                </a:solidFill>
                <a:latin typeface="微软雅黑" panose="020B0503020204020204" charset="-122"/>
                <a:ea typeface="微软雅黑" panose="020B0503020204020204" charset="-122"/>
              </a:rPr>
              <a:t>· 下楼人流在全时段均匀分布</a:t>
            </a:r>
            <a:endParaRPr lang="zh-CN" sz="1200">
              <a:solidFill>
                <a:srgbClr val="E6EEF9">
                  <a:alpha val="62000"/>
                </a:srgbClr>
              </a:solidFill>
              <a:latin typeface="微软雅黑" panose="020B0503020204020204" charset="-122"/>
              <a:ea typeface="微软雅黑" panose="020B0503020204020204" charset="-122"/>
            </a:endParaRPr>
          </a:p>
          <a:p>
            <a:pPr>
              <a:lnSpc>
                <a:spcPct val="160000"/>
              </a:lnSpc>
            </a:pPr>
            <a:r>
              <a:rPr lang="en-US" sz="1200">
                <a:solidFill>
                  <a:srgbClr val="E6EEF9">
                    <a:alpha val="62000"/>
                  </a:srgbClr>
                </a:solidFill>
                <a:latin typeface="微软雅黑" panose="020B0503020204020204" charset="-122"/>
                <a:ea typeface="微软雅黑" panose="020B0503020204020204" charset="-122"/>
              </a:rPr>
              <a:t>· 学长之间互不相干，各自独立出行</a:t>
            </a:r>
            <a:endParaRPr lang="zh-CN" sz="1200">
              <a:solidFill>
                <a:srgbClr val="E6EEF9">
                  <a:alpha val="62000"/>
                </a:srgbClr>
              </a:solidFill>
              <a:latin typeface="微软雅黑" panose="020B0503020204020204" charset="-122"/>
              <a:ea typeface="微软雅黑" panose="020B0503020204020204" charset="-122"/>
            </a:endParaRPr>
          </a:p>
        </p:txBody>
      </p:sp>
      <p:sp>
        <p:nvSpPr>
          <p:cNvPr id="503" name="文本框 502" descr="{&quot;isTemplate&quot;:true,&quot;type&quot;:&quot;text&quot;}"/>
          <p:cNvSpPr txBox="1"/>
          <p:nvPr/>
        </p:nvSpPr>
        <p:spPr>
          <a:xfrm>
            <a:off x="8077200" y="3648075"/>
            <a:ext cx="3314700" cy="885825"/>
          </a:xfrm>
          <a:prstGeom prst="rect">
            <a:avLst/>
          </a:prstGeom>
        </p:spPr>
        <p:txBody>
          <a:bodyPr wrap="none" lIns="0" tIns="0" rIns="0" bIns="0"/>
          <a:p>
            <a:pPr>
              <a:lnSpc>
                <a:spcPct val="160000"/>
              </a:lnSpc>
            </a:pPr>
            <a:r>
              <a:rPr lang="en-US" sz="1200">
                <a:solidFill>
                  <a:srgbClr val="E6EEF9">
                    <a:alpha val="72000"/>
                  </a:srgbClr>
                </a:solidFill>
                <a:latin typeface="微软雅黑" panose="020B0503020204020204" charset="-122"/>
                <a:ea typeface="微软雅黑" panose="020B0503020204020204" charset="-122"/>
              </a:rPr>
              <a:t>· </a:t>
            </a:r>
            <a:r>
              <a:rPr lang="zh-CN" sz="1200">
                <a:solidFill>
                  <a:srgbClr val="E6EEF9">
                    <a:alpha val="72000"/>
                  </a:srgbClr>
                </a:solidFill>
                <a:latin typeface="微软雅黑" panose="020B0503020204020204" charset="-122"/>
                <a:ea typeface="微软雅黑" panose="020B0503020204020204" charset="-122"/>
              </a:rPr>
              <a:t>只上楼，目标楼层固定为自己宿舍所在层</a:t>
            </a:r>
            <a:endParaRPr lang="zh-CN" sz="1200">
              <a:solidFill>
                <a:srgbClr val="E6EEF9">
                  <a:alpha val="72000"/>
                </a:srgbClr>
              </a:solidFill>
              <a:latin typeface="微软雅黑" panose="020B0503020204020204" charset="-122"/>
              <a:ea typeface="微软雅黑" panose="020B0503020204020204" charset="-122"/>
            </a:endParaRPr>
          </a:p>
          <a:p>
            <a:pPr>
              <a:lnSpc>
                <a:spcPct val="160000"/>
              </a:lnSpc>
            </a:pPr>
            <a:r>
              <a:rPr lang="en-US" sz="1200">
                <a:solidFill>
                  <a:srgbClr val="E6EEF9">
                    <a:alpha val="72000"/>
                  </a:srgbClr>
                </a:solidFill>
                <a:latin typeface="微软雅黑" panose="020B0503020204020204" charset="-122"/>
                <a:ea typeface="微软雅黑" panose="020B0503020204020204" charset="-122"/>
              </a:rPr>
              <a:t>· </a:t>
            </a:r>
            <a:r>
              <a:rPr lang="zh-CN" sz="1200">
                <a:solidFill>
                  <a:srgbClr val="E6EEF9">
                    <a:alpha val="72000"/>
                  </a:srgbClr>
                </a:solidFill>
                <a:latin typeface="微软雅黑" panose="020B0503020204020204" charset="-122"/>
                <a:ea typeface="微软雅黑" panose="020B0503020204020204" charset="-122"/>
              </a:rPr>
              <a:t>上楼人流在高峰时段分布均匀</a:t>
            </a:r>
            <a:endParaRPr lang="zh-CN" sz="1200">
              <a:solidFill>
                <a:srgbClr val="E6EEF9">
                  <a:alpha val="72000"/>
                </a:srgbClr>
              </a:solidFill>
              <a:latin typeface="微软雅黑" panose="020B0503020204020204" charset="-122"/>
              <a:ea typeface="微软雅黑" panose="020B0503020204020204" charset="-122"/>
            </a:endParaRPr>
          </a:p>
          <a:p>
            <a:pPr>
              <a:lnSpc>
                <a:spcPct val="160000"/>
              </a:lnSpc>
            </a:pPr>
            <a:r>
              <a:rPr lang="en-US" sz="1200">
                <a:solidFill>
                  <a:srgbClr val="E6EEF9">
                    <a:alpha val="72000"/>
                  </a:srgbClr>
                </a:solidFill>
                <a:latin typeface="微软雅黑" panose="020B0503020204020204" charset="-122"/>
                <a:ea typeface="微软雅黑" panose="020B0503020204020204" charset="-122"/>
              </a:rPr>
              <a:t>· </a:t>
            </a:r>
            <a:r>
              <a:rPr lang="zh-CN" sz="1200">
                <a:solidFill>
                  <a:srgbClr val="E6EEF9">
                    <a:alpha val="72000"/>
                  </a:srgbClr>
                </a:solidFill>
                <a:latin typeface="微软雅黑" panose="020B0503020204020204" charset="-122"/>
                <a:ea typeface="微软雅黑" panose="020B0503020204020204" charset="-122"/>
              </a:rPr>
              <a:t>结伴上楼，结伴人数</a:t>
            </a:r>
            <a:r>
              <a:rPr lang="en-US" sz="1200">
                <a:solidFill>
                  <a:srgbClr val="E6EEF9">
                    <a:alpha val="72000"/>
                  </a:srgbClr>
                </a:solidFill>
                <a:latin typeface="微软雅黑" panose="020B0503020204020204" charset="-122"/>
                <a:ea typeface="微软雅黑" panose="020B0503020204020204" charset="-122"/>
              </a:rPr>
              <a:t> 2</a:t>
            </a:r>
            <a:r>
              <a:rPr lang="zh-CN" sz="1200">
                <a:solidFill>
                  <a:srgbClr val="E6EEF9">
                    <a:alpha val="72000"/>
                  </a:srgbClr>
                </a:solidFill>
                <a:latin typeface="微软雅黑" panose="020B0503020204020204" charset="-122"/>
                <a:ea typeface="微软雅黑" panose="020B0503020204020204" charset="-122"/>
              </a:rPr>
              <a:t>～</a:t>
            </a:r>
            <a:r>
              <a:rPr lang="en-US" sz="1200">
                <a:solidFill>
                  <a:srgbClr val="E6EEF9">
                    <a:alpha val="72000"/>
                  </a:srgbClr>
                </a:solidFill>
                <a:latin typeface="微软雅黑" panose="020B0503020204020204" charset="-122"/>
                <a:ea typeface="微软雅黑" panose="020B0503020204020204" charset="-122"/>
              </a:rPr>
              <a:t>5 </a:t>
            </a:r>
            <a:r>
              <a:rPr lang="zh-CN" sz="1200">
                <a:solidFill>
                  <a:srgbClr val="E6EEF9">
                    <a:alpha val="72000"/>
                  </a:srgbClr>
                </a:solidFill>
                <a:latin typeface="微软雅黑" panose="020B0503020204020204" charset="-122"/>
                <a:ea typeface="微软雅黑" panose="020B0503020204020204" charset="-122"/>
              </a:rPr>
              <a:t>人不等</a:t>
            </a:r>
            <a:endParaRPr lang="zh-CN" sz="1200">
              <a:solidFill>
                <a:srgbClr val="E6EEF9">
                  <a:alpha val="72000"/>
                </a:srgbClr>
              </a:solidFill>
              <a:latin typeface="微软雅黑" panose="020B0503020204020204" charset="-122"/>
              <a:ea typeface="微软雅黑" panose="020B0503020204020204" charset="-122"/>
            </a:endParaRPr>
          </a:p>
        </p:txBody>
      </p:sp>
      <p:sp>
        <p:nvSpPr>
          <p:cNvPr id="504" name="文本框 503" descr="{&quot;isTemplate&quot;:true,&quot;type&quot;:&quot;text&quot;}"/>
          <p:cNvSpPr txBox="1"/>
          <p:nvPr/>
        </p:nvSpPr>
        <p:spPr>
          <a:xfrm>
            <a:off x="8105775" y="5229225"/>
            <a:ext cx="3286125" cy="828675"/>
          </a:xfrm>
          <a:prstGeom prst="rect">
            <a:avLst/>
          </a:prstGeom>
        </p:spPr>
        <p:txBody>
          <a:bodyPr wrap="square" lIns="0" tIns="0" rIns="0" bIns="0">
            <a:normAutofit/>
          </a:bodyPr>
          <a:p>
            <a:pPr>
              <a:lnSpc>
                <a:spcPct val="160000"/>
              </a:lnSpc>
            </a:pPr>
            <a:r>
              <a:rPr lang="zh-CN" sz="1125">
                <a:solidFill>
                  <a:srgbClr val="E6EEF9">
                    <a:alpha val="85000"/>
                  </a:srgbClr>
                </a:solidFill>
                <a:latin typeface="微软雅黑" panose="020B0503020204020204" charset="-122"/>
                <a:ea typeface="微软雅黑" panose="020B0503020204020204" charset="-122"/>
              </a:rPr>
              <a:t>上行</a:t>
            </a:r>
            <a:r>
              <a:rPr lang="en-US" sz="1125">
                <a:solidFill>
                  <a:srgbClr val="E6EEF9">
                    <a:alpha val="85000"/>
                  </a:srgbClr>
                </a:solidFill>
                <a:latin typeface="微软雅黑" panose="020B0503020204020204" charset="-122"/>
                <a:ea typeface="微软雅黑" panose="020B0503020204020204" charset="-122"/>
              </a:rPr>
              <a:t> 560 </a:t>
            </a:r>
            <a:r>
              <a:rPr lang="zh-CN" sz="1125">
                <a:solidFill>
                  <a:srgbClr val="E6EEF9">
                    <a:alpha val="85000"/>
                  </a:srgbClr>
                </a:solidFill>
                <a:latin typeface="微软雅黑" panose="020B0503020204020204" charset="-122"/>
                <a:ea typeface="微软雅黑" panose="020B0503020204020204" charset="-122"/>
              </a:rPr>
              <a:t>人集中压向高层、下行</a:t>
            </a:r>
            <a:r>
              <a:rPr lang="en-US" sz="1125">
                <a:solidFill>
                  <a:srgbClr val="E6EEF9">
                    <a:alpha val="85000"/>
                  </a:srgbClr>
                </a:solidFill>
                <a:latin typeface="微软雅黑" panose="020B0503020204020204" charset="-122"/>
                <a:ea typeface="微软雅黑" panose="020B0503020204020204" charset="-122"/>
              </a:rPr>
              <a:t> 140 </a:t>
            </a:r>
            <a:r>
              <a:rPr lang="zh-CN" sz="1125">
                <a:solidFill>
                  <a:srgbClr val="E6EEF9">
                    <a:alpha val="85000"/>
                  </a:srgbClr>
                </a:solidFill>
                <a:latin typeface="微软雅黑" panose="020B0503020204020204" charset="-122"/>
                <a:ea typeface="微软雅黑" panose="020B0503020204020204" charset="-122"/>
              </a:rPr>
              <a:t>人分散在低层——方向与人数双重不对称，是「停停走走」的根源。</a:t>
            </a:r>
            <a:endParaRPr lang="zh-CN" sz="1125">
              <a:solidFill>
                <a:srgbClr val="E6EEF9">
                  <a:alpha val="85000"/>
                </a:srgbClr>
              </a:solidFill>
              <a:latin typeface="微软雅黑" panose="020B0503020204020204" charset="-122"/>
              <a:ea typeface="微软雅黑" panose="020B0503020204020204" charset="-122"/>
            </a:endParaRPr>
          </a:p>
        </p:txBody>
      </p:sp>
      <p:sp>
        <p:nvSpPr>
          <p:cNvPr id="505" name="任意多边形 504"/>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506" name="文本框 505"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507" name="文本框 506"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12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08"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radialGradient id='rg2' cx='0.2' cy='0.45' r='0.55'&gt;&#10;                    &lt;stop offset='0%' stopColor='#22D3EE' stopOpacity='0.16' /&gt;&#10;                    &lt;stop offset='100%' stopColor='#22D3EE' stopOpacity='0' /&gt;&#10;                &lt;/radialGradient&gt;&#10;            &lt;/defs&gt;&#10;            &lt;rect width='1280' height='720' fill='url(#grid)' /&gt;&#10;            &lt;rect width='1280' height='720' fill='url(#rg2)' /&gt;&#10;        &lt;/svg&gt;&#10;    &lt;/Box&gt;&#10;&#10;    &lt;Box style={{ position: 'relative', zIndex: 1, height: 84, display: 'flex', flexDirection: 'column' }}&gt;&#10;        &lt;Text style={{ fontSize: 14, color: '#22D3EE', letterSpacing: 3, fontFamily: 'Segoe UI' }}&gt;CHAPTER 02 · 建模&lt;/Text&gt;&#10;        &lt;Box style={{ height: 8 }} /&gt;&#10;        &lt;Text style={{ fontSize: 32, fontWeight: 'bold', color: '#E6EEF9' }}&gt;仿真设计：如何检验一个想法&lt;/Text&gt;&#10;        &lt;Box style={{ height: 10 }} /&gt;&#10;        &lt;Box style={{ width: '56px', height: '3px', background: '#22D3EE' }} /&gt;&#10;    &lt;/Box&gt;&#10;&#10;    &lt;Box style={{ position: 'relative', zIndex: 1, height: 520, marginTop: 16, flexDirection: 'row', gap: 26 }}&gt;&#10;        &lt;Box style={{ width: '400px', display: 'flex', flexDirection: 'column', justifyContent: 'center' }}&gt;&#10;            &lt;Text style={{ fontSize: 132, fontWeight: 'bold', color: '#22D3EE', lineHeight: 1.0, fontFamily: 'Segoe UI', letterSpacing: -3 }}&gt;1000&lt;/Text&gt;&#10;            &lt;Box style={{ height: 12 }} /&gt;&#10;            &lt;Text style={{ fontSize: 28, fontWeight: 'bold', color: '#E6EEF9' }}&gt;次独立重复实验&lt;/Text&gt;&#10;            &lt;Box style={{ height: 22 }} /&gt;&#10;            &lt;Box style={{ width: '56px', height: '4px', background: '#22D3EE' }} /&gt;&#10;            &lt;Box style={{ height: 22 }} /&gt;&#10;            &lt;Text style={{ fontSize: 18, color: '#E6EEF9', opacity: 0.66, lineHeight: 1.65 }}&gt;&#10;                不是跑一次碰运气，而是跑一千次看结论稳不稳。&#10;            &lt;/Text&gt;&#10;        &lt;/Box&gt;&#10;&#10;        &lt;Box style={{ flex: 1, display: 'flex', flexDirection: 'column', gap: 12 }}&gt;&#10;            &lt;Box style={{ height: 88, padding: '14px 20px', background: 'rgba(59,130,246,0.10)', border: '1px solid rgba(59,130,246,0.24)', borderRadius: 10 }}&gt;&#10;                &lt;Text style={{ fontSize: 20, fontWeight: 'bold', color: '#E6EEF9' }}&gt;配对设计&lt;/Text&gt;&#10;                &lt;Box style={{ height: 6 }} /&gt;&#10;                &lt;Text style={{ fontSize: 16, color: '#E6EEF9', opacity: 0.66, lineHeight: 1.5 }}&gt;&#10;                    同一个随机种子下同时运行「改造前」与「改造后」两套系统，逐 seed 配对比较，抵消随机波动&#10;                &lt;/Text&gt;&#10;            &lt;/Box&gt;&#10;&#10;            &lt;Box style={{ height: 88, padding: '14px 20px', background: 'rgba(59,130,246,0.10)', border: '1px solid rgba(59,130,246,0.24)', borderRadius: 10 }}&gt;&#10;                &lt;Text style={{ fontSize: 20, fontWeight: 'bold', color: '#E6EEF9' }}&gt;双场景&lt;/Text&gt;&#10;                &lt;Box style={{ height: 6 }} /&gt;&#10;                &lt;Text style={{ fontSize: 16, color: '#E6EEF9', opacity: 0.66, lineHeight: 1.5 }}&gt;&#10;                    普通时段 3 小时（零散出行）与高峰时段 1 小时（集中上下课），两种压力分别检验&#10;                &lt;/Text&gt;&#10;            &lt;/Box&gt;&#10;&#10;            &lt;Box style={{ height: 88, padding: '14px 20px', background: 'rgba(59,130,246,0.10)', border: '1px solid rgba(59,130,246,0.24)', borderRadius: 10 }}&gt;&#10;                &lt;Text style={{ fontSize: 20, fontWeight: 'bold', color: '#E6EEF9' }}&gt;基准算法&lt;/Text&gt;&#10;                &lt;Box style={{ height: 6 }} /&gt;&#10;                &lt;Text style={{ fontSize: 16, color: '#E6EEF9', opacity: 0.66, lineHeight: 1.5 }}&gt;&#10;                    LOOK：保持当前方向运行，直到该方向再无请求才折返 —— 改造前的对照基准&#10;                &lt;/Text&gt;&#10;            &lt;/Box&gt;&#10;&#10;            &lt;Box style={{ height: 110, padding: '14px 20px', background: 'rgba(34,211,238,0.10)', border: '1px solid rgba(34,211,238,0.32)', borderRadius: 10 }}&gt;&#10;                &lt;Text style={{ fontSize: 20, fontWeight: 'bold', color: '#22D3EE' }}&gt;评价指标（8 项）&lt;/Text&gt;&#10;                &lt;Box style={{ height: 8 }} /&gt;&#10;                &lt;Text style={{ fontSize: 16, color: '#E6EEF9', opacity: 0.72, lineHeight: 1.55 }}&gt;&#10;                    平均候梯时间 · P20 / P50 / P90 / P95 · 最大候梯时间 · 开关门总数 · 无效停靠次数 · 平均载客人数 · 电梯趟数&#10;                &lt;/Text&gt;&#10;            &lt;/Box&gt;&#10;&#10;            &lt;Box style={{ marginTop: 'auto', padding: '14px 20px', background: 'rgba(34,211,238,0.10)', borderLeft: '3px solid #22D3EE', borderRadius: 4 }}&gt;&#10;                &lt;Text style={{ fontSize: 16, color: '#E6EEF9', opacity: 0.85, lineHeight: 1.55 }}&gt;&#10;                    之所以同时看分位数而不只看平均：等待有多糟糕，是由最坏的那批人决定的 —— 均值会掩盖长尾。&#10;                &lt;/Text&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09 / 18&lt;/Text&gt;&#10;    &lt;/Box&gt;&#10;&lt;/Slide&gt;&#10;"/>
        <p:cNvGrpSpPr/>
        <p:nvPr/>
      </p:nvGrpSpPr>
      <p:grpSpPr>
        <a:xfrm>
          <a:off x="0" y="0"/>
          <a:ext cx="0" cy="0"/>
          <a:chOff x="0" y="0"/>
          <a:chExt cx="0" cy="0"/>
        </a:xfrm>
      </p:grpSpPr>
      <p:sp>
        <p:nvSpPr>
          <p:cNvPr id="509" name="矩形 508"/>
          <p:cNvSpPr/>
          <p:nvPr/>
        </p:nvSpPr>
        <p:spPr>
          <a:xfrm>
            <a:off x="0" y="0"/>
            <a:ext cx="12192000" cy="6858000"/>
          </a:xfrm>
          <a:prstGeom prst="rect">
            <a:avLst/>
          </a:prstGeom>
          <a:solidFill>
            <a:srgbClr val="0A1424"/>
          </a:solidFill>
        </p:spPr>
        <p:txBody>
          <a:bodyPr/>
          <a:p/>
        </p:txBody>
      </p:sp>
      <p:pic>
        <p:nvPicPr>
          <p:cNvPr id="510" name="图片 509"/>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511" name="文本框 510"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02 · </a:t>
            </a:r>
            <a:r>
              <a:rPr lang="zh-CN" sz="1050" spc="225">
                <a:solidFill>
                  <a:srgbClr val="22D3EE"/>
                </a:solidFill>
                <a:latin typeface="Segoe UI" panose="020B0502040204020203"/>
                <a:ea typeface="Segoe UI" panose="020B0502040204020203"/>
              </a:rPr>
              <a:t>建模</a:t>
            </a:r>
            <a:endParaRPr lang="zh-CN" sz="1050" spc="225">
              <a:solidFill>
                <a:srgbClr val="22D3EE"/>
              </a:solidFill>
              <a:latin typeface="Segoe UI" panose="020B0502040204020203"/>
              <a:ea typeface="Segoe UI" panose="020B0502040204020203"/>
            </a:endParaRPr>
          </a:p>
        </p:txBody>
      </p:sp>
      <p:sp>
        <p:nvSpPr>
          <p:cNvPr id="512" name="文本框 511"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仿真设计：如何检验一个想法</a:t>
            </a:r>
            <a:endParaRPr lang="zh-CN" sz="2400" b="1">
              <a:solidFill>
                <a:srgbClr val="E6EEF9"/>
              </a:solidFill>
              <a:latin typeface="微软雅黑" panose="020B0503020204020204" charset="-122"/>
              <a:ea typeface="微软雅黑" panose="020B0503020204020204" charset="-122"/>
            </a:endParaRPr>
          </a:p>
        </p:txBody>
      </p:sp>
      <p:sp>
        <p:nvSpPr>
          <p:cNvPr id="513" name="矩形 512"/>
          <p:cNvSpPr/>
          <p:nvPr/>
        </p:nvSpPr>
        <p:spPr>
          <a:xfrm>
            <a:off x="609600" y="1009650"/>
            <a:ext cx="533400" cy="28575"/>
          </a:xfrm>
          <a:prstGeom prst="rect">
            <a:avLst/>
          </a:prstGeom>
          <a:solidFill>
            <a:srgbClr val="22D3EE"/>
          </a:solidFill>
        </p:spPr>
        <p:txBody>
          <a:bodyPr/>
          <a:p/>
        </p:txBody>
      </p:sp>
      <p:sp>
        <p:nvSpPr>
          <p:cNvPr id="514" name="文本框 513" descr="{&quot;isTemplate&quot;:true,&quot;type&quot;:&quot;text&quot;}"/>
          <p:cNvSpPr txBox="1"/>
          <p:nvPr/>
        </p:nvSpPr>
        <p:spPr>
          <a:xfrm>
            <a:off x="609600" y="2362200"/>
            <a:ext cx="3810000" cy="1514475"/>
          </a:xfrm>
          <a:prstGeom prst="rect">
            <a:avLst/>
          </a:prstGeom>
        </p:spPr>
        <p:txBody>
          <a:bodyPr wrap="none" lIns="0" tIns="0" rIns="0" bIns="0"/>
          <a:p>
            <a:pPr>
              <a:lnSpc>
                <a:spcPct val="100000"/>
              </a:lnSpc>
            </a:pPr>
            <a:r>
              <a:rPr lang="en-US" sz="9900" b="1" spc="-225">
                <a:solidFill>
                  <a:srgbClr val="22D3EE"/>
                </a:solidFill>
                <a:latin typeface="Segoe UI" panose="020B0502040204020203"/>
                <a:ea typeface="Segoe UI" panose="020B0502040204020203"/>
              </a:rPr>
              <a:t>20</a:t>
            </a:r>
            <a:endParaRPr lang="en-US" sz="9900" b="1" spc="-225">
              <a:solidFill>
                <a:srgbClr val="22D3EE"/>
              </a:solidFill>
              <a:latin typeface="Segoe UI" panose="020B0502040204020203"/>
              <a:ea typeface="Segoe UI" panose="020B0502040204020203"/>
            </a:endParaRPr>
          </a:p>
        </p:txBody>
      </p:sp>
      <p:sp>
        <p:nvSpPr>
          <p:cNvPr id="515" name="文本框 514" descr="{&quot;isTemplate&quot;:true,&quot;type&quot;:&quot;text&quot;}"/>
          <p:cNvSpPr txBox="1"/>
          <p:nvPr/>
        </p:nvSpPr>
        <p:spPr>
          <a:xfrm>
            <a:off x="609600" y="3990975"/>
            <a:ext cx="3810000" cy="323850"/>
          </a:xfrm>
          <a:prstGeom prst="rect">
            <a:avLst/>
          </a:prstGeom>
        </p:spPr>
        <p:txBody>
          <a:bodyPr wrap="none" lIns="0" tIns="0" rIns="0" bIns="0"/>
          <a:p>
            <a:pPr>
              <a:lnSpc>
                <a:spcPct val="100000"/>
              </a:lnSpc>
            </a:pPr>
            <a:r>
              <a:rPr lang="zh-CN" sz="2100" b="1">
                <a:solidFill>
                  <a:srgbClr val="E6EEF9"/>
                </a:solidFill>
                <a:latin typeface="微软雅黑" panose="020B0503020204020204" charset="-122"/>
                <a:ea typeface="微软雅黑" panose="020B0503020204020204" charset="-122"/>
              </a:rPr>
              <a:t>组随机种子的重复实验</a:t>
            </a:r>
            <a:endParaRPr lang="zh-CN" sz="2100" b="1">
              <a:solidFill>
                <a:srgbClr val="E6EEF9"/>
              </a:solidFill>
              <a:latin typeface="微软雅黑" panose="020B0503020204020204" charset="-122"/>
              <a:ea typeface="微软雅黑" panose="020B0503020204020204" charset="-122"/>
            </a:endParaRPr>
          </a:p>
        </p:txBody>
      </p:sp>
      <p:sp>
        <p:nvSpPr>
          <p:cNvPr id="516" name="矩形 515"/>
          <p:cNvSpPr/>
          <p:nvPr/>
        </p:nvSpPr>
        <p:spPr>
          <a:xfrm>
            <a:off x="609600" y="4524375"/>
            <a:ext cx="533400" cy="38100"/>
          </a:xfrm>
          <a:prstGeom prst="rect">
            <a:avLst/>
          </a:prstGeom>
          <a:solidFill>
            <a:srgbClr val="22D3EE"/>
          </a:solidFill>
        </p:spPr>
        <p:txBody>
          <a:bodyPr/>
          <a:p/>
        </p:txBody>
      </p:sp>
      <p:sp>
        <p:nvSpPr>
          <p:cNvPr id="517" name="圆角矩形 516"/>
          <p:cNvSpPr/>
          <p:nvPr/>
        </p:nvSpPr>
        <p:spPr>
          <a:xfrm>
            <a:off x="4667250" y="1257300"/>
            <a:ext cx="69151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518" name="文本框 517" descr="{&quot;isTemplate&quot;:true,&quot;type&quot;:&quot;text&quot;}"/>
          <p:cNvSpPr txBox="1"/>
          <p:nvPr/>
        </p:nvSpPr>
        <p:spPr>
          <a:xfrm>
            <a:off x="4857750" y="1390650"/>
            <a:ext cx="65341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配对设计</a:t>
            </a:r>
            <a:endParaRPr lang="zh-CN" sz="1500" b="1">
              <a:solidFill>
                <a:srgbClr val="E6EEF9"/>
              </a:solidFill>
              <a:latin typeface="微软雅黑" panose="020B0503020204020204" charset="-122"/>
              <a:ea typeface="微软雅黑" panose="020B0503020204020204" charset="-122"/>
            </a:endParaRPr>
          </a:p>
        </p:txBody>
      </p:sp>
      <p:sp>
        <p:nvSpPr>
          <p:cNvPr id="519" name="圆角矩形 518"/>
          <p:cNvSpPr/>
          <p:nvPr/>
        </p:nvSpPr>
        <p:spPr>
          <a:xfrm>
            <a:off x="4667250" y="2209800"/>
            <a:ext cx="69151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520" name="文本框 519" descr="{&quot;isTemplate&quot;:true,&quot;type&quot;:&quot;text&quot;}"/>
          <p:cNvSpPr txBox="1"/>
          <p:nvPr/>
        </p:nvSpPr>
        <p:spPr>
          <a:xfrm>
            <a:off x="4857750" y="2343150"/>
            <a:ext cx="65341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双场景</a:t>
            </a:r>
            <a:endParaRPr lang="zh-CN" sz="1500" b="1">
              <a:solidFill>
                <a:srgbClr val="E6EEF9"/>
              </a:solidFill>
              <a:latin typeface="微软雅黑" panose="020B0503020204020204" charset="-122"/>
              <a:ea typeface="微软雅黑" panose="020B0503020204020204" charset="-122"/>
            </a:endParaRPr>
          </a:p>
        </p:txBody>
      </p:sp>
      <p:sp>
        <p:nvSpPr>
          <p:cNvPr id="521" name="圆角矩形 520"/>
          <p:cNvSpPr/>
          <p:nvPr/>
        </p:nvSpPr>
        <p:spPr>
          <a:xfrm>
            <a:off x="4667250" y="3162300"/>
            <a:ext cx="6915150" cy="838200"/>
          </a:xfrm>
          <a:prstGeom prst="roundRect">
            <a:avLst>
              <a:gd name="adj" fmla="val 11364"/>
            </a:avLst>
          </a:prstGeom>
          <a:solidFill>
            <a:srgbClr val="3B82F6">
              <a:alpha val="10000"/>
            </a:srgbClr>
          </a:solidFill>
          <a:ln w="12700">
            <a:solidFill>
              <a:srgbClr val="3B82F6">
                <a:alpha val="24000"/>
              </a:srgbClr>
            </a:solidFill>
            <a:prstDash val="solid"/>
          </a:ln>
        </p:spPr>
        <p:txBody>
          <a:bodyPr/>
          <a:p/>
        </p:txBody>
      </p:sp>
      <p:sp>
        <p:nvSpPr>
          <p:cNvPr id="522" name="文本框 521" descr="{&quot;isTemplate&quot;:true,&quot;type&quot;:&quot;text&quot;}"/>
          <p:cNvSpPr txBox="1"/>
          <p:nvPr/>
        </p:nvSpPr>
        <p:spPr>
          <a:xfrm>
            <a:off x="4857750" y="3295650"/>
            <a:ext cx="6534150" cy="228600"/>
          </a:xfrm>
          <a:prstGeom prst="rect">
            <a:avLst/>
          </a:prstGeom>
        </p:spPr>
        <p:txBody>
          <a:bodyPr wrap="none" lIns="0" tIns="0" rIns="0" bIns="0"/>
          <a:p>
            <a:pPr>
              <a:lnSpc>
                <a:spcPct val="100000"/>
              </a:lnSpc>
            </a:pPr>
            <a:r>
              <a:rPr lang="zh-CN" sz="1500" b="1">
                <a:solidFill>
                  <a:srgbClr val="E6EEF9"/>
                </a:solidFill>
                <a:latin typeface="微软雅黑" panose="020B0503020204020204" charset="-122"/>
                <a:ea typeface="微软雅黑" panose="020B0503020204020204" charset="-122"/>
              </a:rPr>
              <a:t>基准算法</a:t>
            </a:r>
            <a:endParaRPr lang="zh-CN" sz="1500" b="1">
              <a:solidFill>
                <a:srgbClr val="E6EEF9"/>
              </a:solidFill>
              <a:latin typeface="微软雅黑" panose="020B0503020204020204" charset="-122"/>
              <a:ea typeface="微软雅黑" panose="020B0503020204020204" charset="-122"/>
            </a:endParaRPr>
          </a:p>
        </p:txBody>
      </p:sp>
      <p:sp>
        <p:nvSpPr>
          <p:cNvPr id="523" name="圆角矩形 522"/>
          <p:cNvSpPr/>
          <p:nvPr/>
        </p:nvSpPr>
        <p:spPr>
          <a:xfrm>
            <a:off x="4667250" y="4114800"/>
            <a:ext cx="6915150" cy="1047750"/>
          </a:xfrm>
          <a:prstGeom prst="roundRect">
            <a:avLst>
              <a:gd name="adj" fmla="val 9091"/>
            </a:avLst>
          </a:prstGeom>
          <a:solidFill>
            <a:srgbClr val="22D3EE">
              <a:alpha val="10000"/>
            </a:srgbClr>
          </a:solidFill>
          <a:ln w="12700">
            <a:solidFill>
              <a:srgbClr val="22D3EE">
                <a:alpha val="32000"/>
              </a:srgbClr>
            </a:solidFill>
            <a:prstDash val="solid"/>
          </a:ln>
        </p:spPr>
        <p:txBody>
          <a:bodyPr/>
          <a:p/>
        </p:txBody>
      </p:sp>
      <p:sp>
        <p:nvSpPr>
          <p:cNvPr id="524" name="文本框 523" descr="{&quot;isTemplate&quot;:true,&quot;type&quot;:&quot;text&quot;}"/>
          <p:cNvSpPr txBox="1"/>
          <p:nvPr/>
        </p:nvSpPr>
        <p:spPr>
          <a:xfrm>
            <a:off x="4857750" y="4248150"/>
            <a:ext cx="6534150" cy="228600"/>
          </a:xfrm>
          <a:prstGeom prst="rect">
            <a:avLst/>
          </a:prstGeom>
        </p:spPr>
        <p:txBody>
          <a:bodyPr wrap="none" lIns="0" tIns="0" rIns="0" bIns="0"/>
          <a:p>
            <a:pPr>
              <a:lnSpc>
                <a:spcPct val="100000"/>
              </a:lnSpc>
            </a:pPr>
            <a:r>
              <a:rPr lang="zh-CN" sz="1500" b="1">
                <a:solidFill>
                  <a:srgbClr val="22D3EE"/>
                </a:solidFill>
                <a:latin typeface="微软雅黑" panose="020B0503020204020204" charset="-122"/>
                <a:ea typeface="微软雅黑" panose="020B0503020204020204" charset="-122"/>
              </a:rPr>
              <a:t>评价指标（</a:t>
            </a:r>
            <a:r>
              <a:rPr lang="en-US" sz="1500" b="1">
                <a:solidFill>
                  <a:srgbClr val="22D3EE"/>
                </a:solidFill>
                <a:latin typeface="微软雅黑" panose="020B0503020204020204" charset="-122"/>
                <a:ea typeface="微软雅黑" panose="020B0503020204020204" charset="-122"/>
              </a:rPr>
              <a:t>8 </a:t>
            </a:r>
            <a:r>
              <a:rPr lang="zh-CN" sz="1500" b="1">
                <a:solidFill>
                  <a:srgbClr val="22D3EE"/>
                </a:solidFill>
                <a:latin typeface="微软雅黑" panose="020B0503020204020204" charset="-122"/>
                <a:ea typeface="微软雅黑" panose="020B0503020204020204" charset="-122"/>
              </a:rPr>
              <a:t>项）</a:t>
            </a:r>
            <a:endParaRPr lang="zh-CN" sz="1500" b="1">
              <a:solidFill>
                <a:srgbClr val="22D3EE"/>
              </a:solidFill>
              <a:latin typeface="微软雅黑" panose="020B0503020204020204" charset="-122"/>
              <a:ea typeface="微软雅黑" panose="020B0503020204020204" charset="-122"/>
            </a:endParaRPr>
          </a:p>
        </p:txBody>
      </p:sp>
      <p:sp>
        <p:nvSpPr>
          <p:cNvPr id="525" name="圆角矩形 524"/>
          <p:cNvSpPr/>
          <p:nvPr/>
        </p:nvSpPr>
        <p:spPr>
          <a:xfrm>
            <a:off x="4695825" y="5372100"/>
            <a:ext cx="6915150" cy="838200"/>
          </a:xfrm>
          <a:prstGeom prst="roundRect">
            <a:avLst>
              <a:gd name="adj" fmla="val 4545"/>
            </a:avLst>
          </a:prstGeom>
          <a:solidFill>
            <a:srgbClr val="22D3EE">
              <a:alpha val="10000"/>
            </a:srgbClr>
          </a:solidFill>
        </p:spPr>
        <p:txBody>
          <a:bodyPr/>
          <a:p/>
        </p:txBody>
      </p:sp>
      <p:sp>
        <p:nvSpPr>
          <p:cNvPr id="526" name="任意多边形 525"/>
          <p:cNvSpPr/>
          <p:nvPr/>
        </p:nvSpPr>
        <p:spPr>
          <a:xfrm>
            <a:off x="4695825" y="5372100"/>
            <a:ext cx="6915150" cy="838200"/>
          </a:xfrm>
          <a:custGeom>
            <a:avLst/>
            <a:gdLst/>
            <a:ahLst/>
            <a:cxnLst/>
            <a:pathLst>
              <a:path w="726" h="88">
                <a:moveTo>
                  <a:pt x="4" y="0"/>
                </a:moveTo>
                <a:cubicBezTo>
                  <a:pt x="3" y="0"/>
                  <a:pt x="3" y="0"/>
                  <a:pt x="3" y="1"/>
                </a:cubicBezTo>
                <a:lnTo>
                  <a:pt x="3" y="87"/>
                </a:lnTo>
                <a:cubicBezTo>
                  <a:pt x="3" y="87"/>
                  <a:pt x="3" y="88"/>
                  <a:pt x="4" y="88"/>
                </a:cubicBezTo>
                <a:cubicBezTo>
                  <a:pt x="2" y="88"/>
                  <a:pt x="0" y="86"/>
                  <a:pt x="0" y="84"/>
                </a:cubicBezTo>
                <a:lnTo>
                  <a:pt x="0" y="4"/>
                </a:lnTo>
                <a:cubicBezTo>
                  <a:pt x="0" y="2"/>
                  <a:pt x="2" y="0"/>
                  <a:pt x="4" y="0"/>
                </a:cubicBezTo>
                <a:close/>
              </a:path>
            </a:pathLst>
          </a:custGeom>
          <a:solidFill>
            <a:srgbClr val="22D3EE"/>
          </a:solidFill>
        </p:spPr>
        <p:txBody>
          <a:bodyPr/>
          <a:p/>
        </p:txBody>
      </p:sp>
      <p:sp>
        <p:nvSpPr>
          <p:cNvPr id="527" name="文本框 526" descr="{&quot;isTemplate&quot;:true,&quot;type&quot;:&quot;text&quot;}"/>
          <p:cNvSpPr txBox="1"/>
          <p:nvPr/>
        </p:nvSpPr>
        <p:spPr>
          <a:xfrm>
            <a:off x="609600" y="4772025"/>
            <a:ext cx="3810000" cy="342900"/>
          </a:xfrm>
          <a:prstGeom prst="rect">
            <a:avLst/>
          </a:prstGeom>
        </p:spPr>
        <p:txBody>
          <a:bodyPr wrap="none" lIns="0" tIns="0" rIns="0" bIns="0"/>
          <a:p>
            <a:pPr>
              <a:lnSpc>
                <a:spcPct val="165000"/>
              </a:lnSpc>
            </a:pPr>
            <a:r>
              <a:rPr lang="zh-CN" sz="1350">
                <a:solidFill>
                  <a:srgbClr val="E6EEF9">
                    <a:alpha val="66000"/>
                  </a:srgbClr>
                </a:solidFill>
                <a:latin typeface="微软雅黑" panose="020B0503020204020204" charset="-122"/>
                <a:ea typeface="微软雅黑" panose="020B0503020204020204" charset="-122"/>
              </a:rPr>
              <a:t>不是跑一次碰运气，而是换 20 批客流再看。</a:t>
            </a:r>
            <a:endParaRPr lang="zh-CN" sz="1350">
              <a:solidFill>
                <a:srgbClr val="E6EEF9">
                  <a:alpha val="66000"/>
                </a:srgbClr>
              </a:solidFill>
              <a:latin typeface="微软雅黑" panose="020B0503020204020204" charset="-122"/>
              <a:ea typeface="微软雅黑" panose="020B0503020204020204" charset="-122"/>
            </a:endParaRPr>
          </a:p>
        </p:txBody>
      </p:sp>
      <p:sp>
        <p:nvSpPr>
          <p:cNvPr id="528" name="文本框 527" descr="{&quot;isTemplate&quot;:true,&quot;type&quot;:&quot;text&quot;}"/>
          <p:cNvSpPr txBox="1"/>
          <p:nvPr/>
        </p:nvSpPr>
        <p:spPr>
          <a:xfrm>
            <a:off x="4857750" y="1676400"/>
            <a:ext cx="6534150" cy="276225"/>
          </a:xfrm>
          <a:prstGeom prst="rect">
            <a:avLst/>
          </a:prstGeom>
        </p:spPr>
        <p:txBody>
          <a:bodyPr wrap="none" lIns="0" tIns="0" rIns="0" bIns="0"/>
          <a:p>
            <a:pPr>
              <a:lnSpc>
                <a:spcPct val="150000"/>
              </a:lnSpc>
            </a:pPr>
            <a:r>
              <a:rPr lang="zh-CN" sz="1200">
                <a:solidFill>
                  <a:srgbClr val="E6EEF9">
                    <a:alpha val="66000"/>
                  </a:srgbClr>
                </a:solidFill>
                <a:latin typeface="微软雅黑" panose="020B0503020204020204" charset="-122"/>
                <a:ea typeface="微软雅黑" panose="020B0503020204020204" charset="-122"/>
              </a:rPr>
              <a:t>同一个随机种子下同时运行「改造前」与「改造后」两套系统，逐</a:t>
            </a:r>
            <a:r>
              <a:rPr lang="en-US" sz="1200">
                <a:solidFill>
                  <a:srgbClr val="E6EEF9">
                    <a:alpha val="66000"/>
                  </a:srgbClr>
                </a:solidFill>
                <a:latin typeface="微软雅黑" panose="020B0503020204020204" charset="-122"/>
                <a:ea typeface="微软雅黑" panose="020B0503020204020204" charset="-122"/>
              </a:rPr>
              <a:t> seed </a:t>
            </a:r>
            <a:r>
              <a:rPr lang="zh-CN" sz="1200">
                <a:solidFill>
                  <a:srgbClr val="E6EEF9">
                    <a:alpha val="66000"/>
                  </a:srgbClr>
                </a:solidFill>
                <a:latin typeface="微软雅黑" panose="020B0503020204020204" charset="-122"/>
                <a:ea typeface="微软雅黑" panose="020B0503020204020204" charset="-122"/>
              </a:rPr>
              <a:t>配对比较，抵消随机波动</a:t>
            </a:r>
            <a:endParaRPr lang="zh-CN" sz="1200">
              <a:solidFill>
                <a:srgbClr val="E6EEF9">
                  <a:alpha val="66000"/>
                </a:srgbClr>
              </a:solidFill>
              <a:latin typeface="微软雅黑" panose="020B0503020204020204" charset="-122"/>
              <a:ea typeface="微软雅黑" panose="020B0503020204020204" charset="-122"/>
            </a:endParaRPr>
          </a:p>
        </p:txBody>
      </p:sp>
      <p:sp>
        <p:nvSpPr>
          <p:cNvPr id="529" name="文本框 528" descr="{&quot;isTemplate&quot;:true,&quot;type&quot;:&quot;text&quot;}"/>
          <p:cNvSpPr txBox="1"/>
          <p:nvPr/>
        </p:nvSpPr>
        <p:spPr>
          <a:xfrm>
            <a:off x="4857750" y="2628900"/>
            <a:ext cx="6534150" cy="276225"/>
          </a:xfrm>
          <a:prstGeom prst="rect">
            <a:avLst/>
          </a:prstGeom>
        </p:spPr>
        <p:txBody>
          <a:bodyPr wrap="none" lIns="0" tIns="0" rIns="0" bIns="0"/>
          <a:p>
            <a:pPr>
              <a:lnSpc>
                <a:spcPct val="150000"/>
              </a:lnSpc>
            </a:pPr>
            <a:r>
              <a:rPr lang="zh-CN" sz="1200">
                <a:solidFill>
                  <a:srgbClr val="E6EEF9">
                    <a:alpha val="66000"/>
                  </a:srgbClr>
                </a:solidFill>
                <a:latin typeface="微软雅黑" panose="020B0503020204020204" charset="-122"/>
                <a:ea typeface="微软雅黑" panose="020B0503020204020204" charset="-122"/>
              </a:rPr>
              <a:t>普通 3 h ＋ 高峰 1 h 双场景，结束后再跑 20 min 清空队列</a:t>
            </a:r>
            <a:endParaRPr lang="zh-CN" sz="1200">
              <a:solidFill>
                <a:srgbClr val="E6EEF9">
                  <a:alpha val="66000"/>
                </a:srgbClr>
              </a:solidFill>
              <a:latin typeface="微软雅黑" panose="020B0503020204020204" charset="-122"/>
              <a:ea typeface="微软雅黑" panose="020B0503020204020204" charset="-122"/>
            </a:endParaRPr>
          </a:p>
        </p:txBody>
      </p:sp>
      <p:sp>
        <p:nvSpPr>
          <p:cNvPr id="530" name="文本框 529" descr="{&quot;isTemplate&quot;:true,&quot;type&quot;:&quot;text&quot;}"/>
          <p:cNvSpPr txBox="1"/>
          <p:nvPr/>
        </p:nvSpPr>
        <p:spPr>
          <a:xfrm>
            <a:off x="4857750" y="3581400"/>
            <a:ext cx="6534150" cy="276225"/>
          </a:xfrm>
          <a:prstGeom prst="rect">
            <a:avLst/>
          </a:prstGeom>
        </p:spPr>
        <p:txBody>
          <a:bodyPr wrap="none" lIns="0" tIns="0" rIns="0" bIns="0"/>
          <a:p>
            <a:pPr>
              <a:lnSpc>
                <a:spcPct val="150000"/>
              </a:lnSpc>
            </a:pPr>
            <a:r>
              <a:rPr lang="en-US" sz="1200">
                <a:solidFill>
                  <a:srgbClr val="E6EEF9">
                    <a:alpha val="66000"/>
                  </a:srgbClr>
                </a:solidFill>
                <a:latin typeface="微软雅黑" panose="020B0503020204020204" charset="-122"/>
                <a:ea typeface="微软雅黑" panose="020B0503020204020204" charset="-122"/>
              </a:rPr>
              <a:t>LOOK</a:t>
            </a:r>
            <a:r>
              <a:rPr lang="zh-CN" sz="1200">
                <a:solidFill>
                  <a:srgbClr val="E6EEF9">
                    <a:alpha val="66000"/>
                  </a:srgbClr>
                </a:solidFill>
                <a:latin typeface="微软雅黑" panose="020B0503020204020204" charset="-122"/>
                <a:ea typeface="微软雅黑" panose="020B0503020204020204" charset="-122"/>
              </a:rPr>
              <a:t>：保持当前方向运行，直到该方向再无请求才折返</a:t>
            </a:r>
            <a:r>
              <a:rPr lang="en-US" sz="1200">
                <a:solidFill>
                  <a:srgbClr val="E6EEF9">
                    <a:alpha val="66000"/>
                  </a:srgbClr>
                </a:solidFill>
                <a:latin typeface="微软雅黑" panose="020B0503020204020204" charset="-122"/>
                <a:ea typeface="微软雅黑" panose="020B0503020204020204" charset="-122"/>
              </a:rPr>
              <a:t> —— </a:t>
            </a:r>
            <a:r>
              <a:rPr lang="zh-CN" sz="1200">
                <a:solidFill>
                  <a:srgbClr val="E6EEF9">
                    <a:alpha val="66000"/>
                  </a:srgbClr>
                </a:solidFill>
                <a:latin typeface="微软雅黑" panose="020B0503020204020204" charset="-122"/>
                <a:ea typeface="微软雅黑" panose="020B0503020204020204" charset="-122"/>
              </a:rPr>
              <a:t>改造前的对照基准</a:t>
            </a:r>
            <a:endParaRPr lang="zh-CN" sz="1200">
              <a:solidFill>
                <a:srgbClr val="E6EEF9">
                  <a:alpha val="66000"/>
                </a:srgbClr>
              </a:solidFill>
              <a:latin typeface="微软雅黑" panose="020B0503020204020204" charset="-122"/>
              <a:ea typeface="微软雅黑" panose="020B0503020204020204" charset="-122"/>
            </a:endParaRPr>
          </a:p>
        </p:txBody>
      </p:sp>
      <p:sp>
        <p:nvSpPr>
          <p:cNvPr id="531" name="文本框 530" descr="{&quot;isTemplate&quot;:true,&quot;type&quot;:&quot;text&quot;}"/>
          <p:cNvSpPr txBox="1"/>
          <p:nvPr/>
        </p:nvSpPr>
        <p:spPr>
          <a:xfrm>
            <a:off x="4857750" y="4552950"/>
            <a:ext cx="6534150" cy="571500"/>
          </a:xfrm>
          <a:prstGeom prst="rect">
            <a:avLst/>
          </a:prstGeom>
        </p:spPr>
        <p:txBody>
          <a:bodyPr wrap="square" lIns="0" tIns="0" rIns="0" bIns="0">
            <a:normAutofit/>
          </a:bodyPr>
          <a:p>
            <a:pPr>
              <a:lnSpc>
                <a:spcPct val="155000"/>
              </a:lnSpc>
            </a:pPr>
            <a:r>
              <a:rPr lang="zh-CN" sz="1200">
                <a:solidFill>
                  <a:srgbClr val="E6EEF9">
                    <a:alpha val="72000"/>
                  </a:srgbClr>
                </a:solidFill>
                <a:latin typeface="微软雅黑" panose="020B0503020204020204" charset="-122"/>
                <a:ea typeface="微软雅黑" panose="020B0503020204020204" charset="-122"/>
              </a:rPr>
              <a:t>完成率 · 候梯时间（按键 / 闸机起算）· P95 候梯 · 最大候梯 · 平均乘梯时间</a:t>
            </a:r>
            <a:endParaRPr lang="zh-CN" sz="1200">
              <a:solidFill>
                <a:srgbClr val="E6EEF9">
                  <a:alpha val="72000"/>
                </a:srgbClr>
              </a:solidFill>
              <a:latin typeface="微软雅黑" panose="020B0503020204020204" charset="-122"/>
              <a:ea typeface="微软雅黑" panose="020B0503020204020204" charset="-122"/>
            </a:endParaRPr>
          </a:p>
          <a:p>
            <a:pPr>
              <a:lnSpc>
                <a:spcPct val="155000"/>
              </a:lnSpc>
            </a:pPr>
            <a:r>
              <a:rPr lang="zh-CN" sz="1200">
                <a:solidFill>
                  <a:srgbClr val="E6EEF9">
                    <a:alpha val="72000"/>
                  </a:srgbClr>
                </a:solidFill>
                <a:latin typeface="微软雅黑" panose="020B0503020204020204" charset="-122"/>
                <a:ea typeface="微软雅黑" panose="020B0503020204020204" charset="-122"/>
              </a:rPr>
              <a:t>· 无效停靠次数 · 平均每次出发载客人数 · 电梯运行利用率</a:t>
            </a:r>
            <a:endParaRPr lang="zh-CN" sz="1200">
              <a:solidFill>
                <a:srgbClr val="E6EEF9">
                  <a:alpha val="72000"/>
                </a:srgbClr>
              </a:solidFill>
              <a:latin typeface="微软雅黑" panose="020B0503020204020204" charset="-122"/>
              <a:ea typeface="微软雅黑" panose="020B0503020204020204" charset="-122"/>
            </a:endParaRPr>
          </a:p>
        </p:txBody>
      </p:sp>
      <p:sp>
        <p:nvSpPr>
          <p:cNvPr id="532" name="文本框 531" descr="{&quot;isTemplate&quot;:true,&quot;type&quot;:&quot;text&quot;}"/>
          <p:cNvSpPr txBox="1"/>
          <p:nvPr/>
        </p:nvSpPr>
        <p:spPr>
          <a:xfrm>
            <a:off x="4886325" y="5505450"/>
            <a:ext cx="6505575" cy="571500"/>
          </a:xfrm>
          <a:prstGeom prst="rect">
            <a:avLst/>
          </a:prstGeom>
        </p:spPr>
        <p:txBody>
          <a:bodyPr wrap="square" lIns="0" tIns="0" rIns="0" bIns="0">
            <a:normAutofit/>
          </a:bodyPr>
          <a:p>
            <a:pPr>
              <a:lnSpc>
                <a:spcPct val="155000"/>
              </a:lnSpc>
            </a:pPr>
            <a:r>
              <a:rPr lang="zh-CN" sz="1200">
                <a:solidFill>
                  <a:srgbClr val="E6EEF9">
                    <a:alpha val="85000"/>
                  </a:srgbClr>
                </a:solidFill>
                <a:latin typeface="微软雅黑" panose="020B0503020204020204" charset="-122"/>
                <a:ea typeface="微软雅黑" panose="020B0503020204020204" charset="-122"/>
              </a:rPr>
              <a:t>之所以同时看分位数而不只看平均：等待有多糟糕，是由最坏的那批人决定的</a:t>
            </a:r>
            <a:r>
              <a:rPr lang="en-US" sz="1200">
                <a:solidFill>
                  <a:srgbClr val="E6EEF9">
                    <a:alpha val="85000"/>
                  </a:srgbClr>
                </a:solidFill>
                <a:latin typeface="微软雅黑" panose="020B0503020204020204" charset="-122"/>
                <a:ea typeface="微软雅黑" panose="020B0503020204020204" charset="-122"/>
              </a:rPr>
              <a:t> —— </a:t>
            </a:r>
            <a:r>
              <a:rPr lang="zh-CN" sz="1200">
                <a:solidFill>
                  <a:srgbClr val="E6EEF9">
                    <a:alpha val="85000"/>
                  </a:srgbClr>
                </a:solidFill>
                <a:latin typeface="微软雅黑" panose="020B0503020204020204" charset="-122"/>
                <a:ea typeface="微软雅黑" panose="020B0503020204020204" charset="-122"/>
              </a:rPr>
              <a:t>均值会掩盖长尾。</a:t>
            </a:r>
            <a:endParaRPr lang="zh-CN" sz="1200">
              <a:solidFill>
                <a:srgbClr val="E6EEF9">
                  <a:alpha val="85000"/>
                </a:srgbClr>
              </a:solidFill>
              <a:latin typeface="微软雅黑" panose="020B0503020204020204" charset="-122"/>
              <a:ea typeface="微软雅黑" panose="020B0503020204020204" charset="-122"/>
            </a:endParaRPr>
          </a:p>
        </p:txBody>
      </p:sp>
      <p:sp>
        <p:nvSpPr>
          <p:cNvPr id="533" name="任意多边形 532"/>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534" name="文本框 533"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535" name="文本框 534"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13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46"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linearGradient id='bar' x1='0' y1='1' x2='0' y2='0'&gt;&#10;                    &lt;stop offset='0%' stopColor='#3B82F6' stopOpacity='0.05' /&gt;&#10;                    &lt;stop offset='100%' stopColor='#22D3EE' stopOpacity='0.45' /&gt;&#10;                &lt;/linearGradient&gt;&#10;            &lt;/defs&gt;&#10;            &lt;rect x='120' y='520' width='64' height='200' fill='url(#bar)' /&gt;&#10;            &lt;rect x='220' y='560' width='64' height='160' fill='url(#bar)' /&gt;&#10;            &lt;rect x='320' y='440' width='64' height='280' fill='url(#bar)' /&gt;&#10;            &lt;rect x='420' y='300' width='64' height='420' fill='url(#bar)' /&gt;&#10;            &lt;rect x='520' y='360' width='64' height='360' fill='url(#bar)' /&gt;&#10;            &lt;rect x='620' y='180' width='64' height='540' fill='url(#bar)' /&gt;&#10;            &lt;rect x='720' y='260' width='64' height='460' fill='url(#bar)' /&gt;&#10;            &lt;rect x='820' y='100' width='64' height='620' fill='url(#bar)' /&gt;&#10;            &lt;rect x='920' y='220' width='64' height='500' fill='url(#bar)' /&gt;&#10;            &lt;rect x='1020' y='80' width='64' height='640' fill='url(#bar)' /&gt;&#10;            &lt;rect x='1120' y='160' width='64' height='560' fill='url(#bar)' /&gt;&#10;        &lt;/svg&gt;&#10;    &lt;/Box&gt;&#10;&#10;    &lt;Box&#10;        style={{&#10;            position: 'relative',&#10;            zIndex: 1,&#10;            flex: 1,&#10;            display: 'flex',&#10;            flexDirection: 'column',&#10;            justifyContent: 'center',&#10;            padding: '0px 0px 40px 0px',&#10;        }}&#10;    &gt;&#10;        &lt;Text style={{ fontSize: 140, fontWeight: 'bold', color: '#22D3EE', opacity: 0.18, lineHeight: 1.0, fontFamily: 'Segoe UI' }}&gt;04&lt;/Text&gt;&#10;        &lt;Box style={{ height: 4 }} /&gt;&#10;        &lt;Text style={{ fontSize: 60, fontWeight: 'bold', color: '#E6EEF9', lineHeight: 1.15 }}&gt;验证 · 数据怎么说&lt;/Text&gt;&#10;        &lt;Box style={{ height: 24 }} /&gt;&#10;        &lt;Box style={{ width: '88px', height: '4px', background: '#22D3EE' }} /&gt;&#10;        &lt;Box style={{ height: 28 }} /&gt;&#10;        &lt;Text style={{ fontSize: 24, color: '#E6EEF9', opacity: 0.7, lineHeight: 1.6 }}&gt;&#10;            数据怎么说：1000 次独立重复实验给出的答案&#10;        &lt;/Text&gt;&#10;        &lt;Box style={{ height: 34 }} /&gt;&#10;        &lt;Text style={{ fontSize: 16, color: '#E6EEF9', opacity: 0.45, letterSpacing: 3, fontFamily: 'Segoe UI' }}&gt;14 – 17&lt;/Text&gt;&#10;    &lt;/Box&gt;&#10;&lt;/Slide&gt;&#10;"/>
        <p:cNvGrpSpPr/>
        <p:nvPr/>
      </p:nvGrpSpPr>
      <p:grpSpPr>
        <a:xfrm>
          <a:off x="0" y="0"/>
          <a:ext cx="0" cy="0"/>
          <a:chOff x="0" y="0"/>
          <a:chExt cx="0" cy="0"/>
        </a:xfrm>
      </p:grpSpPr>
      <p:sp>
        <p:nvSpPr>
          <p:cNvPr id="147" name="矩形 146"/>
          <p:cNvSpPr/>
          <p:nvPr/>
        </p:nvSpPr>
        <p:spPr>
          <a:xfrm>
            <a:off x="0" y="0"/>
            <a:ext cx="12192000" cy="6858000"/>
          </a:xfrm>
          <a:prstGeom prst="rect">
            <a:avLst/>
          </a:prstGeom>
          <a:solidFill>
            <a:srgbClr val="0A1424"/>
          </a:solidFill>
        </p:spPr>
        <p:txBody>
          <a:bodyPr/>
          <a:p/>
        </p:txBody>
      </p:sp>
      <p:pic>
        <p:nvPicPr>
          <p:cNvPr id="148" name="图片 14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49" name="文本框 148" descr="{&quot;isTemplate&quot;:true,&quot;type&quot;:&quot;text&quot;}"/>
          <p:cNvSpPr txBox="1"/>
          <p:nvPr/>
        </p:nvSpPr>
        <p:spPr>
          <a:xfrm>
            <a:off x="609600" y="2952750"/>
            <a:ext cx="10972800" cy="790575"/>
          </a:xfrm>
          <a:prstGeom prst="rect">
            <a:avLst/>
          </a:prstGeom>
        </p:spPr>
        <p:txBody>
          <a:bodyPr wrap="none" lIns="0" tIns="0" rIns="0" bIns="0"/>
          <a:p>
            <a:pPr>
              <a:lnSpc>
                <a:spcPct val="115000"/>
              </a:lnSpc>
            </a:pPr>
            <a:r>
              <a:rPr lang="zh-CN" sz="4500" b="1">
                <a:solidFill>
                  <a:srgbClr val="E6EEF9"/>
                </a:solidFill>
                <a:latin typeface="微软雅黑" panose="020B0503020204020204" charset="-122"/>
                <a:ea typeface="微软雅黑" panose="020B0503020204020204" charset="-122"/>
              </a:rPr>
              <a:t>验证</a:t>
            </a:r>
            <a:r>
              <a:rPr lang="en-US" sz="4500" b="1">
                <a:solidFill>
                  <a:srgbClr val="E6EEF9"/>
                </a:solidFill>
                <a:latin typeface="微软雅黑" panose="020B0503020204020204" charset="-122"/>
                <a:ea typeface="微软雅黑" panose="020B0503020204020204" charset="-122"/>
              </a:rPr>
              <a:t> · </a:t>
            </a:r>
            <a:r>
              <a:rPr lang="zh-CN" sz="4500" b="1">
                <a:solidFill>
                  <a:srgbClr val="E6EEF9"/>
                </a:solidFill>
                <a:latin typeface="微软雅黑" panose="020B0503020204020204" charset="-122"/>
                <a:ea typeface="微软雅黑" panose="020B0503020204020204" charset="-122"/>
              </a:rPr>
              <a:t>数据怎么说</a:t>
            </a:r>
            <a:endParaRPr lang="zh-CN" sz="4500" b="1">
              <a:solidFill>
                <a:srgbClr val="E6EEF9"/>
              </a:solidFill>
              <a:latin typeface="微软雅黑" panose="020B0503020204020204" charset="-122"/>
              <a:ea typeface="微软雅黑" panose="020B0503020204020204" charset="-122"/>
            </a:endParaRPr>
          </a:p>
        </p:txBody>
      </p:sp>
      <p:sp>
        <p:nvSpPr>
          <p:cNvPr id="150" name="矩形 149"/>
          <p:cNvSpPr/>
          <p:nvPr/>
        </p:nvSpPr>
        <p:spPr>
          <a:xfrm>
            <a:off x="609600" y="3971925"/>
            <a:ext cx="838200" cy="38100"/>
          </a:xfrm>
          <a:prstGeom prst="rect">
            <a:avLst/>
          </a:prstGeom>
          <a:solidFill>
            <a:srgbClr val="22D3EE"/>
          </a:solidFill>
        </p:spPr>
        <p:txBody>
          <a:bodyPr/>
          <a:p/>
        </p:txBody>
      </p:sp>
      <p:sp>
        <p:nvSpPr>
          <p:cNvPr id="151" name="文本框 150" descr="{&quot;isTemplate&quot;:true,&quot;type&quot;:&quot;text&quot;}"/>
          <p:cNvSpPr txBox="1"/>
          <p:nvPr/>
        </p:nvSpPr>
        <p:spPr>
          <a:xfrm>
            <a:off x="609600" y="1314450"/>
            <a:ext cx="10972800" cy="1600200"/>
          </a:xfrm>
          <a:prstGeom prst="rect">
            <a:avLst/>
          </a:prstGeom>
        </p:spPr>
        <p:txBody>
          <a:bodyPr wrap="none" lIns="0" tIns="0" rIns="0" bIns="0"/>
          <a:p>
            <a:pPr>
              <a:lnSpc>
                <a:spcPct val="100000"/>
              </a:lnSpc>
            </a:pPr>
            <a:r>
              <a:rPr lang="en-US" sz="10500" b="1">
                <a:solidFill>
                  <a:srgbClr val="22D3EE">
                    <a:alpha val="18000"/>
                  </a:srgbClr>
                </a:solidFill>
                <a:latin typeface="Segoe UI" panose="020B0502040204020203"/>
                <a:ea typeface="Segoe UI" panose="020B0502040204020203"/>
              </a:rPr>
              <a:t>04</a:t>
            </a:r>
            <a:endParaRPr lang="en-US" sz="10500" b="1">
              <a:solidFill>
                <a:srgbClr val="22D3EE">
                  <a:alpha val="18000"/>
                </a:srgbClr>
              </a:solidFill>
              <a:latin typeface="Segoe UI" panose="020B0502040204020203"/>
              <a:ea typeface="Segoe UI" panose="020B0502040204020203"/>
            </a:endParaRPr>
          </a:p>
        </p:txBody>
      </p:sp>
      <p:sp>
        <p:nvSpPr>
          <p:cNvPr id="152" name="文本框 151" descr="{&quot;isTemplate&quot;:true,&quot;type&quot;:&quot;text&quot;}"/>
          <p:cNvSpPr txBox="1"/>
          <p:nvPr/>
        </p:nvSpPr>
        <p:spPr>
          <a:xfrm>
            <a:off x="609600" y="4276725"/>
            <a:ext cx="10972800" cy="447675"/>
          </a:xfrm>
          <a:prstGeom prst="rect">
            <a:avLst/>
          </a:prstGeom>
        </p:spPr>
        <p:txBody>
          <a:bodyPr wrap="none" lIns="0" tIns="0" rIns="0" bIns="0"/>
          <a:p>
            <a:pPr>
              <a:lnSpc>
                <a:spcPct val="160000"/>
              </a:lnSpc>
            </a:pPr>
            <a:r>
              <a:rPr lang="zh-CN" sz="1800">
                <a:solidFill>
                  <a:srgbClr val="E6EEF9">
                    <a:alpha val="70000"/>
                  </a:srgbClr>
                </a:solidFill>
                <a:latin typeface="微软雅黑" panose="020B0503020204020204" charset="-122"/>
                <a:ea typeface="微软雅黑" panose="020B0503020204020204" charset="-122"/>
              </a:rPr>
              <a:t>数据怎么说：20 组重复实验给出的答案</a:t>
            </a:r>
            <a:endParaRPr lang="zh-CN" sz="1800">
              <a:solidFill>
                <a:srgbClr val="E6EEF9">
                  <a:alpha val="70000"/>
                </a:srgbClr>
              </a:solidFill>
              <a:latin typeface="微软雅黑" panose="020B0503020204020204" charset="-122"/>
              <a:ea typeface="微软雅黑" panose="020B0503020204020204" charset="-122"/>
            </a:endParaRPr>
          </a:p>
        </p:txBody>
      </p:sp>
      <p:sp>
        <p:nvSpPr>
          <p:cNvPr id="153" name="文本框 152" descr="{&quot;isTemplate&quot;:true,&quot;type&quot;:&quot;text&quot;}"/>
          <p:cNvSpPr txBox="1"/>
          <p:nvPr/>
        </p:nvSpPr>
        <p:spPr>
          <a:xfrm>
            <a:off x="609600" y="5048250"/>
            <a:ext cx="10972800" cy="190500"/>
          </a:xfrm>
          <a:prstGeom prst="rect">
            <a:avLst/>
          </a:prstGeom>
        </p:spPr>
        <p:txBody>
          <a:bodyPr wrap="none" lIns="0" tIns="0" rIns="0" bIns="0"/>
          <a:p>
            <a:pPr>
              <a:lnSpc>
                <a:spcPct val="100000"/>
              </a:lnSpc>
            </a:pPr>
            <a:r>
              <a:rPr lang="en-US" sz="1200" spc="225">
                <a:solidFill>
                  <a:srgbClr val="E6EEF9">
                    <a:alpha val="45000"/>
                  </a:srgbClr>
                </a:solidFill>
                <a:latin typeface="Segoe UI" panose="020B0502040204020203"/>
                <a:ea typeface="Segoe UI" panose="020B0502040204020203"/>
              </a:rPr>
              <a:t>14 – 17</a:t>
            </a:r>
            <a:endParaRPr lang="en-US" sz="1200" spc="225">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54"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radialGradient id='rg4' cx='0.22' cy='0.45' r='0.6'&gt;&#10;                    &lt;stop offset='0%' stopColor='#22D3EE' stopOpacity='0.20' /&gt;&#10;                    &lt;stop offset='100%' stopColor='#22D3EE' stopOpacity='0' /&gt;&#10;                &lt;/radialGradient&gt;&#10;            &lt;/defs&gt;&#10;            &lt;rect width='1280' height='720' fill='url(#grid)' /&gt;&#10;            &lt;rect width='1280' height='720' fill='url(#rg4)' /&gt;&#10;        &lt;/svg&gt;&#10;    &lt;/Box&gt;&#10;&#10;    &lt;Box style={{ position: 'relative', zIndex: 1, height: 84, display: 'flex', flexDirection: 'column' }}&gt;&#10;        &lt;Text style={{ fontSize: 14, color: '#22D3EE', letterSpacing: 3, fontFamily: 'Segoe UI' }}&gt;CHAPTER 04 · 验证&lt;/Text&gt;&#10;        &lt;Box style={{ height: 8 }} /&gt;&#10;        &lt;Text style={{ fontSize: 32, fontWeight: 'bold', color: '#E6EEF9' }}&gt;结果一：无效停靠归零，开关门减半&lt;/Text&gt;&#10;        &lt;Box style={{ height: 10 }} /&gt;&#10;        &lt;Box style={{ width: '56px', height: '3px', background: '#22D3EE' }} /&gt;&#10;    &lt;/Box&gt;&#10;&#10;    &lt;Box style={{ position: 'relative', zIndex: 1, height: 520, marginTop: 16, flexDirection: 'row', gap: 26 }}&gt;&#10;        &lt;Box style={{ width: '420px', display: 'flex', flexDirection: 'column', justifyContent: 'center' }}&gt;&#10;            &lt;Text style={{ fontSize: 130, fontWeight: 'bold', color: '#22D3EE', lineHeight: 1.0, fontFamily: 'Segoe UI', letterSpacing: -4 }}&gt;50%&lt;/Text&gt;&#10;            &lt;Box style={{ height: 14 }} /&gt;&#10;            &lt;Text style={{ fontSize: 26, fontWeight: 'bold', color: '#E6EEF9', lineHeight: 1.4 }}&gt;每两次停靠，就有一次没人&lt;/Text&gt;&#10;            &lt;Box style={{ height: 22 }} /&gt;&#10;            &lt;Box style={{ width: '56px', height: '4px', background: '#22D3EE' }} /&gt;&#10;            &lt;Box style={{ height: 22 }} /&gt;&#10;            &lt;Text style={{ fontSize: 18, color: '#E6EEF9', opacity: 0.66, lineHeight: 1.65 }}&gt;&#10;                改造后这个数字变成 0 —— 电梯再也不会为一个不存在的人开门。&#10;            &lt;/Text&gt;&#10;        &lt;/Box&gt;&#10;&#10;        &lt;Box style={{ flex: 1, display: 'flex', flexDirection: 'column', gap: 12 }}&gt;&#10;            &lt;Text style={{ fontSize: 15, color: '#E6EEF9', opacity: 0.45, fontFamily: 'Segoe UI' }}&gt;&#10;                以下均为 1000 次独立重复实验的均值&#10;            &lt;/Text&gt;&#10;&#10;            &lt;Box style={{ height: 112, padding: '14px 22px', background: 'rgba(59,130,246,0.10)', border: '1px solid rgba(59,130,246,0.24)', borderRadius: 10 }}&gt;&#10;                &lt;Text style={{ fontSize: 19, fontWeight: 'bold', color: '#E6EEF9' }}&gt;普通时段 · 3 小时&lt;/Text&gt;&#10;                &lt;Box style={{ height: 10 }} /&gt;&#10;                &lt;Box style={{ flexDirection: 'row', gap: 28 }}&gt;&#10;                    &lt;Box style={{ flex: 1 }}&gt;&#10;                        &lt;Text style={{ fontSize: 14, color: '#E6EEF9', opacity: 0.5 }}&gt;开关门动作&lt;/Text&gt;&#10;                        &lt;Box style={{ height: 3 }} /&gt;&#10;                        &lt;Text style={{ fontSize: 23, fontWeight: 'bold', color: '#E6EEF9', fontFamily: 'Segoe UI' }}&gt;&#10;                            &lt;span style={{ opacity: 0.45 }}&gt;1120&lt;/span&gt; → &lt;span style={{ color: '#22D3EE' }}&gt;560&lt;/span&gt;&#10;                            &lt;span style={{ fontSize: 16, color: '#22D3EE' }}&gt;　−50%&lt;/span&gt;&#10;                        &lt;/Text&gt;&#10;                    &lt;/Box&gt;&#10;                    &lt;Box style={{ flex: 1 }}&gt;&#10;                        &lt;Text style={{ fontSize: 14, color: '#E6EEF9', opacity: 0.5 }}&gt;无效停靠次数&lt;/Text&gt;&#10;                        &lt;Box style={{ height: 3 }} /&gt;&#10;                        &lt;Text style={{ fontSize: 23, fontWeight: 'bold', color: '#E6EEF9', fontFamily: 'Segoe UI' }}&gt;&#10;                            &lt;span style={{ opacity: 0.45 }}&gt;280&lt;/span&gt; → &lt;span style={{ color: '#22D3EE' }}&gt;0&lt;/span&gt;&#10;                            &lt;span style={{ fontSize: 16, color: '#22D3EE' }}&gt;　−100%&lt;/span&gt;&#10;                        &lt;/Text&gt;&#10;                    &lt;/Box&gt;&#10;                &lt;/Box&gt;&#10;            &lt;/Box&gt;&#10;&#10;            &lt;Box style={{ height: 112, padding: '14px 22px', background: 'rgba(59,130,246,0.10)', border: '1px solid rgba(59,130,246,0.24)', borderRadius: 10 }}&gt;&#10;                &lt;Text style={{ fontSize: 19, fontWeight: 'bold', color: '#E6EEF9' }}&gt;高峰时段 · 1 小时&lt;/Text&gt;&#10;                &lt;Box style={{ height: 10 }} /&gt;&#10;                &lt;Box style={{ flexDirection: 'row', gap: 28 }}&gt;&#10;                    &lt;Box style={{ flex: 1 }}&gt;&#10;                        &lt;Text style={{ fontSize: 14, color: '#E6EEF9', opacity: 0.5 }}&gt;开关门动作&lt;/Text&gt;&#10;                        &lt;Box style={{ height: 3 }} /&gt;&#10;                        &lt;Text style={{ fontSize: 23, fontWeight: 'bold', color: '#E6EEF9', fontFamily: 'Segoe UI' }}&gt;&#10;                            &lt;span style={{ opacity: 0.45 }}&gt;2404&lt;/span&gt; → &lt;span style={{ color: '#22D3EE' }}&gt;1202&lt;/span&gt;&#10;                            &lt;span style={{ fontSize: 16, color: '#22D3EE' }}&gt;　−50%&lt;/span&gt;&#10;                        &lt;/Text&gt;&#10;                    &lt;/Box&gt;&#10;                    &lt;Box style={{ flex: 1 }}&gt;&#10;                        &lt;Text style={{ fontSize: 14, color: '#E6EEF9', opacity: 0.5 }}&gt;无效停靠次数&lt;/Text&gt;&#10;                        &lt;Box style={{ height: 3 }} /&gt;&#10;                        &lt;Text style={{ fontSize: 23, fontWeight: 'bold', color: '#E6EEF9', fontFamily: 'Segoe UI' }}&gt;&#10;                            &lt;span style={{ opacity: 0.45 }}&gt;601&lt;/span&gt; → &lt;span style={{ color: '#22D3EE' }}&gt;0&lt;/span&gt;&#10;                            &lt;span style={{ fontSize: 16, color: '#22D3EE' }}&gt;　−100%&lt;/span&gt;&#10;                        &lt;/Text&gt;&#10;                    &lt;/Box&gt;&#10;                &lt;/Box&gt;&#10;            &lt;/Box&gt;&#10;&#10;            &lt;Box style={{ height: 100, padding: '14px 22px', background: 'rgba(34,211,238,0.10)', border: '1px solid rgba(34,211,238,0.30)', borderRadius: 10 }}&gt;&#10;                &lt;Text style={{ fontSize: 17, color: '#E6EEF9', opacity: 0.8, lineHeight: 1.55 }}&gt;&#10;                    按每次停靠 = 开门 + 关门共 2 × 2.6 s = 5.2 s 折算：普通时段 3 小时省回约&#10;                    &lt;span style={{ color: '#22D3EE', fontWeight: 'bold' }}&gt; 1456 s（≈24 分钟）&lt;/span&gt;&#10;                    ，高峰时段 1 小时省回约&#10;                    &lt;span style={{ color: '#22D3EE', fontWeight: 'bold' }}&gt; 3126 s（≈52 分钟）&lt;/span&gt;&#10;                    。&#10;                &lt;/Text&gt;&#10;            &lt;/Box&gt;&#10;&#10;            &lt;Box style={{ marginTop: 'auto', padding: '14px 22px', background: 'rgba(34,211,238,0.10)', borderLeft: '3px solid #22D3EE', borderRadius: 4 }}&gt;&#10;                &lt;Text style={{ fontSize: 16, color: '#E6EEF9', opacity: 0.85, lineHeight: 1.55 }}&gt;&#10;                    这些时间没有凭空消失，只是从「没人却在开门」转移给了真正要乘梯的人 —— 这是全部收益中确定性最高的一块。&#10;                &lt;/Text&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15 / 18&lt;/Text&gt;&#10;    &lt;/Box&gt;&#10;&lt;/Slide&gt;&#10;"/>
        <p:cNvGrpSpPr/>
        <p:nvPr/>
      </p:nvGrpSpPr>
      <p:grpSpPr>
        <a:xfrm>
          <a:off x="0" y="0"/>
          <a:ext cx="0" cy="0"/>
          <a:chOff x="0" y="0"/>
          <a:chExt cx="0" cy="0"/>
        </a:xfrm>
      </p:grpSpPr>
      <p:sp>
        <p:nvSpPr>
          <p:cNvPr id="155" name="矩形 154"/>
          <p:cNvSpPr/>
          <p:nvPr/>
        </p:nvSpPr>
        <p:spPr>
          <a:xfrm>
            <a:off x="0" y="0"/>
            <a:ext cx="12192000" cy="6858000"/>
          </a:xfrm>
          <a:prstGeom prst="rect">
            <a:avLst/>
          </a:prstGeom>
          <a:solidFill>
            <a:srgbClr val="0A1424"/>
          </a:solidFill>
        </p:spPr>
        <p:txBody>
          <a:bodyPr/>
          <a:p/>
        </p:txBody>
      </p:sp>
      <p:pic>
        <p:nvPicPr>
          <p:cNvPr id="156" name="图片 155"/>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57" name="文本框 156"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04 · </a:t>
            </a:r>
            <a:r>
              <a:rPr lang="zh-CN" sz="1050" spc="225">
                <a:solidFill>
                  <a:srgbClr val="22D3EE"/>
                </a:solidFill>
                <a:latin typeface="Segoe UI" panose="020B0502040204020203"/>
                <a:ea typeface="Segoe UI" panose="020B0502040204020203"/>
              </a:rPr>
              <a:t>验证</a:t>
            </a:r>
            <a:endParaRPr lang="zh-CN" sz="1050" spc="225">
              <a:solidFill>
                <a:srgbClr val="22D3EE"/>
              </a:solidFill>
              <a:latin typeface="Segoe UI" panose="020B0502040204020203"/>
              <a:ea typeface="Segoe UI" panose="020B0502040204020203"/>
            </a:endParaRPr>
          </a:p>
        </p:txBody>
      </p:sp>
      <p:sp>
        <p:nvSpPr>
          <p:cNvPr id="158" name="文本框 157"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结果一：电梯不再做无用功</a:t>
            </a:r>
            <a:endParaRPr lang="zh-CN" sz="2400" b="1">
              <a:solidFill>
                <a:srgbClr val="E6EEF9"/>
              </a:solidFill>
              <a:latin typeface="微软雅黑" panose="020B0503020204020204" charset="-122"/>
              <a:ea typeface="微软雅黑" panose="020B0503020204020204" charset="-122"/>
            </a:endParaRPr>
          </a:p>
        </p:txBody>
      </p:sp>
      <p:sp>
        <p:nvSpPr>
          <p:cNvPr id="159" name="矩形 158"/>
          <p:cNvSpPr/>
          <p:nvPr/>
        </p:nvSpPr>
        <p:spPr>
          <a:xfrm>
            <a:off x="609600" y="1009650"/>
            <a:ext cx="533400" cy="28575"/>
          </a:xfrm>
          <a:prstGeom prst="rect">
            <a:avLst/>
          </a:prstGeom>
          <a:solidFill>
            <a:srgbClr val="22D3EE"/>
          </a:solidFill>
        </p:spPr>
        <p:txBody>
          <a:bodyPr/>
          <a:p/>
        </p:txBody>
      </p:sp>
      <p:sp>
        <p:nvSpPr>
          <p:cNvPr id="160" name="文本框 159" descr="{&quot;isTemplate&quot;:true,&quot;type&quot;:&quot;text&quot;}"/>
          <p:cNvSpPr txBox="1"/>
          <p:nvPr/>
        </p:nvSpPr>
        <p:spPr>
          <a:xfrm>
            <a:off x="609600" y="2143125"/>
            <a:ext cx="4000500" cy="1485900"/>
          </a:xfrm>
          <a:prstGeom prst="rect">
            <a:avLst/>
          </a:prstGeom>
        </p:spPr>
        <p:txBody>
          <a:bodyPr wrap="none" lIns="0" tIns="0" rIns="0" bIns="0"/>
          <a:p>
            <a:pPr>
              <a:lnSpc>
                <a:spcPct val="100000"/>
              </a:lnSpc>
            </a:pPr>
            <a:r>
              <a:rPr lang="en-US" sz="9750" b="1" spc="-300">
                <a:solidFill>
                  <a:srgbClr val="22D3EE"/>
                </a:solidFill>
                <a:latin typeface="Segoe UI" panose="020B0502040204020203"/>
                <a:ea typeface="Segoe UI" panose="020B0502040204020203"/>
              </a:rPr>
              <a:t>88.6%</a:t>
            </a:r>
            <a:endParaRPr lang="en-US" sz="9750" b="1" spc="-300">
              <a:solidFill>
                <a:srgbClr val="22D3EE"/>
              </a:solidFill>
              <a:latin typeface="Segoe UI" panose="020B0502040204020203"/>
              <a:ea typeface="Segoe UI" panose="020B0502040204020203"/>
            </a:endParaRPr>
          </a:p>
        </p:txBody>
      </p:sp>
      <p:sp>
        <p:nvSpPr>
          <p:cNvPr id="161" name="文本框 160" descr="{&quot;isTemplate&quot;:true,&quot;type&quot;:&quot;text&quot;}"/>
          <p:cNvSpPr txBox="1"/>
          <p:nvPr/>
        </p:nvSpPr>
        <p:spPr>
          <a:xfrm>
            <a:off x="609600" y="3762375"/>
            <a:ext cx="4000500" cy="419100"/>
          </a:xfrm>
          <a:prstGeom prst="rect">
            <a:avLst/>
          </a:prstGeom>
        </p:spPr>
        <p:txBody>
          <a:bodyPr wrap="none" lIns="0" tIns="0" rIns="0" bIns="0"/>
          <a:p>
            <a:pPr>
              <a:lnSpc>
                <a:spcPct val="140000"/>
              </a:lnSpc>
            </a:pPr>
            <a:r>
              <a:rPr lang="zh-CN" sz="1950" b="1">
                <a:solidFill>
                  <a:srgbClr val="E6EEF9"/>
                </a:solidFill>
                <a:latin typeface="微软雅黑" panose="020B0503020204020204" charset="-122"/>
                <a:ea typeface="微软雅黑" panose="020B0503020204020204" charset="-122"/>
              </a:rPr>
              <a:t>不再为不存在的人停</a:t>
            </a:r>
            <a:endParaRPr lang="zh-CN" sz="1950" b="1">
              <a:solidFill>
                <a:srgbClr val="E6EEF9"/>
              </a:solidFill>
              <a:latin typeface="微软雅黑" panose="020B0503020204020204" charset="-122"/>
              <a:ea typeface="微软雅黑" panose="020B0503020204020204" charset="-122"/>
            </a:endParaRPr>
          </a:p>
        </p:txBody>
      </p:sp>
      <p:sp>
        <p:nvSpPr>
          <p:cNvPr id="162" name="矩形 161"/>
          <p:cNvSpPr/>
          <p:nvPr/>
        </p:nvSpPr>
        <p:spPr>
          <a:xfrm>
            <a:off x="609600" y="4391025"/>
            <a:ext cx="533400" cy="38100"/>
          </a:xfrm>
          <a:prstGeom prst="rect">
            <a:avLst/>
          </a:prstGeom>
          <a:solidFill>
            <a:srgbClr val="22D3EE"/>
          </a:solidFill>
        </p:spPr>
        <p:txBody>
          <a:bodyPr/>
          <a:p/>
        </p:txBody>
      </p:sp>
      <p:sp>
        <p:nvSpPr>
          <p:cNvPr id="163" name="圆角矩形 162"/>
          <p:cNvSpPr/>
          <p:nvPr/>
        </p:nvSpPr>
        <p:spPr>
          <a:xfrm>
            <a:off x="4857750" y="1543050"/>
            <a:ext cx="6724650" cy="1066800"/>
          </a:xfrm>
          <a:prstGeom prst="roundRect">
            <a:avLst>
              <a:gd name="adj" fmla="val 8929"/>
            </a:avLst>
          </a:prstGeom>
          <a:solidFill>
            <a:srgbClr val="3B82F6">
              <a:alpha val="10000"/>
            </a:srgbClr>
          </a:solidFill>
          <a:ln w="12700">
            <a:solidFill>
              <a:srgbClr val="3B82F6">
                <a:alpha val="24000"/>
              </a:srgbClr>
            </a:solidFill>
            <a:prstDash val="solid"/>
          </a:ln>
        </p:spPr>
        <p:txBody>
          <a:bodyPr/>
          <a:p/>
        </p:txBody>
      </p:sp>
      <p:sp>
        <p:nvSpPr>
          <p:cNvPr id="164" name="文本框 163" descr="{&quot;isTemplate&quot;:true,&quot;type&quot;:&quot;text&quot;}"/>
          <p:cNvSpPr txBox="1"/>
          <p:nvPr/>
        </p:nvSpPr>
        <p:spPr>
          <a:xfrm>
            <a:off x="5067300" y="1676400"/>
            <a:ext cx="6305550" cy="219075"/>
          </a:xfrm>
          <a:prstGeom prst="rect">
            <a:avLst/>
          </a:prstGeom>
        </p:spPr>
        <p:txBody>
          <a:bodyPr wrap="none" lIns="0" tIns="0" rIns="0" bIns="0"/>
          <a:p>
            <a:pPr>
              <a:lnSpc>
                <a:spcPct val="100000"/>
              </a:lnSpc>
            </a:pPr>
            <a:r>
              <a:rPr lang="zh-CN" sz="1425" b="1">
                <a:solidFill>
                  <a:srgbClr val="E6EEF9"/>
                </a:solidFill>
                <a:latin typeface="微软雅黑" panose="020B0503020204020204" charset="-122"/>
                <a:ea typeface="微软雅黑" panose="020B0503020204020204" charset="-122"/>
              </a:rPr>
              <a:t>全时段合计 · 普通 3 h ＋ 高峰 1 h</a:t>
            </a:r>
            <a:endParaRPr lang="zh-CN" sz="1425" b="1">
              <a:solidFill>
                <a:srgbClr val="E6EEF9"/>
              </a:solidFill>
              <a:latin typeface="微软雅黑" panose="020B0503020204020204" charset="-122"/>
              <a:ea typeface="微软雅黑" panose="020B0503020204020204" charset="-122"/>
            </a:endParaRPr>
          </a:p>
        </p:txBody>
      </p:sp>
      <p:sp>
        <p:nvSpPr>
          <p:cNvPr id="165" name="文本框 164" descr="{&quot;isTemplate&quot;:true,&quot;type&quot;:&quot;text&quot;}"/>
          <p:cNvSpPr txBox="1"/>
          <p:nvPr/>
        </p:nvSpPr>
        <p:spPr>
          <a:xfrm>
            <a:off x="5067300" y="2181225"/>
            <a:ext cx="3019425" cy="266700"/>
          </a:xfrm>
          <a:prstGeom prst="rect">
            <a:avLst/>
          </a:prstGeom>
        </p:spPr>
        <p:txBody>
          <a:bodyPr wrap="none" lIns="0" tIns="0" rIns="0" bIns="0"/>
          <a:p>
            <a:pPr>
              <a:lnSpc>
                <a:spcPct val="100000"/>
              </a:lnSpc>
            </a:pPr>
            <a:r>
              <a:rPr lang="en-US" sz="1725" b="1">
                <a:solidFill>
                  <a:srgbClr val="E6EEF9"/>
                </a:solidFill>
                <a:latin typeface="Segoe UI" panose="020B0502040204020203"/>
                <a:ea typeface="Segoe UI" panose="020B0502040204020203"/>
              </a:rPr>
              <a:t>660 → 527　−20.1%</a:t>
            </a:r>
            <a:endParaRPr lang="en-US" sz="1200" b="1">
              <a:solidFill>
                <a:srgbClr val="22D3EE"/>
              </a:solidFill>
              <a:latin typeface="Segoe UI" panose="020B0502040204020203"/>
              <a:ea typeface="Segoe UI" panose="020B0502040204020203"/>
            </a:endParaRPr>
          </a:p>
        </p:txBody>
      </p:sp>
      <p:sp>
        <p:nvSpPr>
          <p:cNvPr id="166" name="文本框 165" descr="{&quot;isTemplate&quot;:true,&quot;type&quot;:&quot;text&quot;}"/>
          <p:cNvSpPr txBox="1"/>
          <p:nvPr/>
        </p:nvSpPr>
        <p:spPr>
          <a:xfrm>
            <a:off x="8353425" y="2181225"/>
            <a:ext cx="3019425" cy="266700"/>
          </a:xfrm>
          <a:prstGeom prst="rect">
            <a:avLst/>
          </a:prstGeom>
        </p:spPr>
        <p:txBody>
          <a:bodyPr wrap="none" lIns="0" tIns="0" rIns="0" bIns="0"/>
          <a:p>
            <a:pPr>
              <a:lnSpc>
                <a:spcPct val="100000"/>
              </a:lnSpc>
            </a:pPr>
            <a:r>
              <a:rPr lang="en-US" sz="1725" b="1">
                <a:solidFill>
                  <a:srgbClr val="E6EEF9"/>
                </a:solidFill>
                <a:latin typeface="Segoe UI" panose="020B0502040204020203"/>
                <a:ea typeface="Segoe UI" panose="020B0502040204020203"/>
              </a:rPr>
              <a:t>142 → 16　−88.6%</a:t>
            </a:r>
            <a:endParaRPr lang="en-US" sz="1200" b="1">
              <a:solidFill>
                <a:srgbClr val="22D3EE"/>
              </a:solidFill>
              <a:latin typeface="Segoe UI" panose="020B0502040204020203"/>
              <a:ea typeface="Segoe UI" panose="020B0502040204020203"/>
            </a:endParaRPr>
          </a:p>
        </p:txBody>
      </p:sp>
      <p:sp>
        <p:nvSpPr>
          <p:cNvPr id="167" name="圆角矩形 166"/>
          <p:cNvSpPr/>
          <p:nvPr/>
        </p:nvSpPr>
        <p:spPr>
          <a:xfrm>
            <a:off x="4857750" y="2724150"/>
            <a:ext cx="6724650" cy="1066800"/>
          </a:xfrm>
          <a:prstGeom prst="roundRect">
            <a:avLst>
              <a:gd name="adj" fmla="val 8929"/>
            </a:avLst>
          </a:prstGeom>
          <a:solidFill>
            <a:srgbClr val="3B82F6">
              <a:alpha val="10000"/>
            </a:srgbClr>
          </a:solidFill>
          <a:ln w="12700">
            <a:solidFill>
              <a:srgbClr val="3B82F6">
                <a:alpha val="24000"/>
              </a:srgbClr>
            </a:solidFill>
            <a:prstDash val="solid"/>
          </a:ln>
        </p:spPr>
        <p:txBody>
          <a:bodyPr/>
          <a:p/>
        </p:txBody>
      </p:sp>
      <p:sp>
        <p:nvSpPr>
          <p:cNvPr id="168" name="文本框 167" descr="{&quot;isTemplate&quot;:true,&quot;type&quot;:&quot;text&quot;}"/>
          <p:cNvSpPr txBox="1"/>
          <p:nvPr/>
        </p:nvSpPr>
        <p:spPr>
          <a:xfrm>
            <a:off x="5067300" y="2857500"/>
            <a:ext cx="6305550" cy="219075"/>
          </a:xfrm>
          <a:prstGeom prst="rect">
            <a:avLst/>
          </a:prstGeom>
        </p:spPr>
        <p:txBody>
          <a:bodyPr wrap="none" lIns="0" tIns="0" rIns="0" bIns="0"/>
          <a:p>
            <a:pPr>
              <a:lnSpc>
                <a:spcPct val="100000"/>
              </a:lnSpc>
            </a:pPr>
            <a:r>
              <a:rPr lang="zh-CN" sz="1425" b="1">
                <a:solidFill>
                  <a:srgbClr val="E6EEF9"/>
                </a:solidFill>
                <a:latin typeface="微软雅黑" panose="020B0503020204020204" charset="-122"/>
                <a:ea typeface="微软雅黑" panose="020B0503020204020204" charset="-122"/>
              </a:rPr>
              <a:t>每部电梯的运行负担</a:t>
            </a:r>
            <a:endParaRPr lang="zh-CN" sz="1425" b="1">
              <a:solidFill>
                <a:srgbClr val="E6EEF9"/>
              </a:solidFill>
              <a:latin typeface="微软雅黑" panose="020B0503020204020204" charset="-122"/>
              <a:ea typeface="微软雅黑" panose="020B0503020204020204" charset="-122"/>
            </a:endParaRPr>
          </a:p>
        </p:txBody>
      </p:sp>
      <p:sp>
        <p:nvSpPr>
          <p:cNvPr id="169" name="文本框 168" descr="{&quot;isTemplate&quot;:true,&quot;type&quot;:&quot;text&quot;}"/>
          <p:cNvSpPr txBox="1"/>
          <p:nvPr/>
        </p:nvSpPr>
        <p:spPr>
          <a:xfrm>
            <a:off x="5067300" y="3362325"/>
            <a:ext cx="3019425" cy="266700"/>
          </a:xfrm>
          <a:prstGeom prst="rect">
            <a:avLst/>
          </a:prstGeom>
        </p:spPr>
        <p:txBody>
          <a:bodyPr wrap="none" lIns="0" tIns="0" rIns="0" bIns="0"/>
          <a:p>
            <a:pPr>
              <a:lnSpc>
                <a:spcPct val="100000"/>
              </a:lnSpc>
            </a:pPr>
            <a:r>
              <a:rPr lang="en-US" sz="1725" b="1">
                <a:solidFill>
                  <a:srgbClr val="E6EEF9"/>
                </a:solidFill>
                <a:latin typeface="Segoe UI" panose="020B0502040204020203"/>
                <a:ea typeface="Segoe UI" panose="020B0502040204020203"/>
              </a:rPr>
              <a:t>1319 → 1054　−20.1%</a:t>
            </a:r>
            <a:endParaRPr lang="en-US" sz="1200" b="1">
              <a:solidFill>
                <a:srgbClr val="22D3EE"/>
              </a:solidFill>
              <a:latin typeface="Segoe UI" panose="020B0502040204020203"/>
              <a:ea typeface="Segoe UI" panose="020B0502040204020203"/>
            </a:endParaRPr>
          </a:p>
        </p:txBody>
      </p:sp>
      <p:sp>
        <p:nvSpPr>
          <p:cNvPr id="170" name="文本框 169" descr="{&quot;isTemplate&quot;:true,&quot;type&quot;:&quot;text&quot;}"/>
          <p:cNvSpPr txBox="1"/>
          <p:nvPr/>
        </p:nvSpPr>
        <p:spPr>
          <a:xfrm>
            <a:off x="8353425" y="3362325"/>
            <a:ext cx="3019425" cy="266700"/>
          </a:xfrm>
          <a:prstGeom prst="rect">
            <a:avLst/>
          </a:prstGeom>
        </p:spPr>
        <p:txBody>
          <a:bodyPr wrap="none" lIns="0" tIns="0" rIns="0" bIns="0"/>
          <a:p>
            <a:pPr>
              <a:lnSpc>
                <a:spcPct val="100000"/>
              </a:lnSpc>
            </a:pPr>
            <a:r>
              <a:rPr lang="en-US" sz="1725" b="1">
                <a:solidFill>
                  <a:srgbClr val="E6EEF9"/>
                </a:solidFill>
                <a:latin typeface="Segoe UI" panose="020B0502040204020203"/>
                <a:ea typeface="Segoe UI" panose="020B0502040204020203"/>
              </a:rPr>
              <a:t>31.4 → 29.7 s　−5.3%</a:t>
            </a:r>
            <a:endParaRPr lang="en-US" sz="1200" b="1">
              <a:solidFill>
                <a:srgbClr val="22D3EE"/>
              </a:solidFill>
              <a:latin typeface="Segoe UI" panose="020B0502040204020203"/>
              <a:ea typeface="Segoe UI" panose="020B0502040204020203"/>
            </a:endParaRPr>
          </a:p>
        </p:txBody>
      </p:sp>
      <p:sp>
        <p:nvSpPr>
          <p:cNvPr id="171" name="圆角矩形 170"/>
          <p:cNvSpPr/>
          <p:nvPr/>
        </p:nvSpPr>
        <p:spPr>
          <a:xfrm>
            <a:off x="4857750" y="3905250"/>
            <a:ext cx="6724650" cy="952500"/>
          </a:xfrm>
          <a:prstGeom prst="roundRect">
            <a:avLst>
              <a:gd name="adj" fmla="val 10000"/>
            </a:avLst>
          </a:prstGeom>
          <a:solidFill>
            <a:srgbClr val="22D3EE">
              <a:alpha val="10000"/>
            </a:srgbClr>
          </a:solidFill>
          <a:ln w="12700">
            <a:solidFill>
              <a:srgbClr val="22D3EE">
                <a:alpha val="30000"/>
              </a:srgbClr>
            </a:solidFill>
            <a:prstDash val="solid"/>
          </a:ln>
        </p:spPr>
        <p:txBody>
          <a:bodyPr/>
          <a:p/>
        </p:txBody>
      </p:sp>
      <p:sp>
        <p:nvSpPr>
          <p:cNvPr id="172" name="圆角矩形 171"/>
          <p:cNvSpPr/>
          <p:nvPr/>
        </p:nvSpPr>
        <p:spPr>
          <a:xfrm>
            <a:off x="4886325" y="5372100"/>
            <a:ext cx="6724650" cy="838200"/>
          </a:xfrm>
          <a:prstGeom prst="roundRect">
            <a:avLst>
              <a:gd name="adj" fmla="val 4545"/>
            </a:avLst>
          </a:prstGeom>
          <a:solidFill>
            <a:srgbClr val="22D3EE">
              <a:alpha val="10000"/>
            </a:srgbClr>
          </a:solidFill>
        </p:spPr>
        <p:txBody>
          <a:bodyPr/>
          <a:p/>
        </p:txBody>
      </p:sp>
      <p:sp>
        <p:nvSpPr>
          <p:cNvPr id="173" name="任意多边形 172"/>
          <p:cNvSpPr/>
          <p:nvPr/>
        </p:nvSpPr>
        <p:spPr>
          <a:xfrm>
            <a:off x="4886325" y="5372100"/>
            <a:ext cx="6724650" cy="838200"/>
          </a:xfrm>
          <a:custGeom>
            <a:avLst/>
            <a:gdLst/>
            <a:ahLst/>
            <a:cxnLst/>
            <a:pathLst>
              <a:path w="706" h="88">
                <a:moveTo>
                  <a:pt x="4" y="0"/>
                </a:moveTo>
                <a:cubicBezTo>
                  <a:pt x="3" y="0"/>
                  <a:pt x="3" y="0"/>
                  <a:pt x="3" y="1"/>
                </a:cubicBezTo>
                <a:lnTo>
                  <a:pt x="3" y="87"/>
                </a:lnTo>
                <a:cubicBezTo>
                  <a:pt x="3" y="87"/>
                  <a:pt x="3" y="88"/>
                  <a:pt x="4" y="88"/>
                </a:cubicBezTo>
                <a:cubicBezTo>
                  <a:pt x="2" y="88"/>
                  <a:pt x="0" y="86"/>
                  <a:pt x="0" y="84"/>
                </a:cubicBezTo>
                <a:lnTo>
                  <a:pt x="0" y="4"/>
                </a:lnTo>
                <a:cubicBezTo>
                  <a:pt x="0" y="2"/>
                  <a:pt x="2" y="0"/>
                  <a:pt x="4" y="0"/>
                </a:cubicBezTo>
                <a:close/>
              </a:path>
            </a:pathLst>
          </a:custGeom>
          <a:solidFill>
            <a:srgbClr val="22D3EE"/>
          </a:solidFill>
        </p:spPr>
        <p:txBody>
          <a:bodyPr/>
          <a:p/>
        </p:txBody>
      </p:sp>
      <p:sp>
        <p:nvSpPr>
          <p:cNvPr id="174" name="文本框 173" descr="{&quot;isTemplate&quot;:true,&quot;type&quot;:&quot;text&quot;}"/>
          <p:cNvSpPr txBox="1"/>
          <p:nvPr/>
        </p:nvSpPr>
        <p:spPr>
          <a:xfrm>
            <a:off x="609600" y="4638675"/>
            <a:ext cx="4000500" cy="685800"/>
          </a:xfrm>
          <a:prstGeom prst="rect">
            <a:avLst/>
          </a:prstGeom>
        </p:spPr>
        <p:txBody>
          <a:bodyPr wrap="square" lIns="0" tIns="0" rIns="0" bIns="0">
            <a:normAutofit/>
          </a:bodyPr>
          <a:p>
            <a:pPr>
              <a:lnSpc>
                <a:spcPct val="165000"/>
              </a:lnSpc>
            </a:pPr>
            <a:r>
              <a:rPr lang="zh-CN" sz="1350">
                <a:solidFill>
                  <a:srgbClr val="E6EEF9">
                    <a:alpha val="66000"/>
                  </a:srgbClr>
                </a:solidFill>
                <a:latin typeface="微软雅黑" panose="020B0503020204020204" charset="-122"/>
                <a:ea typeface="微软雅黑" panose="020B0503020204020204" charset="-122"/>
              </a:rPr>
              <a:t>改造后剩下的 16 次白停不再开关门 ——</a:t>
            </a:r>
            <a:endParaRPr lang="zh-CN" sz="1350">
              <a:solidFill>
                <a:srgbClr val="E6EEF9">
                  <a:alpha val="66000"/>
                </a:srgbClr>
              </a:solidFill>
              <a:latin typeface="微软雅黑" panose="020B0503020204020204" charset="-122"/>
              <a:ea typeface="微软雅黑" panose="020B0503020204020204" charset="-122"/>
            </a:endParaRPr>
          </a:p>
          <a:p>
            <a:pPr>
              <a:lnSpc>
                <a:spcPct val="165000"/>
              </a:lnSpc>
            </a:pPr>
            <a:r>
              <a:rPr lang="zh-CN" sz="1350">
                <a:solidFill>
                  <a:srgbClr val="E6EEF9">
                    <a:alpha val="66000"/>
                  </a:srgbClr>
                </a:solidFill>
                <a:latin typeface="微软雅黑" panose="020B0503020204020204" charset="-122"/>
                <a:ea typeface="微软雅黑" panose="020B0503020204020204" charset="-122"/>
              </a:rPr>
              <a:t>毫米波传感器直接跳过，不再产生时间损失。</a:t>
            </a:r>
            <a:endParaRPr lang="zh-CN" sz="1350">
              <a:solidFill>
                <a:srgbClr val="E6EEF9">
                  <a:alpha val="66000"/>
                </a:srgbClr>
              </a:solidFill>
              <a:latin typeface="微软雅黑" panose="020B0503020204020204" charset="-122"/>
              <a:ea typeface="微软雅黑" panose="020B0503020204020204" charset="-122"/>
            </a:endParaRPr>
          </a:p>
        </p:txBody>
      </p:sp>
      <p:sp>
        <p:nvSpPr>
          <p:cNvPr id="175" name="文本框 174" descr="{&quot;isTemplate&quot;:true,&quot;type&quot;:&quot;text&quot;}"/>
          <p:cNvSpPr txBox="1"/>
          <p:nvPr/>
        </p:nvSpPr>
        <p:spPr>
          <a:xfrm>
            <a:off x="4857750" y="1257300"/>
            <a:ext cx="6724650" cy="171450"/>
          </a:xfrm>
          <a:prstGeom prst="rect">
            <a:avLst/>
          </a:prstGeom>
        </p:spPr>
        <p:txBody>
          <a:bodyPr wrap="none" lIns="0" tIns="0" rIns="0" bIns="0"/>
          <a:p>
            <a:pPr>
              <a:lnSpc>
                <a:spcPct val="100000"/>
              </a:lnSpc>
            </a:pPr>
            <a:r>
              <a:rPr lang="zh-CN" sz="1125">
                <a:solidFill>
                  <a:srgbClr val="E6EEF9">
                    <a:alpha val="45000"/>
                  </a:srgbClr>
                </a:solidFill>
                <a:latin typeface="Segoe UI" panose="020B0502040204020203"/>
                <a:ea typeface="Segoe UI" panose="020B0502040204020203"/>
              </a:rPr>
              <a:t>以下均为 20 组随机种子的均值</a:t>
            </a:r>
            <a:endParaRPr lang="zh-CN" sz="1125">
              <a:solidFill>
                <a:srgbClr val="E6EEF9">
                  <a:alpha val="45000"/>
                </a:srgbClr>
              </a:solidFill>
              <a:latin typeface="Segoe UI" panose="020B0502040204020203"/>
              <a:ea typeface="Segoe UI" panose="020B0502040204020203"/>
            </a:endParaRPr>
          </a:p>
        </p:txBody>
      </p:sp>
      <p:sp>
        <p:nvSpPr>
          <p:cNvPr id="176" name="文本框 175" descr="{&quot;isTemplate&quot;:true,&quot;type&quot;:&quot;text&quot;}"/>
          <p:cNvSpPr txBox="1"/>
          <p:nvPr/>
        </p:nvSpPr>
        <p:spPr>
          <a:xfrm>
            <a:off x="5067300" y="1990725"/>
            <a:ext cx="3019425" cy="161925"/>
          </a:xfrm>
          <a:prstGeom prst="rect">
            <a:avLst/>
          </a:prstGeom>
        </p:spPr>
        <p:txBody>
          <a:bodyPr wrap="none" lIns="0" tIns="0" rIns="0" bIns="0"/>
          <a:p>
            <a:pPr>
              <a:lnSpc>
                <a:spcPct val="100000"/>
              </a:lnSpc>
            </a:pPr>
            <a:r>
              <a:rPr lang="zh-CN" sz="1050">
                <a:solidFill>
                  <a:srgbClr val="E6EEF9">
                    <a:alpha val="50000"/>
                  </a:srgbClr>
                </a:solidFill>
                <a:latin typeface="微软雅黑" panose="020B0503020204020204" charset="-122"/>
                <a:ea typeface="微软雅黑" panose="020B0503020204020204" charset="-122"/>
              </a:rPr>
              <a:t>开门次数</a:t>
            </a:r>
            <a:endParaRPr lang="zh-CN" sz="1050">
              <a:solidFill>
                <a:srgbClr val="E6EEF9">
                  <a:alpha val="50000"/>
                </a:srgbClr>
              </a:solidFill>
              <a:latin typeface="微软雅黑" panose="020B0503020204020204" charset="-122"/>
              <a:ea typeface="微软雅黑" panose="020B0503020204020204" charset="-122"/>
            </a:endParaRPr>
          </a:p>
        </p:txBody>
      </p:sp>
      <p:sp>
        <p:nvSpPr>
          <p:cNvPr id="177" name="文本框 176" descr="{&quot;isTemplate&quot;:true,&quot;type&quot;:&quot;text&quot;}"/>
          <p:cNvSpPr txBox="1"/>
          <p:nvPr/>
        </p:nvSpPr>
        <p:spPr>
          <a:xfrm>
            <a:off x="8353425" y="1990725"/>
            <a:ext cx="3019425" cy="161925"/>
          </a:xfrm>
          <a:prstGeom prst="rect">
            <a:avLst/>
          </a:prstGeom>
        </p:spPr>
        <p:txBody>
          <a:bodyPr wrap="none" lIns="0" tIns="0" rIns="0" bIns="0"/>
          <a:p>
            <a:pPr>
              <a:lnSpc>
                <a:spcPct val="100000"/>
              </a:lnSpc>
            </a:pPr>
            <a:r>
              <a:rPr lang="zh-CN" sz="1050">
                <a:solidFill>
                  <a:srgbClr val="E6EEF9">
                    <a:alpha val="50000"/>
                  </a:srgbClr>
                </a:solidFill>
                <a:latin typeface="微软雅黑" panose="020B0503020204020204" charset="-122"/>
                <a:ea typeface="微软雅黑" panose="020B0503020204020204" charset="-122"/>
              </a:rPr>
              <a:t>无效停靠次数</a:t>
            </a:r>
            <a:endParaRPr lang="zh-CN" sz="1050">
              <a:solidFill>
                <a:srgbClr val="E6EEF9">
                  <a:alpha val="50000"/>
                </a:srgbClr>
              </a:solidFill>
              <a:latin typeface="微软雅黑" panose="020B0503020204020204" charset="-122"/>
              <a:ea typeface="微软雅黑" panose="020B0503020204020204" charset="-122"/>
            </a:endParaRPr>
          </a:p>
        </p:txBody>
      </p:sp>
      <p:sp>
        <p:nvSpPr>
          <p:cNvPr id="178" name="文本框 177" descr="{&quot;isTemplate&quot;:true,&quot;type&quot;:&quot;text&quot;}"/>
          <p:cNvSpPr txBox="1"/>
          <p:nvPr/>
        </p:nvSpPr>
        <p:spPr>
          <a:xfrm>
            <a:off x="5067300" y="3171825"/>
            <a:ext cx="3019425" cy="161925"/>
          </a:xfrm>
          <a:prstGeom prst="rect">
            <a:avLst/>
          </a:prstGeom>
        </p:spPr>
        <p:txBody>
          <a:bodyPr wrap="none" lIns="0" tIns="0" rIns="0" bIns="0"/>
          <a:p>
            <a:pPr>
              <a:lnSpc>
                <a:spcPct val="100000"/>
              </a:lnSpc>
            </a:pPr>
            <a:r>
              <a:rPr lang="zh-CN" sz="1050">
                <a:solidFill>
                  <a:srgbClr val="E6EEF9">
                    <a:alpha val="50000"/>
                  </a:srgbClr>
                </a:solidFill>
                <a:latin typeface="微软雅黑" panose="020B0503020204020204" charset="-122"/>
                <a:ea typeface="微软雅黑" panose="020B0503020204020204" charset="-122"/>
              </a:rPr>
              <a:t>开关门动作总数</a:t>
            </a:r>
            <a:endParaRPr lang="zh-CN" sz="1050">
              <a:solidFill>
                <a:srgbClr val="E6EEF9">
                  <a:alpha val="50000"/>
                </a:srgbClr>
              </a:solidFill>
              <a:latin typeface="微软雅黑" panose="020B0503020204020204" charset="-122"/>
              <a:ea typeface="微软雅黑" panose="020B0503020204020204" charset="-122"/>
            </a:endParaRPr>
          </a:p>
        </p:txBody>
      </p:sp>
      <p:sp>
        <p:nvSpPr>
          <p:cNvPr id="179" name="文本框 178" descr="{&quot;isTemplate&quot;:true,&quot;type&quot;:&quot;text&quot;}"/>
          <p:cNvSpPr txBox="1"/>
          <p:nvPr/>
        </p:nvSpPr>
        <p:spPr>
          <a:xfrm>
            <a:off x="8353425" y="3171825"/>
            <a:ext cx="3019425" cy="161925"/>
          </a:xfrm>
          <a:prstGeom prst="rect">
            <a:avLst/>
          </a:prstGeom>
        </p:spPr>
        <p:txBody>
          <a:bodyPr wrap="none" lIns="0" tIns="0" rIns="0" bIns="0"/>
          <a:p>
            <a:pPr>
              <a:lnSpc>
                <a:spcPct val="100000"/>
              </a:lnSpc>
            </a:pPr>
            <a:r>
              <a:rPr lang="zh-CN" sz="1050">
                <a:solidFill>
                  <a:srgbClr val="E6EEF9">
                    <a:alpha val="50000"/>
                  </a:srgbClr>
                </a:solidFill>
                <a:latin typeface="微软雅黑" panose="020B0503020204020204" charset="-122"/>
                <a:ea typeface="微软雅黑" panose="020B0503020204020204" charset="-122"/>
              </a:rPr>
              <a:t>平均乘梯时间</a:t>
            </a:r>
            <a:endParaRPr lang="zh-CN" sz="1050">
              <a:solidFill>
                <a:srgbClr val="E6EEF9">
                  <a:alpha val="50000"/>
                </a:srgbClr>
              </a:solidFill>
              <a:latin typeface="微软雅黑" panose="020B0503020204020204" charset="-122"/>
              <a:ea typeface="微软雅黑" panose="020B0503020204020204" charset="-122"/>
            </a:endParaRPr>
          </a:p>
        </p:txBody>
      </p:sp>
      <p:sp>
        <p:nvSpPr>
          <p:cNvPr id="180" name="文本框 179" descr="{&quot;isTemplate&quot;:true,&quot;type&quot;:&quot;text&quot;}"/>
          <p:cNvSpPr txBox="1"/>
          <p:nvPr/>
        </p:nvSpPr>
        <p:spPr>
          <a:xfrm>
            <a:off x="5067300" y="4038600"/>
            <a:ext cx="6305550" cy="609600"/>
          </a:xfrm>
          <a:prstGeom prst="rect">
            <a:avLst/>
          </a:prstGeom>
        </p:spPr>
        <p:txBody>
          <a:bodyPr wrap="square" lIns="0" tIns="0" rIns="0" bIns="0">
            <a:normAutofit/>
          </a:bodyPr>
          <a:p>
            <a:pPr>
              <a:lnSpc>
                <a:spcPct val="155000"/>
              </a:lnSpc>
            </a:pPr>
            <a:r>
              <a:rPr lang="zh-CN" sz="1275">
                <a:solidFill>
                  <a:srgbClr val="E6EEF9">
                    <a:alpha val="80000"/>
                  </a:srgbClr>
                </a:solidFill>
                <a:latin typeface="微软雅黑" panose="020B0503020204020204" charset="-122"/>
                <a:ea typeface="微软雅黑" panose="020B0503020204020204" charset="-122"/>
              </a:rPr>
              <a:t>按每次停靠 = 开门 ＋ 关门共 2 × 2.6 s = 5.2 s 折算：减少的 133 次开门，</a:t>
            </a:r>
            <a:endParaRPr lang="zh-CN" sz="1275">
              <a:solidFill>
                <a:srgbClr val="E6EEF9">
                  <a:alpha val="80000"/>
                </a:srgbClr>
              </a:solidFill>
              <a:latin typeface="微软雅黑" panose="020B0503020204020204" charset="-122"/>
              <a:ea typeface="微软雅黑" panose="020B0503020204020204" charset="-122"/>
            </a:endParaRPr>
          </a:p>
          <a:p>
            <a:pPr>
              <a:lnSpc>
                <a:spcPct val="155000"/>
              </a:lnSpc>
            </a:pPr>
            <a:r>
              <a:rPr lang="zh-CN" sz="1275">
                <a:solidFill>
                  <a:srgbClr val="E6EEF9">
                    <a:alpha val="80000"/>
                  </a:srgbClr>
                </a:solidFill>
                <a:latin typeface="微软雅黑" panose="020B0503020204020204" charset="-122"/>
                <a:ea typeface="微软雅黑" panose="020B0503020204020204" charset="-122"/>
              </a:rPr>
              <a:t>全时段省回约 692 s（≈11.5 分钟）。</a:t>
            </a:r>
            <a:endParaRPr lang="zh-CN" sz="1275">
              <a:solidFill>
                <a:srgbClr val="E6EEF9">
                  <a:alpha val="80000"/>
                </a:srgbClr>
              </a:solidFill>
              <a:latin typeface="微软雅黑" panose="020B0503020204020204" charset="-122"/>
              <a:ea typeface="微软雅黑" panose="020B0503020204020204" charset="-122"/>
            </a:endParaRPr>
          </a:p>
        </p:txBody>
      </p:sp>
      <p:sp>
        <p:nvSpPr>
          <p:cNvPr id="181" name="文本框 180" descr="{&quot;isTemplate&quot;:true,&quot;type&quot;:&quot;text&quot;}"/>
          <p:cNvSpPr txBox="1"/>
          <p:nvPr/>
        </p:nvSpPr>
        <p:spPr>
          <a:xfrm>
            <a:off x="5095875" y="5505450"/>
            <a:ext cx="6276975" cy="571500"/>
          </a:xfrm>
          <a:prstGeom prst="rect">
            <a:avLst/>
          </a:prstGeom>
        </p:spPr>
        <p:txBody>
          <a:bodyPr wrap="square" lIns="0" tIns="0" rIns="0" bIns="0">
            <a:normAutofit/>
          </a:bodyPr>
          <a:p>
            <a:pPr>
              <a:lnSpc>
                <a:spcPct val="155000"/>
              </a:lnSpc>
            </a:pPr>
            <a:r>
              <a:rPr lang="zh-CN" sz="1200">
                <a:solidFill>
                  <a:srgbClr val="E6EEF9">
                    <a:alpha val="85000"/>
                  </a:srgbClr>
                </a:solidFill>
                <a:latin typeface="微软雅黑" panose="020B0503020204020204" charset="-122"/>
                <a:ea typeface="微软雅黑" panose="020B0503020204020204" charset="-122"/>
              </a:rPr>
              <a:t>这些时间没有凭空消失，只是从「没人却在开门」转移给了真正要乘梯的人</a:t>
            </a:r>
            <a:r>
              <a:rPr lang="en-US" sz="1200">
                <a:solidFill>
                  <a:srgbClr val="E6EEF9">
                    <a:alpha val="85000"/>
                  </a:srgbClr>
                </a:solidFill>
                <a:latin typeface="微软雅黑" panose="020B0503020204020204" charset="-122"/>
                <a:ea typeface="微软雅黑" panose="020B0503020204020204" charset="-122"/>
              </a:rPr>
              <a:t> —— </a:t>
            </a:r>
            <a:r>
              <a:rPr lang="zh-CN" sz="1200">
                <a:solidFill>
                  <a:srgbClr val="E6EEF9">
                    <a:alpha val="85000"/>
                  </a:srgbClr>
                </a:solidFill>
                <a:latin typeface="微软雅黑" panose="020B0503020204020204" charset="-122"/>
                <a:ea typeface="微软雅黑" panose="020B0503020204020204" charset="-122"/>
              </a:rPr>
              <a:t>这是全部收益中确定性最高的一块。</a:t>
            </a:r>
            <a:endParaRPr lang="zh-CN" sz="1200">
              <a:solidFill>
                <a:srgbClr val="E6EEF9">
                  <a:alpha val="85000"/>
                </a:srgbClr>
              </a:solidFill>
              <a:latin typeface="微软雅黑" panose="020B0503020204020204" charset="-122"/>
              <a:ea typeface="微软雅黑" panose="020B0503020204020204" charset="-122"/>
            </a:endParaRPr>
          </a:p>
        </p:txBody>
      </p:sp>
      <p:sp>
        <p:nvSpPr>
          <p:cNvPr id="182" name="任意多边形 181"/>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183" name="文本框 182"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184" name="文本框 183"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15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85" name="" descr="&lt;Slide&#13;&#10;    style={{&#13;&#10;        width: '1280px',&#13;&#10;        height: '720px',&#13;&#10;        background: '#0A1424',&#13;&#10;        padding: '32px 64px 24px 64px',&#13;&#10;        display: 'flex',&#13;&#10;        flexDirection: 'column',&#13;&#10;        fontFamily: 'Microsoft YaHei',&#13;&#10;        position: 'relative',&#13;&#10;    }}&#13;&#10;&gt;&#13;&#10;    &lt;Box style={{ position: 'absolute', top: 0, left: 0, width: '1280px', height: '720px', zIndex: 0 }}&gt;&#13;&#10;        &lt;svg width={1280} height={720} viewBox='0 0 1280 720'&gt;&#13;&#10;            &lt;defs&gt;&#13;&#10;                &lt;pattern id='grid' width='40' height='40' patternUnits='userSpaceOnUse'&gt;&#13;&#10;                    &lt;path d='M40 0 L0 0 0 40' fill='none' stroke='#3B82F6' strokeOpacity='0.08' strokeWidth='1' /&gt;&#13;&#10;                &lt;/pattern&gt;&#13;&#10;            &lt;/defs&gt;&#13;&#10;            &lt;rect width='1280' height='720' fill='url(#grid)' /&gt;&#13;&#10;        &lt;/svg&gt;&#13;&#10;    &lt;/Box&gt;&#13;&#10;&#13;&#10;    &lt;Box style={{ position: 'relative', zIndex: 1, height: 84, display: 'flex', flexDirection: 'column' }}&gt;&#13;&#10;        &lt;Text style={{ fontSize: 14, color: '#22D3EE', letterSpacing: 3, fontFamily: 'Segoe UI' }}&gt;CHAPTER 04 · 验证&lt;/Text&gt;&#13;&#10;        &lt;Box style={{ height: 8 }} /&gt;&#13;&#10;        &lt;Text style={{ fontSize: 32, fontWeight: 'bold', color: '#E6EEF9' }}&gt;结果二：高峰时段全线下降约 68%&lt;/Text&gt;&#13;&#10;        &lt;Box style={{ height: 10 }} /&gt;&#13;&#10;        &lt;Box style={{ width: '56px', height: '3px', background: '#22D3EE' }} /&gt;&#13;&#10;    &lt;/Box&gt;&#13;&#10;&#13;&#10;    &lt;Box style={{ position: 'relative', zIndex: 1, height: 520, marginTop: 16, flexDirection: 'row', gap: 24 }}&gt;&#13;&#10;        &lt;Box style={{ width: '760px', display: 'flex', flexDirection: 'column' }}&gt;&#13;&#10;            &lt;Box style={{ height: 34, flexDirection: 'row', alignItems: 'center', justifyContent: 'space-between' }}&gt;&#13;&#10;                &lt;Text style={{ fontSize: 16, color: '#E6EEF9', opacity: 0.6 }}&gt;高峰时段 · 1 小时 · 候梯时间（秒）&lt;/Text&gt;&#13;&#10;                &lt;Box style={{ flexDirection: 'row', alignItems: 'center', gap: 16 }}&gt;&#13;&#10;                    &lt;Box style={{ flexDirection: 'row', alignItems: 'center', gap: 7 }}&gt;&#13;&#10;                        &lt;Box style={{ width: 22, height: 10, background: 'rgba(59,130,246,0.6)', borderRadius: 2 }} /&gt;&#13;&#10;                        &lt;Text style={{ fontSize: 14, color: '#E6EEF9', opacity: 0.55 }}&gt;改造前&lt;/Text&gt;&#13;&#10;                    &lt;/Box&gt;&#13;&#10;                    &lt;Box style={{ flexDirection: 'row', alignItems: 'center', gap: 7 }}&gt;&#13;&#10;                        &lt;Box style={{ width: 22, height: 10, background: '#22D3EE', borderRadius: 2 }} /&gt;&#13;&#10;                        &lt;Text style={{ fontSize: 14, color: '#22D3EE' }}&gt;改造后&lt;/Text&gt;&#13;&#10;                    &lt;/Box&gt;&#13;&#10;                &lt;/Box&gt;&#13;&#10;            &lt;/Box&gt;&#13;&#10;&#13;&#10;            &lt;Box style={{ height: 10 }} /&gt;&#13;&#10;&#13;&#10;            &lt;Box style={{ height: 66, flexDirection: 'row', alignItems: 'center' }}&gt;&#13;&#10;                &lt;Text style={{ width: 104, fontSize: 17, fontWeight: 'bold', color: '#E6EEF9' }}&gt;平均&lt;/Text&gt;&#13;&#10;                &lt;Box style={{ flex: 1, flexDirection: 'column', gap: 6 }}&gt;&#13;&#10;                    &lt;Box style={{ flexDirection: 'row', alignItems: 'center', gap: 8 }}&gt;&#13;&#10;                        &lt;Box style={{ height: 18, width: 235, background: 'rgba(59,130,246,0.6)', borderRadius: 2 }} /&gt;&#13;&#10;                        &lt;Text style={{ fontSize: 14, color: '#E6EEF9', opacity: 0.55, fontFamily: 'Segoe UI' }}&gt;2283 s&lt;/Text&gt;&#13;&#10;                    &lt;/Box&gt;&#13;&#10;                    &lt;Box style={{ flexDirection: 'row', alignItems: 'center', gap: 8 }}&gt;&#13;&#10;                        &lt;Box style={{ height: 18, width: 75, background: '#22D3EE', borderRadius: 2 }} /&gt;&#13;&#10;                        &lt;Text style={{ fontSize: 14, fontWeight: 'bold', color: '#22D3EE', fontFamily: 'Segoe UI' }}&gt;731 s&lt;/Text&gt;&#13;&#10;                    &lt;/Box&gt;&#13;&#10;                &lt;/Box&gt;&#13;&#10;                &lt;Text style={{ width: 92, fontSize: 18, fontWeight: 'bold', color: '#22D3EE', textAlign: 'right', fontFamily: 'Segoe UI' }}&gt;−68.0%&lt;/Text&gt;&#13;&#10;            &lt;/Box&gt;&#13;&#10;&#13;&#10;            &lt;Box style={{ height: 66, flexDirection: 'row', alignItems: 'center' }}&gt;&#13;&#10;                &lt;Text style={{ width: 104, fontSize: 17, fontWeight: 'bold', color: '#E6EEF9' }}&gt;P20&lt;/Text&gt;&#13;&#10;                &lt;Box style={{ flex: 1, flexDirection: 'column', gap: 6 }}&gt;&#13;&#10;                    &lt;Box style={{ flexDirection: 'row', alignItems: 'center', gap: 8 }}&gt;&#13;&#10;                        &lt;Box style={{ height: 18, width: 74, background: 'rgba(59,130,246,0.6)', borderRadius: 2 }} /&gt;&#13;&#10;                        &lt;Text style={{ fontSize: 14, color: '#E6EEF9', opacity: 0.55, fontFamily: 'Segoe UI' }}&gt;723 s&lt;/Text&gt;&#13;&#10;                    &lt;/Box&gt;&#13;&#10;                    &lt;Box style={{ flexDirection: 'row', alignItems: 'center', gap: 8 }}&gt;&#13;&#10;                        &lt;Box style={{ height: 18, width: 20, background: '#22D3EE', borderRadius: 2 }} /&gt;&#13;&#10;                        &lt;Text style={{ fontSize: 14, fontWeight: 'bold', color: '#22D3EE', fontFamily: 'Segoe UI' }}&gt;190 s&lt;/Text&gt;&#13;&#10;                    &lt;/Box&gt;&#13;&#10;                &lt;/Box&gt;&#13;&#10;                &lt;Text style={{ width: 92, fontSize: 18, fontWeight: 'bold', color: '#22D3EE', textAlign: 'right', fontFamily: 'Segoe UI' }}&gt;−73.7%&lt;/Text&gt;&#13;&#10;            &lt;/Box&gt;&#13;&#10;&#13;&#10;            &lt;Box style={{ height: 66, flexDirection: 'row', alignItems: 'center' }}&gt;&#13;&#10;                &lt;Text style={{ width: 104, fontSize: 17, fontWeight: 'bold', color: '#E6EEF9' }}&gt;P50&lt;/Text&gt;&#13;&#10;                &lt;Box style={{ flex: 1, flexDirection: 'column', gap: 6 }}&gt;&#13;&#10;                    &lt;Box style={{ flexDirection: 'row', alignItems: 'center', gap: 8 }}&gt;&#13;&#10;                        &lt;Box style={{ height: 18, width: 235, background: 'rgba(59,130,246,0.6)', borderRadius: 2 }} /&gt;&#13;&#10;                        &lt;Text style={{ fontSize: 14, color: '#E6EEF9', opacity: 0.55, fontFamily: 'Segoe UI' }}&gt;2282 s&lt;/Text&gt;&#13;&#10;                    &lt;/Box&gt;&#13;&#10;                    &lt;Box style={{ flexDirection: 'row', alignItems: 'center', gap: 8 }}&gt;&#13;&#10;                        &lt;Box style={{ height: 18, width: 75, background: '#22D3EE', borderRadius: 2 }} /&gt;&#13;&#10;                        &lt;Text style={{ fontSize: 14, fontWeight: 'bold', color: '#22D3EE', fontFamily: 'Segoe UI' }}&gt;730 s&lt;/Text&gt;&#13;&#10;                    &lt;/Box&gt;&#13;&#10;                &lt;/Box&gt;&#13;&#10;                &lt;Text style={{ width: 92, fontSize: 18, fontWeight: 'bold', color: '#22D3EE', textAlign: 'right', fontFamily: 'Segoe UI' }}&gt;−68.0%&lt;/Text&gt;&#13;&#10;            &lt;/Box&gt;&#13;&#10;&#13;&#10;            &lt;Box style={{ height: 66, flexDirection: 'row', alignItems: 'center' }}&gt;&#13;&#10;                &lt;Text style={{ width: 104, fontSize: 17, fontWeight: 'bold', color: '#E6EEF9' }}&gt;P90&lt;/Text&gt;&#13;&#10;                &lt;Box style={{ flex: 1, flexDirection: 'column', gap: 6 }}&gt;&#13;&#10;                    &lt;Box style={{ flexDirection: 'row', alignItems: 'center', gap: 8 }}&gt;&#13;&#10;                        &lt;Box style={{ height: 18, width: 440, background: 'rgba(59,130,246,0.6)', borderRadius: 2 }} /&gt;&#13;&#10;                        &lt;Text style={{ fontSize: 14, color: '#E6EEF9', opacity: 0.55, fontFamily: 'Segoe UI' }}&gt;4264 s&lt;/Text&gt;&#13;&#10;                    &lt;/Box&gt;&#13;&#10;                    &lt;Box style={{ flexDirection: 'row', alignItems: 'center', gap: 8 }}&gt;&#13;&#10;                        &lt;Box style={{ height: 18, width: 140, background: '#22D3EE', borderRadius: 2 }} /&gt;&#13;&#10;                        &lt;Text style={{ fontSize: 14, fontWeight: 'bold', color: '#22D3EE', fontFamily: 'Segoe UI' }}&gt;1361 s&lt;/Text&gt;&#13;&#10;                    &lt;/Box&gt;&#13;&#10;                &lt;/Box&gt;&#13;&#10;                &lt;Text style={{ width: 92, fontSize: 18, fontWeight: 'bold', color: '#22D3EE', textAlign: 'right', fontFamily: 'Segoe UI' }}&gt;−68.1%&lt;/Text&gt;&#13;&#10;            &lt;/Box&gt;&#13;&#10;&#13;&#10;            &lt;Box style={{ height: 66, flexDirection: 'row', alignItems: 'center' }}&gt;&#13;&#10;                &lt;Text style={{ width: 104, fontSize: 17, fontWeight: 'bold', color: '#E6EEF9' }}&gt;P95&lt;/Text&gt;&#13;&#10;                &lt;Box style={{ flex: 1, flexDirection: 'column', gap: 6 }}&gt;&#13;&#10;                    &lt;Box style={{ flexDirection: 'row', alignItems: 'center', gap: 8 }}&gt;&#13;&#10;                        &lt;Box style={{ height: 18, width: 455, background: 'rgba(59,130,246,0.6)', borderRadius: 2 }} /&gt;&#13;&#10;                        &lt;Text style={{ fontSize: 14, color: '#E6EEF9', opacity: 0.55, fontFamily: 'Segoe UI' }}&gt;4416 s&lt;/Text&gt;&#13;&#10;                    &lt;/Box&gt;&#13;&#10;                    &lt;Box style={{ flexDirection: 'row', alignItems: 'center', gap: 8 }}&gt;&#13;&#10;                        &lt;Box style={{ height: 18, width: 144, background: '#22D3EE', borderRadius: 2 }} /&gt;&#13;&#10;                        &lt;Text style={{ fontSize: 14, fontWeight: 'bold', color: '#22D3EE', fontFamily: 'Segoe UI' }}&gt;1399 s&lt;/Text&gt;&#13;&#10;                    &lt;/Box&gt;&#13;&#10;                &lt;/Box&gt;&#13;&#10;                &lt;Text style={{ width: 92, fontSize: 18, fontWeight: 'bold', color: '#22D3EE', textAlign: 'right', fontFamily: 'Segoe UI' }}&gt;−68.3%&lt;/Text&gt;&#13;&#10;            &lt;/Box&gt;&#13;&#10;&#13;&#10;            &lt;Box style={{ height: 66, flexDirection: 'row', alignItems: 'center' }}&gt;&#13;&#10;                &lt;Text style={{ width: 104, fontSize: 17, fontWeight: 'bold', color: '#E6EEF9' }}&gt;最大&lt;/Text&gt;&#13;&#10;                &lt;Box style={{ flex: 1, flexDirection: 'column', gap: 6 }}&gt;&#13;&#10;                    &lt;Box style={{ flexDirection: 'row', alignItems: 'center', gap: 8 }}&gt;&#13;&#10;                        &lt;Box style={{ height: 18, width: 470, background: 'rgba(59,130,246,0.6)', borderRadius: 2 }} /&gt;&#13;&#10;                        &lt;Text style={{ fontSize: 14, color: '#E6EEF9', opacity: 0.55, fontFamily: 'Segoe UI' }}&gt;4558 s&lt;/Text&gt;&#13;&#10;                    &lt;/Box&gt;&#13;&#10;                    &lt;Box style={{ flexDirection: 'row', alignItems: 'center', gap: 8 }}&gt;&#13;&#10;                        &lt;Box style={{ height: 18, width: 150, background: '#22D3EE', borderRadius: 2 }} /&gt;&#13;&#10;                        &lt;Text style={{ fontSize: 14, fontWeight: 'bold', color: '#22D3EE', fontFamily: 'Segoe UI' }}&gt;1458 s&lt;/Text&gt;&#13;&#10;                    &lt;/Box&gt;&#13;&#10;                &lt;/Box&gt;&#13;&#10;                &lt;Text style={{ width: 92, fontSize: 18, fontWeight: 'bold', color: '#22D3EE', textAlign: 'right', fontFamily: 'Segoe UI' }}&gt;−68.0%&lt;/Text&gt;&#13;&#10;            &lt;/Box&gt;&#13;&#10;        &lt;/Box&gt;&#13;&#10;&#13;&#10;        &lt;Box style={{ flex: 1, display: 'flex', flexDirection: 'column' }}&gt;&#13;&#10;            &lt;Text style={{ fontSize: 78, fontWeight: 'bold', color: '#22D3EE', lineHeight: 1.0, fontFamily: 'Segoe UI', letterSpacing: -3 }}&gt;68%&lt;/Text&gt;&#13;&#10;            &lt;Box style={{ height: 10 }} /&gt;&#13;&#10;            &lt;Text style={{ fontSize: 21, fontWeight: 'bold', color: '#E6EEF9' }}&gt;全线下降，没有此消彼长&lt;/Text&gt;&#13;&#10;            &lt;Box style={{ height: 13 }} /&gt;&#13;&#10;            &lt;Box style={{ width: '48px', height: '3px', background: '#22D3EE' }} /&gt;&#13;&#10;            &lt;Box style={{ height: 13 }} /&gt;&#13;&#10;            &lt;Text style={{ fontSize: 16, color: '#E6EEF9', opacity: 0.7, lineHeight: 1.65 }}&gt;&#13;&#10;                · 平均、P20、P50、P90、P95、最大候梯时间同步下降约 68%&#13;&#10;                &lt;br /&gt;&#13;&#10;                &lt;br /&gt;&#13;&#10;                · 1000 次实验中，改造后在 &lt;span style={{ color: '#22D3EE', fontWeight: 'bold' }}&gt;100%&lt;/span&gt; 的实验里优于改造前&#13;&#10;                &lt;br /&gt;&#13;&#10;                &lt;br /&gt;&#13;&#10;                · 开关门动作 −50%、无效停靠归零，而电梯趟数与平均载客人数保持不变&#13;&#10;            &lt;/Text&gt;&#13;&#10;            &lt;Box style={{ marginTop: 'auto', padding: '14px 18px', background: 'rgba(34,211,238,0.10)', borderLeft: '3px solid #22D3EE', borderRadius: 4 }}&gt;&#13;&#10;                &lt;Text style={{ fontSize: 16, color: '#E6EEF9', opacity: 0.85, lineHeight: 1.55 }}&gt;&#13;&#10;                    高峰不是「平均变好」，而是所有人一起变好 —— 电梯总数一趟没多跑。&#13;&#10;                &lt;/Text&gt;&#13;&#10;            &lt;/Box&gt;&#13;&#10;        &lt;/Box&gt;&#13;&#10;    &lt;/Box&gt;&#13;&#10;&#13;&#10;    &lt;Box&#13;&#10;        style={{&#13;&#10;            position: 'relative',&#13;&#10;            zIndex: 1,&#13;&#10;            height: 36,&#13;&#10;            marginTop: 8,&#13;&#10;            flexDirection: 'row',&#13;&#10;            alignItems: 'center',&#13;&#10;            justifyContent: 'space-between',&#13;&#10;            borderTop: '1px solid rgba(59,130,246,0.22)',&#13;&#10;        }}&#13;&#10;    &gt;&#13;&#10;        &lt;Text style={{ fontSize: 14, color: '#E6EEF9', opacity: 0.45 }}&gt;宿舍电梯运行策略优化 · 红豆斋&lt;/Text&gt;&#13;&#10;        &lt;Text style={{ fontSize: 14, color: '#E6EEF9', opacity: 0.45, fontFamily: 'Segoe UI' }}&gt;16 / 18&lt;/Text&gt;&#13;&#10;    &lt;/Box&gt;&#13;&#10;&lt;/Slide&gt;&#13;&#10;"/>
        <p:cNvGrpSpPr/>
        <p:nvPr/>
      </p:nvGrpSpPr>
      <p:grpSpPr>
        <a:xfrm>
          <a:off x="0" y="0"/>
          <a:ext cx="0" cy="0"/>
          <a:chOff x="0" y="0"/>
          <a:chExt cx="0" cy="0"/>
        </a:xfrm>
      </p:grpSpPr>
      <p:sp>
        <p:nvSpPr>
          <p:cNvPr id="186" name="矩形 185"/>
          <p:cNvSpPr/>
          <p:nvPr/>
        </p:nvSpPr>
        <p:spPr>
          <a:xfrm>
            <a:off x="0" y="0"/>
            <a:ext cx="12192000" cy="6858000"/>
          </a:xfrm>
          <a:prstGeom prst="rect">
            <a:avLst/>
          </a:prstGeom>
          <a:solidFill>
            <a:srgbClr val="0A1424"/>
          </a:solidFill>
        </p:spPr>
        <p:txBody>
          <a:bodyPr/>
          <a:p/>
        </p:txBody>
      </p:sp>
      <p:pic>
        <p:nvPicPr>
          <p:cNvPr id="187" name="图片 18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188" name="文本框 187"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04 · </a:t>
            </a:r>
            <a:r>
              <a:rPr lang="zh-CN" sz="1050" spc="225">
                <a:solidFill>
                  <a:srgbClr val="22D3EE"/>
                </a:solidFill>
                <a:latin typeface="Segoe UI" panose="020B0502040204020203"/>
                <a:ea typeface="Segoe UI" panose="020B0502040204020203"/>
              </a:rPr>
              <a:t>验证</a:t>
            </a:r>
            <a:endParaRPr lang="zh-CN" sz="1050" spc="225">
              <a:solidFill>
                <a:srgbClr val="22D3EE"/>
              </a:solidFill>
              <a:latin typeface="Segoe UI" panose="020B0502040204020203"/>
              <a:ea typeface="Segoe UI" panose="020B0502040204020203"/>
            </a:endParaRPr>
          </a:p>
        </p:txBody>
      </p:sp>
      <p:sp>
        <p:nvSpPr>
          <p:cNvPr id="189" name="文本框 188"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结果二：收益在长尾，不在平均值</a:t>
            </a:r>
            <a:endParaRPr lang="en-US" sz="2400" b="1">
              <a:solidFill>
                <a:srgbClr val="E6EEF9"/>
              </a:solidFill>
              <a:latin typeface="微软雅黑" panose="020B0503020204020204" charset="-122"/>
              <a:ea typeface="微软雅黑" panose="020B0503020204020204" charset="-122"/>
            </a:endParaRPr>
          </a:p>
        </p:txBody>
      </p:sp>
      <p:sp>
        <p:nvSpPr>
          <p:cNvPr id="190" name="矩形 189"/>
          <p:cNvSpPr/>
          <p:nvPr/>
        </p:nvSpPr>
        <p:spPr>
          <a:xfrm>
            <a:off x="609600" y="1009650"/>
            <a:ext cx="533400" cy="28575"/>
          </a:xfrm>
          <a:prstGeom prst="rect">
            <a:avLst/>
          </a:prstGeom>
          <a:solidFill>
            <a:srgbClr val="22D3EE"/>
          </a:solidFill>
        </p:spPr>
        <p:txBody>
          <a:bodyPr/>
          <a:p/>
        </p:txBody>
      </p:sp>
      <p:sp>
        <p:nvSpPr>
          <p:cNvPr id="191" name="圆角矩形 190"/>
          <p:cNvSpPr/>
          <p:nvPr/>
        </p:nvSpPr>
        <p:spPr>
          <a:xfrm>
            <a:off x="6343650" y="1381125"/>
            <a:ext cx="209550" cy="95250"/>
          </a:xfrm>
          <a:prstGeom prst="roundRect">
            <a:avLst>
              <a:gd name="adj" fmla="val 20000"/>
            </a:avLst>
          </a:prstGeom>
          <a:solidFill>
            <a:srgbClr val="3B82F6">
              <a:alpha val="60000"/>
            </a:srgbClr>
          </a:solidFill>
        </p:spPr>
        <p:txBody>
          <a:bodyPr/>
          <a:p/>
        </p:txBody>
      </p:sp>
      <p:sp>
        <p:nvSpPr>
          <p:cNvPr id="192" name="圆角矩形 191"/>
          <p:cNvSpPr/>
          <p:nvPr/>
        </p:nvSpPr>
        <p:spPr>
          <a:xfrm>
            <a:off x="7172325" y="1381125"/>
            <a:ext cx="209550" cy="95250"/>
          </a:xfrm>
          <a:prstGeom prst="roundRect">
            <a:avLst>
              <a:gd name="adj" fmla="val 20000"/>
            </a:avLst>
          </a:prstGeom>
          <a:solidFill>
            <a:srgbClr val="22D3EE"/>
          </a:solidFill>
        </p:spPr>
        <p:txBody>
          <a:bodyPr/>
          <a:p/>
        </p:txBody>
      </p:sp>
      <p:sp>
        <p:nvSpPr>
          <p:cNvPr id="193" name="文本框 192" descr="{&quot;isTemplate&quot;:true,&quot;type&quot;:&quot;text&quot;}"/>
          <p:cNvSpPr txBox="1"/>
          <p:nvPr/>
        </p:nvSpPr>
        <p:spPr>
          <a:xfrm>
            <a:off x="7448550" y="1343025"/>
            <a:ext cx="400050" cy="161925"/>
          </a:xfrm>
          <a:prstGeom prst="rect">
            <a:avLst/>
          </a:prstGeom>
        </p:spPr>
        <p:txBody>
          <a:bodyPr wrap="none" lIns="0" tIns="0" rIns="0" bIns="0"/>
          <a:p>
            <a:pPr>
              <a:lnSpc>
                <a:spcPct val="100000"/>
              </a:lnSpc>
            </a:pPr>
            <a:r>
              <a:rPr lang="zh-CN" sz="1050">
                <a:solidFill>
                  <a:srgbClr val="22D3EE"/>
                </a:solidFill>
                <a:latin typeface="微软雅黑" panose="020B0503020204020204" charset="-122"/>
                <a:ea typeface="微软雅黑" panose="020B0503020204020204" charset="-122"/>
              </a:rPr>
              <a:t>改造后</a:t>
            </a:r>
            <a:endParaRPr lang="zh-CN" sz="1050">
              <a:solidFill>
                <a:srgbClr val="22D3EE"/>
              </a:solidFill>
              <a:latin typeface="微软雅黑" panose="020B0503020204020204" charset="-122"/>
              <a:ea typeface="微软雅黑" panose="020B0503020204020204" charset="-122"/>
            </a:endParaRPr>
          </a:p>
        </p:txBody>
      </p:sp>
      <p:sp>
        <p:nvSpPr>
          <p:cNvPr id="194" name="文本框 193" descr="{&quot;isTemplate&quot;:true,&quot;type&quot;:&quot;text&quot;}"/>
          <p:cNvSpPr txBox="1"/>
          <p:nvPr/>
        </p:nvSpPr>
        <p:spPr>
          <a:xfrm>
            <a:off x="609600" y="1895475"/>
            <a:ext cx="990600" cy="200025"/>
          </a:xfrm>
          <a:prstGeom prst="rect">
            <a:avLst/>
          </a:prstGeom>
        </p:spPr>
        <p:txBody>
          <a:bodyPr wrap="none" lIns="0" tIns="0" rIns="0" bIns="0"/>
          <a:p>
            <a:pPr>
              <a:lnSpc>
                <a:spcPct val="100000"/>
              </a:lnSpc>
            </a:pPr>
            <a:r>
              <a:rPr lang="zh-CN" sz="1275" b="1">
                <a:solidFill>
                  <a:srgbClr val="E6EEF9"/>
                </a:solidFill>
                <a:latin typeface="微软雅黑" panose="020B0503020204020204" charset="-122"/>
                <a:ea typeface="微软雅黑" panose="020B0503020204020204" charset="-122"/>
              </a:rPr>
              <a:t>平均候梯</a:t>
            </a:r>
            <a:endParaRPr lang="zh-CN" sz="1275" b="1">
              <a:solidFill>
                <a:srgbClr val="E6EEF9"/>
              </a:solidFill>
              <a:latin typeface="微软雅黑" panose="020B0503020204020204" charset="-122"/>
              <a:ea typeface="微软雅黑" panose="020B0503020204020204" charset="-122"/>
            </a:endParaRPr>
          </a:p>
        </p:txBody>
      </p:sp>
      <p:sp>
        <p:nvSpPr>
          <p:cNvPr id="195" name="圆角矩形 194"/>
          <p:cNvSpPr/>
          <p:nvPr/>
        </p:nvSpPr>
        <p:spPr>
          <a:xfrm>
            <a:off x="1600200" y="1790700"/>
            <a:ext cx="368706" cy="171450"/>
          </a:xfrm>
          <a:prstGeom prst="roundRect">
            <a:avLst>
              <a:gd name="adj" fmla="val 11111"/>
            </a:avLst>
          </a:prstGeom>
          <a:solidFill>
            <a:srgbClr val="3B82F6">
              <a:alpha val="60000"/>
            </a:srgbClr>
          </a:solidFill>
        </p:spPr>
        <p:txBody>
          <a:bodyPr/>
          <a:p/>
        </p:txBody>
      </p:sp>
      <p:sp>
        <p:nvSpPr>
          <p:cNvPr id="196" name="圆角矩形 195"/>
          <p:cNvSpPr/>
          <p:nvPr/>
        </p:nvSpPr>
        <p:spPr>
          <a:xfrm>
            <a:off x="1600200" y="2019300"/>
            <a:ext cx="341387" cy="171450"/>
          </a:xfrm>
          <a:prstGeom prst="roundRect">
            <a:avLst>
              <a:gd name="adj" fmla="val 11111"/>
            </a:avLst>
          </a:prstGeom>
          <a:solidFill>
            <a:srgbClr val="22D3EE"/>
          </a:solidFill>
        </p:spPr>
        <p:txBody>
          <a:bodyPr/>
          <a:p/>
        </p:txBody>
      </p:sp>
      <p:sp>
        <p:nvSpPr>
          <p:cNvPr id="197" name="文本框 196" descr="{&quot;isTemplate&quot;:true,&quot;type&quot;:&quot;text&quot;}"/>
          <p:cNvSpPr txBox="1"/>
          <p:nvPr/>
        </p:nvSpPr>
        <p:spPr>
          <a:xfrm>
            <a:off x="2017787" y="2028825"/>
            <a:ext cx="584200" cy="161925"/>
          </a:xfrm>
          <a:prstGeom prst="rect">
            <a:avLst/>
          </a:prstGeom>
        </p:spPr>
        <p:txBody>
          <a:bodyPr wrap="none" lIns="0" tIns="0" rIns="0" bIns="0"/>
          <a:p>
            <a:pPr>
              <a:lnSpc>
                <a:spcPct val="100000"/>
              </a:lnSpc>
            </a:pPr>
            <a:r>
              <a:rPr lang="en-US" sz="1050" b="1">
                <a:solidFill>
                  <a:srgbClr val="22D3EE"/>
                </a:solidFill>
                <a:latin typeface="Segoe UI" panose="020B0502040204020203"/>
                <a:ea typeface="Segoe UI" panose="020B0502040204020203"/>
              </a:rPr>
              <a:t>17.62 s</a:t>
            </a:r>
            <a:endParaRPr lang="en-US" sz="1050" b="1">
              <a:solidFill>
                <a:srgbClr val="22D3EE"/>
              </a:solidFill>
              <a:latin typeface="Segoe UI" panose="020B0502040204020203"/>
              <a:ea typeface="Segoe UI" panose="020B0502040204020203"/>
            </a:endParaRPr>
          </a:p>
        </p:txBody>
      </p:sp>
      <p:sp>
        <p:nvSpPr>
          <p:cNvPr id="198" name="文本框 197" descr="{&quot;isTemplate&quot;:true,&quot;type&quot;:&quot;text&quot;}"/>
          <p:cNvSpPr txBox="1"/>
          <p:nvPr/>
        </p:nvSpPr>
        <p:spPr>
          <a:xfrm>
            <a:off x="6972300" y="1885950"/>
            <a:ext cx="876300" cy="209550"/>
          </a:xfrm>
          <a:prstGeom prst="rect">
            <a:avLst/>
          </a:prstGeom>
        </p:spPr>
        <p:txBody>
          <a:bodyPr wrap="none" lIns="0" tIns="0" rIns="0" bIns="0"/>
          <a:p>
            <a:pPr algn="r">
              <a:lnSpc>
                <a:spcPct val="100000"/>
              </a:lnSpc>
            </a:pPr>
            <a:r>
              <a:rPr lang="en-US" sz="1350" b="1">
                <a:solidFill>
                  <a:srgbClr val="22D3EE"/>
                </a:solidFill>
                <a:latin typeface="Segoe UI" panose="020B0502040204020203"/>
                <a:ea typeface="Segoe UI" panose="020B0502040204020203"/>
              </a:rPr>
              <a:t>−7.5%</a:t>
            </a:r>
            <a:endParaRPr lang="en-US" sz="1350" b="1">
              <a:solidFill>
                <a:srgbClr val="22D3EE"/>
              </a:solidFill>
              <a:latin typeface="Segoe UI" panose="020B0502040204020203"/>
              <a:ea typeface="Segoe UI" panose="020B0502040204020203"/>
            </a:endParaRPr>
          </a:p>
        </p:txBody>
      </p:sp>
      <p:sp>
        <p:nvSpPr>
          <p:cNvPr id="199" name="文本框 198" descr="{&quot;isTemplate&quot;:true,&quot;type&quot;:&quot;text&quot;}"/>
          <p:cNvSpPr txBox="1"/>
          <p:nvPr/>
        </p:nvSpPr>
        <p:spPr>
          <a:xfrm>
            <a:off x="609600" y="2524125"/>
            <a:ext cx="990600" cy="200025"/>
          </a:xfrm>
          <a:prstGeom prst="rect">
            <a:avLst/>
          </a:prstGeom>
        </p:spPr>
        <p:txBody>
          <a:bodyPr wrap="none" lIns="0" tIns="0" rIns="0" bIns="0"/>
          <a:p>
            <a:pPr>
              <a:lnSpc>
                <a:spcPct val="100000"/>
              </a:lnSpc>
            </a:pPr>
            <a:r>
              <a:rPr lang="en-US" sz="1275" b="1">
                <a:solidFill>
                  <a:srgbClr val="E6EEF9"/>
                </a:solidFill>
                <a:latin typeface="微软雅黑" panose="020B0503020204020204" charset="-122"/>
                <a:ea typeface="微软雅黑" panose="020B0503020204020204" charset="-122"/>
              </a:rPr>
              <a:t>闸机起算</a:t>
            </a:r>
            <a:endParaRPr lang="en-US" sz="1275" b="1">
              <a:solidFill>
                <a:srgbClr val="E6EEF9"/>
              </a:solidFill>
              <a:latin typeface="微软雅黑" panose="020B0503020204020204" charset="-122"/>
              <a:ea typeface="微软雅黑" panose="020B0503020204020204" charset="-122"/>
            </a:endParaRPr>
          </a:p>
        </p:txBody>
      </p:sp>
      <p:sp>
        <p:nvSpPr>
          <p:cNvPr id="200" name="圆角矩形 199"/>
          <p:cNvSpPr/>
          <p:nvPr/>
        </p:nvSpPr>
        <p:spPr>
          <a:xfrm>
            <a:off x="1600200" y="2419350"/>
            <a:ext cx="446206" cy="171450"/>
          </a:xfrm>
          <a:prstGeom prst="roundRect">
            <a:avLst>
              <a:gd name="adj" fmla="val 11111"/>
            </a:avLst>
          </a:prstGeom>
          <a:solidFill>
            <a:srgbClr val="3B82F6">
              <a:alpha val="60000"/>
            </a:srgbClr>
          </a:solidFill>
        </p:spPr>
        <p:txBody>
          <a:bodyPr/>
          <a:p/>
        </p:txBody>
      </p:sp>
      <p:sp>
        <p:nvSpPr>
          <p:cNvPr id="201" name="圆角矩形 200"/>
          <p:cNvSpPr/>
          <p:nvPr/>
        </p:nvSpPr>
        <p:spPr>
          <a:xfrm>
            <a:off x="1600200" y="2647950"/>
            <a:ext cx="341387" cy="171450"/>
          </a:xfrm>
          <a:prstGeom prst="roundRect">
            <a:avLst>
              <a:gd name="adj" fmla="val 11111"/>
            </a:avLst>
          </a:prstGeom>
          <a:solidFill>
            <a:srgbClr val="22D3EE"/>
          </a:solidFill>
        </p:spPr>
        <p:txBody>
          <a:bodyPr/>
          <a:p/>
        </p:txBody>
      </p:sp>
      <p:sp>
        <p:nvSpPr>
          <p:cNvPr id="202" name="文本框 201" descr="{&quot;isTemplate&quot;:true,&quot;type&quot;:&quot;text&quot;}"/>
          <p:cNvSpPr txBox="1"/>
          <p:nvPr/>
        </p:nvSpPr>
        <p:spPr>
          <a:xfrm>
            <a:off x="2017787" y="2657475"/>
            <a:ext cx="584200" cy="161925"/>
          </a:xfrm>
          <a:prstGeom prst="rect">
            <a:avLst/>
          </a:prstGeom>
        </p:spPr>
        <p:txBody>
          <a:bodyPr wrap="none" lIns="0" tIns="0" rIns="0" bIns="0"/>
          <a:p>
            <a:pPr>
              <a:lnSpc>
                <a:spcPct val="100000"/>
              </a:lnSpc>
            </a:pPr>
            <a:r>
              <a:rPr lang="en-US" sz="1050" b="1">
                <a:solidFill>
                  <a:srgbClr val="22D3EE"/>
                </a:solidFill>
                <a:latin typeface="Segoe UI" panose="020B0502040204020203"/>
                <a:ea typeface="Segoe UI" panose="020B0502040204020203"/>
              </a:rPr>
              <a:t>17.62 s</a:t>
            </a:r>
            <a:endParaRPr lang="en-US" sz="1050" b="1">
              <a:solidFill>
                <a:srgbClr val="22D3EE"/>
              </a:solidFill>
              <a:latin typeface="Segoe UI" panose="020B0502040204020203"/>
              <a:ea typeface="Segoe UI" panose="020B0502040204020203"/>
            </a:endParaRPr>
          </a:p>
        </p:txBody>
      </p:sp>
      <p:sp>
        <p:nvSpPr>
          <p:cNvPr id="203" name="文本框 202" descr="{&quot;isTemplate&quot;:true,&quot;type&quot;:&quot;text&quot;}"/>
          <p:cNvSpPr txBox="1"/>
          <p:nvPr/>
        </p:nvSpPr>
        <p:spPr>
          <a:xfrm>
            <a:off x="6972300" y="2514600"/>
            <a:ext cx="876300" cy="209550"/>
          </a:xfrm>
          <a:prstGeom prst="rect">
            <a:avLst/>
          </a:prstGeom>
        </p:spPr>
        <p:txBody>
          <a:bodyPr wrap="none" lIns="0" tIns="0" rIns="0" bIns="0"/>
          <a:p>
            <a:pPr algn="r">
              <a:lnSpc>
                <a:spcPct val="100000"/>
              </a:lnSpc>
            </a:pPr>
            <a:r>
              <a:rPr lang="en-US" sz="1350" b="1">
                <a:solidFill>
                  <a:srgbClr val="22D3EE"/>
                </a:solidFill>
                <a:latin typeface="Segoe UI" panose="020B0502040204020203"/>
                <a:ea typeface="Segoe UI" panose="020B0502040204020203"/>
              </a:rPr>
              <a:t>−23.5%</a:t>
            </a:r>
            <a:endParaRPr lang="en-US" sz="1350" b="1">
              <a:solidFill>
                <a:srgbClr val="22D3EE"/>
              </a:solidFill>
              <a:latin typeface="Segoe UI" panose="020B0502040204020203"/>
              <a:ea typeface="Segoe UI" panose="020B0502040204020203"/>
            </a:endParaRPr>
          </a:p>
        </p:txBody>
      </p:sp>
      <p:sp>
        <p:nvSpPr>
          <p:cNvPr id="204" name="文本框 203" descr="{&quot;isTemplate&quot;:true,&quot;type&quot;:&quot;text&quot;}"/>
          <p:cNvSpPr txBox="1"/>
          <p:nvPr/>
        </p:nvSpPr>
        <p:spPr>
          <a:xfrm>
            <a:off x="609600" y="3152775"/>
            <a:ext cx="990600" cy="200025"/>
          </a:xfrm>
          <a:prstGeom prst="rect">
            <a:avLst/>
          </a:prstGeom>
        </p:spPr>
        <p:txBody>
          <a:bodyPr wrap="none" lIns="0" tIns="0" rIns="0" bIns="0"/>
          <a:p>
            <a:pPr>
              <a:lnSpc>
                <a:spcPct val="100000"/>
              </a:lnSpc>
            </a:pPr>
            <a:r>
              <a:rPr lang="en-US" sz="1275" b="1">
                <a:solidFill>
                  <a:srgbClr val="E6EEF9"/>
                </a:solidFill>
                <a:latin typeface="微软雅黑" panose="020B0503020204020204" charset="-122"/>
                <a:ea typeface="微软雅黑" panose="020B0503020204020204" charset="-122"/>
              </a:rPr>
              <a:t>P95 候梯</a:t>
            </a:r>
            <a:endParaRPr lang="en-US" sz="1275" b="1">
              <a:solidFill>
                <a:srgbClr val="E6EEF9"/>
              </a:solidFill>
              <a:latin typeface="微软雅黑" panose="020B0503020204020204" charset="-122"/>
              <a:ea typeface="微软雅黑" panose="020B0503020204020204" charset="-122"/>
            </a:endParaRPr>
          </a:p>
        </p:txBody>
      </p:sp>
      <p:sp>
        <p:nvSpPr>
          <p:cNvPr id="205" name="圆角矩形 204"/>
          <p:cNvSpPr/>
          <p:nvPr/>
        </p:nvSpPr>
        <p:spPr>
          <a:xfrm>
            <a:off x="1600200" y="3048000"/>
            <a:ext cx="996845" cy="171450"/>
          </a:xfrm>
          <a:prstGeom prst="roundRect">
            <a:avLst>
              <a:gd name="adj" fmla="val 11111"/>
            </a:avLst>
          </a:prstGeom>
          <a:solidFill>
            <a:srgbClr val="3B82F6">
              <a:alpha val="60000"/>
            </a:srgbClr>
          </a:solidFill>
        </p:spPr>
        <p:txBody>
          <a:bodyPr/>
          <a:p/>
        </p:txBody>
      </p:sp>
      <p:sp>
        <p:nvSpPr>
          <p:cNvPr id="206" name="圆角矩形 205"/>
          <p:cNvSpPr/>
          <p:nvPr/>
        </p:nvSpPr>
        <p:spPr>
          <a:xfrm>
            <a:off x="1600200" y="3276600"/>
            <a:ext cx="1018545" cy="171450"/>
          </a:xfrm>
          <a:prstGeom prst="roundRect">
            <a:avLst>
              <a:gd name="adj" fmla="val 11111"/>
            </a:avLst>
          </a:prstGeom>
          <a:solidFill>
            <a:srgbClr val="22D3EE"/>
          </a:solidFill>
        </p:spPr>
        <p:txBody>
          <a:bodyPr/>
          <a:p/>
        </p:txBody>
      </p:sp>
      <p:sp>
        <p:nvSpPr>
          <p:cNvPr id="207" name="文本框 206" descr="{&quot;isTemplate&quot;:true,&quot;type&quot;:&quot;text&quot;}"/>
          <p:cNvSpPr txBox="1"/>
          <p:nvPr/>
        </p:nvSpPr>
        <p:spPr>
          <a:xfrm>
            <a:off x="2694945" y="3286125"/>
            <a:ext cx="584200" cy="161925"/>
          </a:xfrm>
          <a:prstGeom prst="rect">
            <a:avLst/>
          </a:prstGeom>
        </p:spPr>
        <p:txBody>
          <a:bodyPr wrap="none" lIns="0" tIns="0" rIns="0" bIns="0"/>
          <a:p>
            <a:pPr>
              <a:lnSpc>
                <a:spcPct val="100000"/>
              </a:lnSpc>
            </a:pPr>
            <a:r>
              <a:rPr lang="en-US" sz="1050" b="1">
                <a:solidFill>
                  <a:srgbClr val="22D3EE"/>
                </a:solidFill>
                <a:latin typeface="Segoe UI" panose="020B0502040204020203"/>
                <a:ea typeface="Segoe UI" panose="020B0502040204020203"/>
              </a:rPr>
              <a:t>52.57 s</a:t>
            </a:r>
            <a:endParaRPr lang="en-US" sz="1050" b="1">
              <a:solidFill>
                <a:srgbClr val="22D3EE"/>
              </a:solidFill>
              <a:latin typeface="Segoe UI" panose="020B0502040204020203"/>
              <a:ea typeface="Segoe UI" panose="020B0502040204020203"/>
            </a:endParaRPr>
          </a:p>
        </p:txBody>
      </p:sp>
      <p:sp>
        <p:nvSpPr>
          <p:cNvPr id="208" name="文本框 207" descr="{&quot;isTemplate&quot;:true,&quot;type&quot;:&quot;text&quot;}"/>
          <p:cNvSpPr txBox="1"/>
          <p:nvPr/>
        </p:nvSpPr>
        <p:spPr>
          <a:xfrm>
            <a:off x="6972300" y="3143250"/>
            <a:ext cx="876300" cy="209550"/>
          </a:xfrm>
          <a:prstGeom prst="rect">
            <a:avLst/>
          </a:prstGeom>
        </p:spPr>
        <p:txBody>
          <a:bodyPr wrap="none" lIns="0" tIns="0" rIns="0" bIns="0"/>
          <a:p>
            <a:pPr algn="r">
              <a:lnSpc>
                <a:spcPct val="100000"/>
              </a:lnSpc>
            </a:pPr>
            <a:r>
              <a:rPr lang="en-US" sz="1350" b="1">
                <a:solidFill>
                  <a:srgbClr val="E6EEF9"/>
                </a:solidFill>
                <a:latin typeface="Segoe UI" panose="020B0502040204020203"/>
                <a:ea typeface="Segoe UI" panose="020B0502040204020203"/>
              </a:rPr>
              <a:t>+2.2%</a:t>
            </a:r>
            <a:endParaRPr lang="en-US" sz="1350" b="1">
              <a:solidFill>
                <a:srgbClr val="22D3EE"/>
              </a:solidFill>
              <a:latin typeface="Segoe UI" panose="020B0502040204020203"/>
              <a:ea typeface="Segoe UI" panose="020B0502040204020203"/>
            </a:endParaRPr>
          </a:p>
        </p:txBody>
      </p:sp>
      <p:sp>
        <p:nvSpPr>
          <p:cNvPr id="209" name="文本框 208" descr="{&quot;isTemplate&quot;:true,&quot;type&quot;:&quot;text&quot;}"/>
          <p:cNvSpPr txBox="1"/>
          <p:nvPr/>
        </p:nvSpPr>
        <p:spPr>
          <a:xfrm>
            <a:off x="609600" y="3781425"/>
            <a:ext cx="990600" cy="200025"/>
          </a:xfrm>
          <a:prstGeom prst="rect">
            <a:avLst/>
          </a:prstGeom>
        </p:spPr>
        <p:txBody>
          <a:bodyPr wrap="none" lIns="0" tIns="0" rIns="0" bIns="0"/>
          <a:p>
            <a:pPr>
              <a:lnSpc>
                <a:spcPct val="100000"/>
              </a:lnSpc>
            </a:pPr>
            <a:r>
              <a:rPr lang="en-US" sz="1275" b="1">
                <a:solidFill>
                  <a:srgbClr val="E6EEF9"/>
                </a:solidFill>
                <a:latin typeface="微软雅黑" panose="020B0503020204020204" charset="-122"/>
                <a:ea typeface="微软雅黑" panose="020B0503020204020204" charset="-122"/>
              </a:rPr>
              <a:t>最长候梯</a:t>
            </a:r>
            <a:endParaRPr lang="en-US" sz="1275" b="1">
              <a:solidFill>
                <a:srgbClr val="E6EEF9"/>
              </a:solidFill>
              <a:latin typeface="微软雅黑" panose="020B0503020204020204" charset="-122"/>
              <a:ea typeface="微软雅黑" panose="020B0503020204020204" charset="-122"/>
            </a:endParaRPr>
          </a:p>
        </p:txBody>
      </p:sp>
      <p:sp>
        <p:nvSpPr>
          <p:cNvPr id="210" name="圆角矩形 209"/>
          <p:cNvSpPr/>
          <p:nvPr/>
        </p:nvSpPr>
        <p:spPr>
          <a:xfrm>
            <a:off x="1600200" y="3676650"/>
            <a:ext cx="4470400" cy="171450"/>
          </a:xfrm>
          <a:prstGeom prst="roundRect">
            <a:avLst>
              <a:gd name="adj" fmla="val 11111"/>
            </a:avLst>
          </a:prstGeom>
          <a:solidFill>
            <a:srgbClr val="3B82F6">
              <a:alpha val="60000"/>
            </a:srgbClr>
          </a:solidFill>
        </p:spPr>
        <p:txBody>
          <a:bodyPr/>
          <a:p/>
        </p:txBody>
      </p:sp>
      <p:sp>
        <p:nvSpPr>
          <p:cNvPr id="211" name="圆角矩形 210"/>
          <p:cNvSpPr/>
          <p:nvPr/>
        </p:nvSpPr>
        <p:spPr>
          <a:xfrm>
            <a:off x="1600200" y="3905250"/>
            <a:ext cx="2588309" cy="171450"/>
          </a:xfrm>
          <a:prstGeom prst="roundRect">
            <a:avLst>
              <a:gd name="adj" fmla="val 11111"/>
            </a:avLst>
          </a:prstGeom>
          <a:solidFill>
            <a:srgbClr val="22D3EE"/>
          </a:solidFill>
        </p:spPr>
        <p:txBody>
          <a:bodyPr/>
          <a:p/>
        </p:txBody>
      </p:sp>
      <p:sp>
        <p:nvSpPr>
          <p:cNvPr id="212" name="文本框 211" descr="{&quot;isTemplate&quot;:true,&quot;type&quot;:&quot;text&quot;}"/>
          <p:cNvSpPr txBox="1"/>
          <p:nvPr/>
        </p:nvSpPr>
        <p:spPr>
          <a:xfrm>
            <a:off x="4264709" y="3914775"/>
            <a:ext cx="584200" cy="161925"/>
          </a:xfrm>
          <a:prstGeom prst="rect">
            <a:avLst/>
          </a:prstGeom>
        </p:spPr>
        <p:txBody>
          <a:bodyPr wrap="none" lIns="0" tIns="0" rIns="0" bIns="0"/>
          <a:p>
            <a:pPr>
              <a:lnSpc>
                <a:spcPct val="100000"/>
              </a:lnSpc>
            </a:pPr>
            <a:r>
              <a:rPr lang="en-US" sz="1050" b="1">
                <a:solidFill>
                  <a:srgbClr val="22D3EE"/>
                </a:solidFill>
                <a:latin typeface="Segoe UI" panose="020B0502040204020203"/>
                <a:ea typeface="Segoe UI" panose="020B0502040204020203"/>
              </a:rPr>
              <a:t>133.59 s</a:t>
            </a:r>
            <a:endParaRPr lang="en-US" sz="1050" b="1">
              <a:solidFill>
                <a:srgbClr val="22D3EE"/>
              </a:solidFill>
              <a:latin typeface="Segoe UI" panose="020B0502040204020203"/>
              <a:ea typeface="Segoe UI" panose="020B0502040204020203"/>
            </a:endParaRPr>
          </a:p>
        </p:txBody>
      </p:sp>
      <p:sp>
        <p:nvSpPr>
          <p:cNvPr id="213" name="文本框 212" descr="{&quot;isTemplate&quot;:true,&quot;type&quot;:&quot;text&quot;}"/>
          <p:cNvSpPr txBox="1"/>
          <p:nvPr/>
        </p:nvSpPr>
        <p:spPr>
          <a:xfrm>
            <a:off x="6972300" y="3771900"/>
            <a:ext cx="876300" cy="209550"/>
          </a:xfrm>
          <a:prstGeom prst="rect">
            <a:avLst/>
          </a:prstGeom>
        </p:spPr>
        <p:txBody>
          <a:bodyPr wrap="none" lIns="0" tIns="0" rIns="0" bIns="0"/>
          <a:p>
            <a:pPr algn="r">
              <a:lnSpc>
                <a:spcPct val="100000"/>
              </a:lnSpc>
            </a:pPr>
            <a:r>
              <a:rPr lang="en-US" sz="1350" b="1">
                <a:solidFill>
                  <a:srgbClr val="22D3EE"/>
                </a:solidFill>
                <a:latin typeface="Segoe UI" panose="020B0502040204020203"/>
                <a:ea typeface="Segoe UI" panose="020B0502040204020203"/>
              </a:rPr>
              <a:t>−42.1%</a:t>
            </a:r>
            <a:endParaRPr lang="en-US" sz="1350" b="1">
              <a:solidFill>
                <a:srgbClr val="22D3EE"/>
              </a:solidFill>
              <a:latin typeface="Segoe UI" panose="020B0502040204020203"/>
              <a:ea typeface="Segoe UI" panose="020B0502040204020203"/>
            </a:endParaRPr>
          </a:p>
        </p:txBody>
      </p:sp>
      <p:sp>
        <p:nvSpPr>
          <p:cNvPr id="214" name="文本框 213" descr="{&quot;isTemplate&quot;:true,&quot;type&quot;:&quot;text&quot;}"/>
          <p:cNvSpPr txBox="1"/>
          <p:nvPr/>
        </p:nvSpPr>
        <p:spPr>
          <a:xfrm>
            <a:off x="609600" y="4410075"/>
            <a:ext cx="990600" cy="200025"/>
          </a:xfrm>
          <a:prstGeom prst="rect">
            <a:avLst/>
          </a:prstGeom>
        </p:spPr>
        <p:txBody>
          <a:bodyPr wrap="none" lIns="0" tIns="0" rIns="0" bIns="0"/>
          <a:p>
            <a:pPr>
              <a:lnSpc>
                <a:spcPct val="100000"/>
              </a:lnSpc>
            </a:pPr>
            <a:r>
              <a:rPr lang="en-US" sz="1275" b="1">
                <a:solidFill>
                  <a:srgbClr val="E6EEF9"/>
                </a:solidFill>
                <a:latin typeface="微软雅黑" panose="020B0503020204020204" charset="-122"/>
                <a:ea typeface="微软雅黑" panose="020B0503020204020204" charset="-122"/>
              </a:rPr>
              <a:t>高峰平均</a:t>
            </a:r>
            <a:endParaRPr lang="en-US" sz="1275" b="1">
              <a:solidFill>
                <a:srgbClr val="E6EEF9"/>
              </a:solidFill>
              <a:latin typeface="微软雅黑" panose="020B0503020204020204" charset="-122"/>
              <a:ea typeface="微软雅黑" panose="020B0503020204020204" charset="-122"/>
            </a:endParaRPr>
          </a:p>
        </p:txBody>
      </p:sp>
      <p:sp>
        <p:nvSpPr>
          <p:cNvPr id="215" name="圆角矩形 214"/>
          <p:cNvSpPr/>
          <p:nvPr/>
        </p:nvSpPr>
        <p:spPr>
          <a:xfrm>
            <a:off x="1600200" y="4305300"/>
            <a:ext cx="406488" cy="171450"/>
          </a:xfrm>
          <a:prstGeom prst="roundRect">
            <a:avLst>
              <a:gd name="adj" fmla="val 11111"/>
            </a:avLst>
          </a:prstGeom>
          <a:solidFill>
            <a:srgbClr val="3B82F6">
              <a:alpha val="60000"/>
            </a:srgbClr>
          </a:solidFill>
        </p:spPr>
        <p:txBody>
          <a:bodyPr/>
          <a:p/>
        </p:txBody>
      </p:sp>
      <p:sp>
        <p:nvSpPr>
          <p:cNvPr id="216" name="圆角矩形 215"/>
          <p:cNvSpPr/>
          <p:nvPr/>
        </p:nvSpPr>
        <p:spPr>
          <a:xfrm>
            <a:off x="1600200" y="4533900"/>
            <a:ext cx="360375" cy="171450"/>
          </a:xfrm>
          <a:prstGeom prst="roundRect">
            <a:avLst>
              <a:gd name="adj" fmla="val 11111"/>
            </a:avLst>
          </a:prstGeom>
          <a:solidFill>
            <a:srgbClr val="22D3EE"/>
          </a:solidFill>
        </p:spPr>
        <p:txBody>
          <a:bodyPr/>
          <a:p/>
        </p:txBody>
      </p:sp>
      <p:sp>
        <p:nvSpPr>
          <p:cNvPr id="217" name="文本框 216" descr="{&quot;isTemplate&quot;:true,&quot;type&quot;:&quot;text&quot;}"/>
          <p:cNvSpPr txBox="1"/>
          <p:nvPr/>
        </p:nvSpPr>
        <p:spPr>
          <a:xfrm>
            <a:off x="2036775" y="4543425"/>
            <a:ext cx="584200" cy="161925"/>
          </a:xfrm>
          <a:prstGeom prst="rect">
            <a:avLst/>
          </a:prstGeom>
        </p:spPr>
        <p:txBody>
          <a:bodyPr wrap="none" lIns="0" tIns="0" rIns="0" bIns="0"/>
          <a:p>
            <a:pPr>
              <a:lnSpc>
                <a:spcPct val="100000"/>
              </a:lnSpc>
            </a:pPr>
            <a:r>
              <a:rPr lang="en-US" sz="1050" b="1">
                <a:solidFill>
                  <a:srgbClr val="22D3EE"/>
                </a:solidFill>
                <a:latin typeface="Segoe UI" panose="020B0502040204020203"/>
                <a:ea typeface="Segoe UI" panose="020B0502040204020203"/>
              </a:rPr>
              <a:t>18.60 s</a:t>
            </a:r>
            <a:endParaRPr lang="en-US" sz="1050" b="1">
              <a:solidFill>
                <a:srgbClr val="22D3EE"/>
              </a:solidFill>
              <a:latin typeface="Segoe UI" panose="020B0502040204020203"/>
              <a:ea typeface="Segoe UI" panose="020B0502040204020203"/>
            </a:endParaRPr>
          </a:p>
        </p:txBody>
      </p:sp>
      <p:sp>
        <p:nvSpPr>
          <p:cNvPr id="218" name="文本框 217" descr="{&quot;isTemplate&quot;:true,&quot;type&quot;:&quot;text&quot;}"/>
          <p:cNvSpPr txBox="1"/>
          <p:nvPr/>
        </p:nvSpPr>
        <p:spPr>
          <a:xfrm>
            <a:off x="6972300" y="4400550"/>
            <a:ext cx="876300" cy="209550"/>
          </a:xfrm>
          <a:prstGeom prst="rect">
            <a:avLst/>
          </a:prstGeom>
        </p:spPr>
        <p:txBody>
          <a:bodyPr wrap="none" lIns="0" tIns="0" rIns="0" bIns="0"/>
          <a:p>
            <a:pPr algn="r">
              <a:lnSpc>
                <a:spcPct val="100000"/>
              </a:lnSpc>
            </a:pPr>
            <a:r>
              <a:rPr lang="en-US" sz="1350" b="1">
                <a:solidFill>
                  <a:srgbClr val="22D3EE"/>
                </a:solidFill>
                <a:latin typeface="Segoe UI" panose="020B0502040204020203"/>
                <a:ea typeface="Segoe UI" panose="020B0502040204020203"/>
              </a:rPr>
              <a:t>−11.3%</a:t>
            </a:r>
            <a:endParaRPr lang="en-US" sz="1350" b="1">
              <a:solidFill>
                <a:srgbClr val="22D3EE"/>
              </a:solidFill>
              <a:latin typeface="Segoe UI" panose="020B0502040204020203"/>
              <a:ea typeface="Segoe UI" panose="020B0502040204020203"/>
            </a:endParaRPr>
          </a:p>
        </p:txBody>
      </p:sp>
      <p:sp>
        <p:nvSpPr>
          <p:cNvPr id="219" name="文本框 218" descr="{&quot;isTemplate&quot;:true,&quot;type&quot;:&quot;text&quot;}"/>
          <p:cNvSpPr txBox="1"/>
          <p:nvPr/>
        </p:nvSpPr>
        <p:spPr>
          <a:xfrm>
            <a:off x="609600" y="5038725"/>
            <a:ext cx="990600" cy="200025"/>
          </a:xfrm>
          <a:prstGeom prst="rect">
            <a:avLst/>
          </a:prstGeom>
        </p:spPr>
        <p:txBody>
          <a:bodyPr wrap="none" lIns="0" tIns="0" rIns="0" bIns="0"/>
          <a:p>
            <a:pPr>
              <a:lnSpc>
                <a:spcPct val="100000"/>
              </a:lnSpc>
            </a:pPr>
            <a:r>
              <a:rPr lang="zh-CN" sz="1275" b="1">
                <a:solidFill>
                  <a:srgbClr val="E6EEF9"/>
                </a:solidFill>
                <a:latin typeface="微软雅黑" panose="020B0503020204020204" charset="-122"/>
                <a:ea typeface="微软雅黑" panose="020B0503020204020204" charset="-122"/>
              </a:rPr>
              <a:t>平峰平均</a:t>
            </a:r>
            <a:endParaRPr lang="zh-CN" sz="1275" b="1">
              <a:solidFill>
                <a:srgbClr val="E6EEF9"/>
              </a:solidFill>
              <a:latin typeface="微软雅黑" panose="020B0503020204020204" charset="-122"/>
              <a:ea typeface="微软雅黑" panose="020B0503020204020204" charset="-122"/>
            </a:endParaRPr>
          </a:p>
        </p:txBody>
      </p:sp>
      <p:sp>
        <p:nvSpPr>
          <p:cNvPr id="220" name="圆角矩形 219"/>
          <p:cNvSpPr/>
          <p:nvPr/>
        </p:nvSpPr>
        <p:spPr>
          <a:xfrm>
            <a:off x="1600200" y="4933950"/>
            <a:ext cx="159456" cy="171450"/>
          </a:xfrm>
          <a:prstGeom prst="roundRect">
            <a:avLst>
              <a:gd name="adj" fmla="val 11111"/>
            </a:avLst>
          </a:prstGeom>
          <a:solidFill>
            <a:srgbClr val="3B82F6">
              <a:alpha val="60000"/>
            </a:srgbClr>
          </a:solidFill>
        </p:spPr>
        <p:txBody>
          <a:bodyPr/>
          <a:p/>
        </p:txBody>
      </p:sp>
      <p:sp>
        <p:nvSpPr>
          <p:cNvPr id="221" name="圆角矩形 220"/>
          <p:cNvSpPr/>
          <p:nvPr/>
        </p:nvSpPr>
        <p:spPr>
          <a:xfrm>
            <a:off x="1600200" y="5162550"/>
            <a:ext cx="234631" cy="171450"/>
          </a:xfrm>
          <a:prstGeom prst="roundRect">
            <a:avLst>
              <a:gd name="adj" fmla="val 11111"/>
            </a:avLst>
          </a:prstGeom>
          <a:solidFill>
            <a:srgbClr val="22D3EE"/>
          </a:solidFill>
        </p:spPr>
        <p:txBody>
          <a:bodyPr/>
          <a:p/>
        </p:txBody>
      </p:sp>
      <p:sp>
        <p:nvSpPr>
          <p:cNvPr id="222" name="文本框 221" descr="{&quot;isTemplate&quot;:true,&quot;type&quot;:&quot;text&quot;}"/>
          <p:cNvSpPr txBox="1"/>
          <p:nvPr/>
        </p:nvSpPr>
        <p:spPr>
          <a:xfrm>
            <a:off x="1911031" y="5172075"/>
            <a:ext cx="584200" cy="161925"/>
          </a:xfrm>
          <a:prstGeom prst="rect">
            <a:avLst/>
          </a:prstGeom>
        </p:spPr>
        <p:txBody>
          <a:bodyPr wrap="none" lIns="0" tIns="0" rIns="0" bIns="0"/>
          <a:p>
            <a:pPr>
              <a:lnSpc>
                <a:spcPct val="100000"/>
              </a:lnSpc>
            </a:pPr>
            <a:r>
              <a:rPr lang="en-US" sz="1050" b="1">
                <a:solidFill>
                  <a:srgbClr val="22D3EE"/>
                </a:solidFill>
                <a:latin typeface="Segoe UI" panose="020B0502040204020203"/>
                <a:ea typeface="Segoe UI" panose="020B0502040204020203"/>
              </a:rPr>
              <a:t>12.11 s</a:t>
            </a:r>
            <a:endParaRPr lang="en-US" sz="1050" b="1">
              <a:solidFill>
                <a:srgbClr val="22D3EE"/>
              </a:solidFill>
              <a:latin typeface="Segoe UI" panose="020B0502040204020203"/>
              <a:ea typeface="Segoe UI" panose="020B0502040204020203"/>
            </a:endParaRPr>
          </a:p>
        </p:txBody>
      </p:sp>
      <p:sp>
        <p:nvSpPr>
          <p:cNvPr id="223" name="文本框 222" descr="{&quot;isTemplate&quot;:true,&quot;type&quot;:&quot;text&quot;}"/>
          <p:cNvSpPr txBox="1"/>
          <p:nvPr/>
        </p:nvSpPr>
        <p:spPr>
          <a:xfrm>
            <a:off x="6972300" y="5029200"/>
            <a:ext cx="876300" cy="209550"/>
          </a:xfrm>
          <a:prstGeom prst="rect">
            <a:avLst/>
          </a:prstGeom>
        </p:spPr>
        <p:txBody>
          <a:bodyPr wrap="none" lIns="0" tIns="0" rIns="0" bIns="0"/>
          <a:p>
            <a:pPr algn="r">
              <a:lnSpc>
                <a:spcPct val="100000"/>
              </a:lnSpc>
            </a:pPr>
            <a:r>
              <a:rPr lang="en-US" sz="1350" b="1">
                <a:solidFill>
                  <a:srgbClr val="E6EEF9"/>
                </a:solidFill>
                <a:latin typeface="Segoe UI" panose="020B0502040204020203"/>
                <a:ea typeface="Segoe UI" panose="020B0502040204020203"/>
              </a:rPr>
              <a:t>+47.0%</a:t>
            </a:r>
            <a:endParaRPr lang="en-US" sz="1350" b="1">
              <a:solidFill>
                <a:srgbClr val="22D3EE"/>
              </a:solidFill>
              <a:latin typeface="Segoe UI" panose="020B0502040204020203"/>
              <a:ea typeface="Segoe UI" panose="020B0502040204020203"/>
            </a:endParaRPr>
          </a:p>
        </p:txBody>
      </p:sp>
      <p:sp>
        <p:nvSpPr>
          <p:cNvPr id="224" name="文本框 223" descr="{&quot;isTemplate&quot;:true,&quot;type&quot;:&quot;text&quot;}"/>
          <p:cNvSpPr txBox="1"/>
          <p:nvPr/>
        </p:nvSpPr>
        <p:spPr>
          <a:xfrm>
            <a:off x="8077200" y="1257300"/>
            <a:ext cx="3505200" cy="895350"/>
          </a:xfrm>
          <a:prstGeom prst="rect">
            <a:avLst/>
          </a:prstGeom>
        </p:spPr>
        <p:txBody>
          <a:bodyPr wrap="none" lIns="0" tIns="0" rIns="0" bIns="0"/>
          <a:p>
            <a:pPr>
              <a:lnSpc>
                <a:spcPct val="100000"/>
              </a:lnSpc>
            </a:pPr>
            <a:r>
              <a:rPr lang="en-US" sz="5850" b="1" spc="-225">
                <a:solidFill>
                  <a:srgbClr val="22D3EE"/>
                </a:solidFill>
                <a:latin typeface="Segoe UI" panose="020B0502040204020203"/>
                <a:ea typeface="Segoe UI" panose="020B0502040204020203"/>
              </a:rPr>
              <a:t>42.1%</a:t>
            </a:r>
            <a:endParaRPr lang="en-US" sz="5850" b="1" spc="-225">
              <a:solidFill>
                <a:srgbClr val="22D3EE"/>
              </a:solidFill>
              <a:latin typeface="Segoe UI" panose="020B0502040204020203"/>
              <a:ea typeface="Segoe UI" panose="020B0502040204020203"/>
            </a:endParaRPr>
          </a:p>
        </p:txBody>
      </p:sp>
      <p:sp>
        <p:nvSpPr>
          <p:cNvPr id="225" name="文本框 224" descr="{&quot;isTemplate&quot;:true,&quot;type&quot;:&quot;text&quot;}"/>
          <p:cNvSpPr txBox="1"/>
          <p:nvPr/>
        </p:nvSpPr>
        <p:spPr>
          <a:xfrm>
            <a:off x="8077200" y="2247900"/>
            <a:ext cx="3505200" cy="247650"/>
          </a:xfrm>
          <a:prstGeom prst="rect">
            <a:avLst/>
          </a:prstGeom>
        </p:spPr>
        <p:txBody>
          <a:bodyPr wrap="none" lIns="0" tIns="0" rIns="0" bIns="0"/>
          <a:p>
            <a:pPr>
              <a:lnSpc>
                <a:spcPct val="100000"/>
              </a:lnSpc>
            </a:pPr>
            <a:r>
              <a:rPr lang="zh-CN" sz="1575" b="1">
                <a:solidFill>
                  <a:srgbClr val="E6EEF9"/>
                </a:solidFill>
                <a:latin typeface="微软雅黑" panose="020B0503020204020204" charset="-122"/>
                <a:ea typeface="微软雅黑" panose="020B0503020204020204" charset="-122"/>
              </a:rPr>
              <a:t>最长等待缩短四成</a:t>
            </a:r>
            <a:endParaRPr lang="zh-CN" sz="1575" b="1">
              <a:solidFill>
                <a:srgbClr val="E6EEF9"/>
              </a:solidFill>
              <a:latin typeface="微软雅黑" panose="020B0503020204020204" charset="-122"/>
              <a:ea typeface="微软雅黑" panose="020B0503020204020204" charset="-122"/>
            </a:endParaRPr>
          </a:p>
        </p:txBody>
      </p:sp>
      <p:sp>
        <p:nvSpPr>
          <p:cNvPr id="226" name="矩形 225"/>
          <p:cNvSpPr/>
          <p:nvPr/>
        </p:nvSpPr>
        <p:spPr>
          <a:xfrm>
            <a:off x="8077200" y="2619375"/>
            <a:ext cx="457200" cy="28575"/>
          </a:xfrm>
          <a:prstGeom prst="rect">
            <a:avLst/>
          </a:prstGeom>
          <a:solidFill>
            <a:srgbClr val="22D3EE"/>
          </a:solidFill>
        </p:spPr>
        <p:txBody>
          <a:bodyPr/>
          <a:p/>
        </p:txBody>
      </p:sp>
      <p:sp>
        <p:nvSpPr>
          <p:cNvPr id="227" name="圆角矩形 226"/>
          <p:cNvSpPr/>
          <p:nvPr/>
        </p:nvSpPr>
        <p:spPr>
          <a:xfrm>
            <a:off x="8105775" y="5372100"/>
            <a:ext cx="3505200" cy="838200"/>
          </a:xfrm>
          <a:prstGeom prst="roundRect">
            <a:avLst>
              <a:gd name="adj" fmla="val 4545"/>
            </a:avLst>
          </a:prstGeom>
          <a:solidFill>
            <a:srgbClr val="22D3EE">
              <a:alpha val="10000"/>
            </a:srgbClr>
          </a:solidFill>
        </p:spPr>
        <p:txBody>
          <a:bodyPr/>
          <a:p/>
        </p:txBody>
      </p:sp>
      <p:sp>
        <p:nvSpPr>
          <p:cNvPr id="228" name="任意多边形 227"/>
          <p:cNvSpPr/>
          <p:nvPr/>
        </p:nvSpPr>
        <p:spPr>
          <a:xfrm>
            <a:off x="8105775" y="5372100"/>
            <a:ext cx="3505200" cy="838200"/>
          </a:xfrm>
          <a:custGeom>
            <a:avLst/>
            <a:gdLst/>
            <a:ahLst/>
            <a:cxnLst/>
            <a:pathLst>
              <a:path w="368" h="88">
                <a:moveTo>
                  <a:pt x="4" y="0"/>
                </a:moveTo>
                <a:cubicBezTo>
                  <a:pt x="3" y="0"/>
                  <a:pt x="3" y="0"/>
                  <a:pt x="3" y="1"/>
                </a:cubicBezTo>
                <a:lnTo>
                  <a:pt x="3" y="87"/>
                </a:lnTo>
                <a:cubicBezTo>
                  <a:pt x="3" y="87"/>
                  <a:pt x="3" y="88"/>
                  <a:pt x="4" y="88"/>
                </a:cubicBezTo>
                <a:cubicBezTo>
                  <a:pt x="2" y="88"/>
                  <a:pt x="0" y="86"/>
                  <a:pt x="0" y="84"/>
                </a:cubicBezTo>
                <a:lnTo>
                  <a:pt x="0" y="4"/>
                </a:lnTo>
                <a:cubicBezTo>
                  <a:pt x="0" y="2"/>
                  <a:pt x="2" y="0"/>
                  <a:pt x="4" y="0"/>
                </a:cubicBezTo>
                <a:close/>
              </a:path>
            </a:pathLst>
          </a:custGeom>
          <a:solidFill>
            <a:srgbClr val="22D3EE"/>
          </a:solidFill>
        </p:spPr>
        <p:txBody>
          <a:bodyPr/>
          <a:p/>
        </p:txBody>
      </p:sp>
      <p:sp>
        <p:nvSpPr>
          <p:cNvPr id="229" name="文本框 228" descr="{&quot;isTemplate&quot;:true,&quot;type&quot;:&quot;text&quot;}"/>
          <p:cNvSpPr txBox="1"/>
          <p:nvPr/>
        </p:nvSpPr>
        <p:spPr>
          <a:xfrm>
            <a:off x="609600" y="1323975"/>
            <a:ext cx="2371725" cy="190500"/>
          </a:xfrm>
          <a:prstGeom prst="rect">
            <a:avLst/>
          </a:prstGeom>
        </p:spPr>
        <p:txBody>
          <a:bodyPr wrap="none" lIns="0" tIns="0" rIns="0" bIns="0"/>
          <a:p>
            <a:pPr>
              <a:lnSpc>
                <a:spcPct val="100000"/>
              </a:lnSpc>
            </a:pPr>
            <a:r>
              <a:rPr lang="zh-CN" sz="1200">
                <a:solidFill>
                  <a:srgbClr val="E6EEF9">
                    <a:alpha val="60000"/>
                  </a:srgbClr>
                </a:solidFill>
                <a:latin typeface="微软雅黑" panose="020B0503020204020204" charset="-122"/>
                <a:ea typeface="微软雅黑" panose="020B0503020204020204" charset="-122"/>
              </a:rPr>
              <a:t>候梯时间（秒 · 20 组均值）</a:t>
            </a:r>
            <a:endParaRPr lang="zh-CN" sz="1200">
              <a:solidFill>
                <a:srgbClr val="E6EEF9">
                  <a:alpha val="60000"/>
                </a:srgbClr>
              </a:solidFill>
              <a:latin typeface="微软雅黑" panose="020B0503020204020204" charset="-122"/>
              <a:ea typeface="微软雅黑" panose="020B0503020204020204" charset="-122"/>
            </a:endParaRPr>
          </a:p>
        </p:txBody>
      </p:sp>
      <p:sp>
        <p:nvSpPr>
          <p:cNvPr id="230" name="文本框 229" descr="{&quot;isTemplate&quot;:true,&quot;type&quot;:&quot;text&quot;}"/>
          <p:cNvSpPr txBox="1"/>
          <p:nvPr/>
        </p:nvSpPr>
        <p:spPr>
          <a:xfrm>
            <a:off x="6619875" y="1343025"/>
            <a:ext cx="400050" cy="161925"/>
          </a:xfrm>
          <a:prstGeom prst="rect">
            <a:avLst/>
          </a:prstGeom>
        </p:spPr>
        <p:txBody>
          <a:bodyPr wrap="none" lIns="0" tIns="0" rIns="0" bIns="0"/>
          <a:p>
            <a:pPr>
              <a:lnSpc>
                <a:spcPct val="100000"/>
              </a:lnSpc>
            </a:pPr>
            <a:r>
              <a:rPr lang="zh-CN" sz="1050">
                <a:solidFill>
                  <a:srgbClr val="E6EEF9">
                    <a:alpha val="55000"/>
                  </a:srgbClr>
                </a:solidFill>
                <a:latin typeface="微软雅黑" panose="020B0503020204020204" charset="-122"/>
                <a:ea typeface="微软雅黑" panose="020B0503020204020204" charset="-122"/>
              </a:rPr>
              <a:t>改造前</a:t>
            </a:r>
            <a:endParaRPr lang="zh-CN" sz="1050">
              <a:solidFill>
                <a:srgbClr val="E6EEF9">
                  <a:alpha val="55000"/>
                </a:srgbClr>
              </a:solidFill>
              <a:latin typeface="微软雅黑" panose="020B0503020204020204" charset="-122"/>
              <a:ea typeface="微软雅黑" panose="020B0503020204020204" charset="-122"/>
            </a:endParaRPr>
          </a:p>
        </p:txBody>
      </p:sp>
      <p:sp>
        <p:nvSpPr>
          <p:cNvPr id="231" name="文本框 230" descr="{&quot;isTemplate&quot;:true,&quot;type&quot;:&quot;text&quot;}"/>
          <p:cNvSpPr txBox="1"/>
          <p:nvPr/>
        </p:nvSpPr>
        <p:spPr>
          <a:xfrm>
            <a:off x="2045106" y="1800225"/>
            <a:ext cx="584200" cy="161925"/>
          </a:xfrm>
          <a:prstGeom prst="rect">
            <a:avLst/>
          </a:prstGeom>
        </p:spPr>
        <p:txBody>
          <a:bodyPr wrap="none" lIns="0" tIns="0" rIns="0" bIns="0"/>
          <a:p>
            <a:pPr>
              <a:lnSpc>
                <a:spcPct val="100000"/>
              </a:lnSpc>
            </a:pPr>
            <a:r>
              <a:rPr lang="en-US" sz="1050">
                <a:solidFill>
                  <a:srgbClr val="E6EEF9">
                    <a:alpha val="55000"/>
                  </a:srgbClr>
                </a:solidFill>
                <a:latin typeface="Segoe UI" panose="020B0502040204020203"/>
                <a:ea typeface="Segoe UI" panose="020B0502040204020203"/>
              </a:rPr>
              <a:t>19.03 s</a:t>
            </a:r>
            <a:endParaRPr lang="en-US" sz="1050">
              <a:solidFill>
                <a:srgbClr val="E6EEF9">
                  <a:alpha val="55000"/>
                </a:srgbClr>
              </a:solidFill>
              <a:latin typeface="Segoe UI" panose="020B0502040204020203"/>
              <a:ea typeface="Segoe UI" panose="020B0502040204020203"/>
            </a:endParaRPr>
          </a:p>
        </p:txBody>
      </p:sp>
      <p:sp>
        <p:nvSpPr>
          <p:cNvPr id="232" name="文本框 231" descr="{&quot;isTemplate&quot;:true,&quot;type&quot;:&quot;text&quot;}"/>
          <p:cNvSpPr txBox="1"/>
          <p:nvPr/>
        </p:nvSpPr>
        <p:spPr>
          <a:xfrm>
            <a:off x="2122606" y="2428875"/>
            <a:ext cx="584200" cy="161925"/>
          </a:xfrm>
          <a:prstGeom prst="rect">
            <a:avLst/>
          </a:prstGeom>
        </p:spPr>
        <p:txBody>
          <a:bodyPr wrap="none" lIns="0" tIns="0" rIns="0" bIns="0"/>
          <a:p>
            <a:pPr>
              <a:lnSpc>
                <a:spcPct val="100000"/>
              </a:lnSpc>
            </a:pPr>
            <a:r>
              <a:rPr lang="en-US" sz="1050">
                <a:solidFill>
                  <a:srgbClr val="E6EEF9">
                    <a:alpha val="55000"/>
                  </a:srgbClr>
                </a:solidFill>
                <a:latin typeface="Segoe UI" panose="020B0502040204020203"/>
                <a:ea typeface="Segoe UI" panose="020B0502040204020203"/>
              </a:rPr>
              <a:t>23.03 s</a:t>
            </a:r>
            <a:endParaRPr lang="en-US" sz="1050">
              <a:solidFill>
                <a:srgbClr val="E6EEF9">
                  <a:alpha val="55000"/>
                </a:srgbClr>
              </a:solidFill>
              <a:latin typeface="Segoe UI" panose="020B0502040204020203"/>
              <a:ea typeface="Segoe UI" panose="020B0502040204020203"/>
            </a:endParaRPr>
          </a:p>
        </p:txBody>
      </p:sp>
      <p:sp>
        <p:nvSpPr>
          <p:cNvPr id="233" name="文本框 232" descr="{&quot;isTemplate&quot;:true,&quot;type&quot;:&quot;text&quot;}"/>
          <p:cNvSpPr txBox="1"/>
          <p:nvPr/>
        </p:nvSpPr>
        <p:spPr>
          <a:xfrm>
            <a:off x="2673245" y="3057525"/>
            <a:ext cx="584200" cy="161925"/>
          </a:xfrm>
          <a:prstGeom prst="rect">
            <a:avLst/>
          </a:prstGeom>
        </p:spPr>
        <p:txBody>
          <a:bodyPr wrap="none" lIns="0" tIns="0" rIns="0" bIns="0"/>
          <a:p>
            <a:pPr>
              <a:lnSpc>
                <a:spcPct val="100000"/>
              </a:lnSpc>
            </a:pPr>
            <a:r>
              <a:rPr lang="en-US" sz="1050">
                <a:solidFill>
                  <a:srgbClr val="E6EEF9">
                    <a:alpha val="55000"/>
                  </a:srgbClr>
                </a:solidFill>
                <a:latin typeface="Segoe UI" panose="020B0502040204020203"/>
                <a:ea typeface="Segoe UI" panose="020B0502040204020203"/>
              </a:rPr>
              <a:t>51.45 s</a:t>
            </a:r>
            <a:endParaRPr lang="en-US" sz="1050">
              <a:solidFill>
                <a:srgbClr val="E6EEF9">
                  <a:alpha val="55000"/>
                </a:srgbClr>
              </a:solidFill>
              <a:latin typeface="Segoe UI" panose="020B0502040204020203"/>
              <a:ea typeface="Segoe UI" panose="020B0502040204020203"/>
            </a:endParaRPr>
          </a:p>
        </p:txBody>
      </p:sp>
      <p:sp>
        <p:nvSpPr>
          <p:cNvPr id="234" name="文本框 233" descr="{&quot;isTemplate&quot;:true,&quot;type&quot;:&quot;text&quot;}"/>
          <p:cNvSpPr txBox="1"/>
          <p:nvPr/>
        </p:nvSpPr>
        <p:spPr>
          <a:xfrm>
            <a:off x="6146800" y="3686175"/>
            <a:ext cx="584200" cy="161925"/>
          </a:xfrm>
          <a:prstGeom prst="rect">
            <a:avLst/>
          </a:prstGeom>
        </p:spPr>
        <p:txBody>
          <a:bodyPr wrap="none" lIns="0" tIns="0" rIns="0" bIns="0"/>
          <a:p>
            <a:pPr>
              <a:lnSpc>
                <a:spcPct val="100000"/>
              </a:lnSpc>
            </a:pPr>
            <a:r>
              <a:rPr lang="en-US" sz="1050">
                <a:solidFill>
                  <a:srgbClr val="E6EEF9">
                    <a:alpha val="55000"/>
                  </a:srgbClr>
                </a:solidFill>
                <a:latin typeface="Segoe UI" panose="020B0502040204020203"/>
                <a:ea typeface="Segoe UI" panose="020B0502040204020203"/>
              </a:rPr>
              <a:t>230.73 s</a:t>
            </a:r>
            <a:endParaRPr lang="en-US" sz="1050">
              <a:solidFill>
                <a:srgbClr val="E6EEF9">
                  <a:alpha val="55000"/>
                </a:srgbClr>
              </a:solidFill>
              <a:latin typeface="Segoe UI" panose="020B0502040204020203"/>
              <a:ea typeface="Segoe UI" panose="020B0502040204020203"/>
            </a:endParaRPr>
          </a:p>
        </p:txBody>
      </p:sp>
      <p:sp>
        <p:nvSpPr>
          <p:cNvPr id="235" name="文本框 234" descr="{&quot;isTemplate&quot;:true,&quot;type&quot;:&quot;text&quot;}"/>
          <p:cNvSpPr txBox="1"/>
          <p:nvPr/>
        </p:nvSpPr>
        <p:spPr>
          <a:xfrm>
            <a:off x="2082888" y="4314825"/>
            <a:ext cx="584200" cy="161925"/>
          </a:xfrm>
          <a:prstGeom prst="rect">
            <a:avLst/>
          </a:prstGeom>
        </p:spPr>
        <p:txBody>
          <a:bodyPr wrap="none" lIns="0" tIns="0" rIns="0" bIns="0"/>
          <a:p>
            <a:pPr>
              <a:lnSpc>
                <a:spcPct val="100000"/>
              </a:lnSpc>
            </a:pPr>
            <a:r>
              <a:rPr lang="en-US" sz="1050">
                <a:solidFill>
                  <a:srgbClr val="E6EEF9">
                    <a:alpha val="55000"/>
                  </a:srgbClr>
                </a:solidFill>
                <a:latin typeface="Segoe UI" panose="020B0502040204020203"/>
                <a:ea typeface="Segoe UI" panose="020B0502040204020203"/>
              </a:rPr>
              <a:t>20.98 s</a:t>
            </a:r>
            <a:endParaRPr lang="en-US" sz="1050">
              <a:solidFill>
                <a:srgbClr val="E6EEF9">
                  <a:alpha val="55000"/>
                </a:srgbClr>
              </a:solidFill>
              <a:latin typeface="Segoe UI" panose="020B0502040204020203"/>
              <a:ea typeface="Segoe UI" panose="020B0502040204020203"/>
            </a:endParaRPr>
          </a:p>
        </p:txBody>
      </p:sp>
      <p:sp>
        <p:nvSpPr>
          <p:cNvPr id="236" name="文本框 235" descr="{&quot;isTemplate&quot;:true,&quot;type&quot;:&quot;text&quot;}"/>
          <p:cNvSpPr txBox="1"/>
          <p:nvPr/>
        </p:nvSpPr>
        <p:spPr>
          <a:xfrm>
            <a:off x="1835856" y="4943475"/>
            <a:ext cx="584200" cy="161925"/>
          </a:xfrm>
          <a:prstGeom prst="rect">
            <a:avLst/>
          </a:prstGeom>
        </p:spPr>
        <p:txBody>
          <a:bodyPr wrap="none" lIns="0" tIns="0" rIns="0" bIns="0"/>
          <a:p>
            <a:pPr>
              <a:lnSpc>
                <a:spcPct val="100000"/>
              </a:lnSpc>
            </a:pPr>
            <a:r>
              <a:rPr lang="en-US" sz="1050">
                <a:solidFill>
                  <a:srgbClr val="E6EEF9">
                    <a:alpha val="55000"/>
                  </a:srgbClr>
                </a:solidFill>
                <a:latin typeface="Segoe UI" panose="020B0502040204020203"/>
                <a:ea typeface="Segoe UI" panose="020B0502040204020203"/>
              </a:rPr>
              <a:t>8.23 s</a:t>
            </a:r>
            <a:endParaRPr lang="en-US" sz="1050">
              <a:solidFill>
                <a:srgbClr val="E6EEF9">
                  <a:alpha val="55000"/>
                </a:srgbClr>
              </a:solidFill>
              <a:latin typeface="Segoe UI" panose="020B0502040204020203"/>
              <a:ea typeface="Segoe UI" panose="020B0502040204020203"/>
            </a:endParaRPr>
          </a:p>
        </p:txBody>
      </p:sp>
      <p:sp>
        <p:nvSpPr>
          <p:cNvPr id="237" name="文本框 236" descr="{&quot;isTemplate&quot;:true,&quot;type&quot;:&quot;text&quot;}"/>
          <p:cNvSpPr txBox="1"/>
          <p:nvPr/>
        </p:nvSpPr>
        <p:spPr>
          <a:xfrm>
            <a:off x="8077200" y="2771775"/>
            <a:ext cx="3505200" cy="2419350"/>
          </a:xfrm>
          <a:prstGeom prst="rect">
            <a:avLst/>
          </a:prstGeom>
        </p:spPr>
        <p:txBody>
          <a:bodyPr wrap="square" lIns="0" tIns="0" rIns="0" bIns="0">
            <a:normAutofit/>
          </a:bodyPr>
          <a:p>
            <a:pPr>
              <a:lnSpc>
                <a:spcPct val="165000"/>
              </a:lnSpc>
            </a:pPr>
            <a:r>
              <a:rPr lang="en-US" sz="1200">
                <a:solidFill>
                  <a:srgbClr val="E6EEF9">
                    <a:alpha val="70000"/>
                  </a:srgbClr>
                </a:solidFill>
                <a:latin typeface="微软雅黑" panose="020B0503020204020204" charset="-122"/>
                <a:ea typeface="微软雅黑" panose="020B0503020204020204" charset="-122"/>
              </a:rPr>
              <a:t>· 最大候梯 230.73 → 133.59 s，−42.1%；高峰平均候梯 −11.3%</a:t>
            </a:r>
            <a:endParaRPr lang="en-US" sz="1200">
              <a:solidFill>
                <a:srgbClr val="E6EEF9">
                  <a:alpha val="70000"/>
                </a:srgbClr>
              </a:solidFill>
              <a:latin typeface="微软雅黑" panose="020B0503020204020204" charset="-122"/>
              <a:ea typeface="微软雅黑" panose="020B0503020204020204" charset="-122"/>
            </a:endParaRPr>
          </a:p>
          <a:p>
            <a:pPr>
              <a:lnSpc>
                <a:spcPct val="165000"/>
              </a:lnSpc>
            </a:pPr>
            <a:r>
              <a:rPr sz="1200">
                <a:solidFill>
                  <a:srgbClr val="E6EEF9">
                    <a:alpha val="70000"/>
                  </a:srgbClr>
                </a:solidFill>
                <a:latin typeface="微软雅黑" panose="020B0503020204020204" charset="-122"/>
                <a:ea typeface="微软雅黑" panose="020B0503020204020204" charset="-122"/>
              </a:rPr>
              <a:t>· 但 P95 候梯 +2.2%、平峰平均候梯 +47.0% —— 并非全面变快</a:t>
            </a:r>
            <a:endParaRPr sz="1200">
              <a:solidFill>
                <a:srgbClr val="E6EEF9">
                  <a:alpha val="70000"/>
                </a:srgbClr>
              </a:solidFill>
              <a:latin typeface="微软雅黑" panose="020B0503020204020204" charset="-122"/>
              <a:ea typeface="微软雅黑" panose="020B0503020204020204" charset="-122"/>
            </a:endParaRPr>
          </a:p>
          <a:p>
            <a:pPr>
              <a:lnSpc>
                <a:spcPct val="165000"/>
              </a:lnSpc>
            </a:pPr>
            <a:r>
              <a:rPr lang="en-US" sz="1200">
                <a:solidFill>
                  <a:srgbClr val="E6EEF9">
                    <a:alpha val="70000"/>
                  </a:srgbClr>
                </a:solidFill>
                <a:latin typeface="微软雅黑" panose="020B0503020204020204" charset="-122"/>
                <a:ea typeface="微软雅黑" panose="020B0503020204020204" charset="-122"/>
              </a:rPr>
              <a:t>· 平均候梯仅 −7.5%，收益集中在长尾与无用功</a:t>
            </a:r>
            <a:endParaRPr lang="zh-CN" sz="1200">
              <a:solidFill>
                <a:srgbClr val="E6EEF9">
                  <a:alpha val="70000"/>
                </a:srgbClr>
              </a:solidFill>
              <a:latin typeface="微软雅黑" panose="020B0503020204020204" charset="-122"/>
              <a:ea typeface="微软雅黑" panose="020B0503020204020204" charset="-122"/>
            </a:endParaRPr>
          </a:p>
        </p:txBody>
      </p:sp>
      <p:sp>
        <p:nvSpPr>
          <p:cNvPr id="238" name="文本框 237" descr="{&quot;isTemplate&quot;:true,&quot;type&quot;:&quot;text&quot;}"/>
          <p:cNvSpPr txBox="1"/>
          <p:nvPr/>
        </p:nvSpPr>
        <p:spPr>
          <a:xfrm>
            <a:off x="8277225" y="5505450"/>
            <a:ext cx="3133725" cy="571500"/>
          </a:xfrm>
          <a:prstGeom prst="rect">
            <a:avLst/>
          </a:prstGeom>
        </p:spPr>
        <p:txBody>
          <a:bodyPr wrap="square" lIns="0" tIns="0" rIns="0" bIns="0">
            <a:normAutofit/>
          </a:bodyPr>
          <a:p>
            <a:pPr>
              <a:lnSpc>
                <a:spcPct val="155000"/>
              </a:lnSpc>
            </a:pPr>
            <a:r>
              <a:rPr lang="zh-CN" sz="1200">
                <a:solidFill>
                  <a:srgbClr val="E6EEF9">
                    <a:alpha val="85000"/>
                  </a:srgbClr>
                </a:solidFill>
                <a:latin typeface="微软雅黑" panose="020B0503020204020204" charset="-122"/>
                <a:ea typeface="微软雅黑" panose="020B0503020204020204" charset="-122"/>
              </a:rPr>
              <a:t>「要等多久」没怎么变，变的是「最久要等多久」——收益落在长尾，不在平均。</a:t>
            </a:r>
            <a:endParaRPr lang="zh-CN" sz="1200">
              <a:solidFill>
                <a:srgbClr val="E6EEF9">
                  <a:alpha val="85000"/>
                </a:srgbClr>
              </a:solidFill>
              <a:latin typeface="微软雅黑" panose="020B0503020204020204" charset="-122"/>
              <a:ea typeface="微软雅黑" panose="020B0503020204020204" charset="-122"/>
            </a:endParaRPr>
          </a:p>
        </p:txBody>
      </p:sp>
      <p:sp>
        <p:nvSpPr>
          <p:cNvPr id="239" name="任意多边形 238"/>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240" name="文本框 239"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241" name="文本框 240"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16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42"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08' strokeWidth='1' /&gt;&#10;                &lt;/pattern&gt;&#10;            &lt;/defs&gt;&#10;            &lt;rect width='1280' height='720' fill='url(#grid)' /&gt;&#10;        &lt;/svg&gt;&#10;    &lt;/Box&gt;&#10;&#10;    &lt;Box style={{ position: 'relative', zIndex: 1, height: 84, display: 'flex', flexDirection: 'column' }}&gt;&#10;        &lt;Text style={{ fontSize: 14, color: '#22D3EE', letterSpacing: 3, fontFamily: 'Segoe UI' }}&gt;CHAPTER 04 · 验证&lt;/Text&gt;&#10;        &lt;Box style={{ height: 8 }} /&gt;&#10;        &lt;Text style={{ fontSize: 32, fontWeight: 'bold', color: '#E6EEF9' }}&gt;结果三：普通时段的反直觉发现&lt;/Text&gt;&#10;        &lt;Box style={{ height: 10 }} /&gt;&#10;        &lt;Box style={{ width: '56px', height: '3px', background: '#22D3EE' }} /&gt;&#10;    &lt;/Box&gt;&#10;&#10;    &lt;Box style={{ position: 'relative', zIndex: 1, height: 520, marginTop: 16, flexDirection: 'row', gap: 24 }}&gt;&#10;        &lt;Box style={{ width: '520px', display: 'flex', flexDirection: 'column' }}&gt;&#10;            &lt;Text style={{ fontSize: 16, color: '#E6EEF9', opacity: 0.6 }}&gt;普通时段 · 3 小时 · 候梯时间（秒，1000 次均值）&lt;/Text&gt;&#10;            &lt;Box style={{ height: 12 }} /&gt;&#10;&#10;            &lt;Box style={{ height: 40, flexDirection: 'row', alignItems: 'center', padding: '0px 18px', background: 'rgba(59,130,246,0.16)', borderRadius: 6 }}&gt;&#10;                &lt;Text style={{ width: 118, fontSize: 15, color: '#E6EEF9', opacity: 0.6 }}&gt;指标&lt;/Text&gt;&#10;                &lt;Text style={{ width: 104, fontSize: 15, color: '#E6EEF9', opacity: 0.6, textAlign: 'right' }}&gt;改造前&lt;/Text&gt;&#10;                &lt;Text style={{ width: 104, fontSize: 15, color: '#E6EEF9', opacity: 0.6, textAlign: 'right' }}&gt;改造后&lt;/Text&gt;&#10;                &lt;Text style={{ flex: 1, fontSize: 15, color: '#E6EEF9', opacity: 0.6, textAlign: 'right' }}&gt;变化&lt;/Text&gt;&#10;            &lt;/Box&gt;&#10;&#10;            &lt;Box style={{ height: 6 }} /&gt;&#10;&#10;            &lt;Box style={{ height: 58, flexDirection: 'row', alignItems: 'center', padding: '0px 18px', background: 'rgba(59,130,246,0.08)', borderRadius: 6 }}&gt;&#10;                &lt;Text style={{ width: 118, fontSize: 18, fontWeight: 'bold', color: '#E6EEF9' }}&gt;平均&lt;/Text&gt;&#10;                &lt;Text style={{ width: 104, fontSize: 18, color: '#E6EEF9', opacity: 0.5, textAlign: 'right', fontFamily: 'Segoe UI' }}&gt;15.22&lt;/Text&gt;&#10;                &lt;Text style={{ width: 104, fontSize: 18, fontWeight: 'bold', color: '#E6EEF9', textAlign: 'right', fontFamily: 'Segoe UI' }}&gt;13.99&lt;/Text&gt;&#10;                &lt;Text style={{ flex: 1, fontSize: 19, fontWeight: 'bold', color: '#22D3EE', textAlign: 'right', fontFamily: 'Segoe UI' }}&gt;−8.1%&lt;/Text&gt;&#10;            &lt;/Box&gt;&#10;&#10;            &lt;Box style={{ height: 6 }} /&gt;&#10;&#10;            &lt;Box style={{ height: 58, flexDirection: 'row', alignItems: 'center', padding: '0px 18px', background: 'rgba(59,130,246,0.14)', borderRadius: 6 }}&gt;&#10;                &lt;Text style={{ width: 118, fontSize: 18, fontWeight: 'bold', color: '#E6EEF9' }}&gt;P20&lt;/Text&gt;&#10;                &lt;Text style={{ width: 104, fontSize: 18, color: '#E6EEF9', opacity: 0.5, textAlign: 'right', fontFamily: 'Segoe UI' }}&gt;7.43&lt;/Text&gt;&#10;                &lt;Text style={{ width: 104, fontSize: 18, fontWeight: 'bold', color: '#E6EEF9', textAlign: 'right', fontFamily: 'Segoe UI' }}&gt;9.52&lt;/Text&gt;&#10;                &lt;Text style={{ flex: 1, fontSize: 19, fontWeight: 'bold', color: '#E6EEF9', opacity: 0.72, textAlign: 'right', fontFamily: 'Segoe UI' }}&gt;+28.0%&lt;/Text&gt;&#10;            &lt;/Box&gt;&#10;&#10;            &lt;Box style={{ height: 6 }} /&gt;&#10;&#10;            &lt;Box style={{ height: 58, flexDirection: 'row', alignItems: 'center', padding: '0px 18px', background: 'rgba(59,130,246,0.14)', borderRadius: 6 }}&gt;&#10;                &lt;Text style={{ width: 118, fontSize: 18, fontWeight: 'bold', color: '#E6EEF9' }}&gt;P50&lt;/Text&gt;&#10;                &lt;Text style={{ width: 104, fontSize: 18, color: '#E6EEF9', opacity: 0.5, textAlign: 'right', fontFamily: 'Segoe UI' }}&gt;10.80&lt;/Text&gt;&#10;                &lt;Text style={{ width: 104, fontSize: 18, fontWeight: 'bold', color: '#E6EEF9', textAlign: 'right', fontFamily: 'Segoe UI' }}&gt;13.53&lt;/Text&gt;&#10;                &lt;Text style={{ flex: 1, fontSize: 19, fontWeight: 'bold', color: '#E6EEF9', opacity: 0.72, textAlign: 'right', fontFamily: 'Segoe UI' }}&gt;+25.3%&lt;/Text&gt;&#10;            &lt;/Box&gt;&#10;&#10;            &lt;Box style={{ height: 6 }} /&gt;&#10;&#10;            &lt;Box style={{ height: 58, flexDirection: 'row', alignItems: 'center', padding: '0px 18px', background: 'rgba(34,211,238,0.10)', borderRadius: 6 }}&gt;&#10;                &lt;Text style={{ width: 118, fontSize: 18, fontWeight: 'bold', color: '#E6EEF9' }}&gt;P90&lt;/Text&gt;&#10;                &lt;Text style={{ width: 104, fontSize: 18, color: '#E6EEF9', opacity: 0.5, textAlign: 'right', fontFamily: 'Segoe UI' }}&gt;31.70&lt;/Text&gt;&#10;                &lt;Text style={{ width: 104, fontSize: 18, fontWeight: 'bold', color: '#22D3EE', textAlign: 'right', fontFamily: 'Segoe UI' }}&gt;19.54&lt;/Text&gt;&#10;                &lt;Text style={{ flex: 1, fontSize: 19, fontWeight: 'bold', color: '#22D3EE', textAlign: 'right', fontFamily: 'Segoe UI' }}&gt;−38.4%&lt;/Text&gt;&#10;            &lt;/Box&gt;&#10;&#10;            &lt;Box style={{ height: 6 }} /&gt;&#10;&#10;            &lt;Box style={{ height: 58, flexDirection: 'row', alignItems: 'center', padding: '0px 18px', background: 'rgba(34,211,238,0.14)', borderRadius: 6 }}&gt;&#10;                &lt;Text style={{ width: 118, fontSize: 18, fontWeight: 'bold', color: '#22D3EE' }}&gt;P95&lt;/Text&gt;&#10;                &lt;Text style={{ width: 104, fontSize: 18, color: '#E6EEF9', opacity: 0.5, textAlign: 'right', fontFamily: 'Segoe UI' }}&gt;42.79&lt;/Text&gt;&#10;                &lt;Text style={{ width: 104, fontSize: 18, fontWeight: 'bold', color: '#22D3EE', textAlign: 'right', fontFamily: 'Segoe UI' }}&gt;20.05&lt;/Text&gt;&#10;                &lt;Text style={{ flex: 1, fontSize: 19, fontWeight: 'bold', color: '#22D3EE', textAlign: 'right', fontFamily: 'Segoe UI' }}&gt;−53.1%&lt;/Text&gt;&#10;            &lt;/Box&gt;&#10;&#10;            &lt;Box style={{ height: 6 }} /&gt;&#10;&#10;            &lt;Box style={{ height: 58, flexDirection: 'row', alignItems: 'center', padding: '0px 18px', background: 'rgba(34,211,238,0.10)', borderRadius: 6 }}&gt;&#10;                &lt;Text style={{ width: 118, fontSize: 18, fontWeight: 'bold', color: '#E6EEF9' }}&gt;最大&lt;/Text&gt;&#10;                &lt;Text style={{ width: 104, fontSize: 18, color: '#E6EEF9', opacity: 0.5, textAlign: 'right', fontFamily: 'Segoe UI' }}&gt;69.75&lt;/Text&gt;&#10;                &lt;Text style={{ width: 104, fontSize: 18, fontWeight: 'bold', color: '#22D3EE', textAlign: 'right', fontFamily: 'Segoe UI' }}&gt;33.84&lt;/Text&gt;&#10;                &lt;Text style={{ flex: 1, fontSize: 19, fontWeight: 'bold', color: '#22D3EE', textAlign: 'right', fontFamily: 'Segoe UI' }}&gt;−51.5%&lt;/Text&gt;&#10;            &lt;/Box&gt;&#10;        &lt;/Box&gt;&#10;&#10;        &lt;Box style={{ flex: 1, display: 'flex', flexDirection: 'column' }}&gt;&#10;            &lt;Text style={{ fontSize: 30, fontWeight: 'bold', color: '#E6EEF9', lineHeight: 1.3 }}&gt;中位数反而变慢了&lt;/Text&gt;&#10;            &lt;Box style={{ height: 14 }} /&gt;&#10;            &lt;Box style={{ padding: '14px 18px', background: 'rgba(59,130,246,0.10)', border: '1px solid rgba(59,130,246,0.24)', borderRadius: 10 }}&gt;&#10;                &lt;Text style={{ fontSize: 16, color: '#E6EEF9', opacity: 0.72, lineHeight: 1.6 }}&gt;&#10;                    改造前靠「顺路多停」让一部分人极快（P20 仅 7.4 s），代价是另一批人等到 69.7 s；改造后没人特别快，但也没人特别惨。&#10;                &lt;/Text&gt;&#10;            &lt;/Box&gt;&#10;&#10;            &lt;Box style={{ height: 14 }} /&gt;&#10;&#10;            &lt;Box style={{ padding: '14px 18px', background: 'rgba(34,211,238,0.10)', border: '1px solid rgba(34,211,238,0.30)', borderRadius: 10 }}&gt;&#10;                &lt;Text style={{ fontSize: 16, color: '#E6EEF9', opacity: 0.8, lineHeight: 1.6 }}&gt;&#10;                    P95 − P20 区间：普通时段&#10;                    &lt;span style={{ color: '#E6EEF9', opacity: 0.5, fontFamily: 'Segoe UI' }}&gt; 35.4 s&lt;/span&gt; →&#10;                    &lt;span style={{ color: '#22D3EE', fontWeight: 'bold', fontFamily: 'Segoe UI' }}&gt; 10.5 s&lt;/span&gt;&#10;                    &lt;span style={{ color: '#22D3EE', fontWeight: 'bold' }}&gt;（收窄 70.2%）&lt;/span&gt;&#10;                    &lt;br /&gt;&#10;                    高峰时段&#10;                    &lt;span style={{ color: '#E6EEF9', opacity: 0.5, fontFamily: 'Segoe UI' }}&gt; 3692 s&lt;/span&gt; →&#10;                    &lt;span style={{ color: '#22D3EE', fontWeight: 'bold', fontFamily: 'Segoe UI' }}&gt; 1208 s&lt;/span&gt;&#10;                    &lt;span style={{ color: '#22D3EE', fontWeight: 'bold' }}&gt;（收窄 67.3%）&lt;/span&gt;&#10;                &lt;/Text&gt;&#10;            &lt;/Box&gt;&#10;&#10;            &lt;Box style={{ height: 14 }} /&gt;&#10;&#10;            &lt;Box style={{ padding: '14px 18px', background: 'rgba(59,130,246,0.10)', border: '1px solid rgba(59,130,246,0.24)', borderRadius: 10 }}&gt;&#10;                &lt;Text style={{ fontSize: 16, color: '#E6EEF9', opacity: 0.72, lineHeight: 1.6 }}&gt;&#10;                    逐 seed 配对比较：平均候梯胜率&#10;                    &lt;span style={{ color: '#E6EEF9', opacity: 0.72, fontWeight: 'bold', fontFamily: 'Segoe UI' }}&gt; 66.3%&lt;/span&gt;&#10;                    ，但 P95 与最大候梯时间的胜率都是&#10;                    &lt;span style={{ color: '#22D3EE', fontWeight: 'bold', fontFamily: 'Segoe UI' }}&gt; 100%&lt;/span&gt;&#10;                    。&#10;                &lt;/Text&gt;&#10;            &lt;/Box&gt;&#10;&#10;            &lt;Box style={{ marginTop: 'auto', padding: '16px 18px', background: 'rgba(34,211,238,0.10)', borderLeft: '3px solid #22D3EE', borderRadius: 4 }}&gt;&#10;                &lt;Text style={{ fontSize: 17, color: '#E6EEF9', opacity: 0.86, lineHeight: 1.55 }}&gt;&#10;                    真正的收益不是「更快」，而是「更可预期」—— 对赶课的学生，这比平均快 1.2 秒更有价值。&#10;                &lt;/Text&gt;&#10;            &lt;/Box&gt;&#10;        &lt;/Box&gt;&#10;    &lt;/Box&gt;&#10;&#10;    &lt;Box&#10;        style={{&#10;            position: 'relative',&#10;            zIndex: 1,&#10;            height: 36,&#10;            marginTop: 8,&#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17 / 18&lt;/Text&gt;&#10;    &lt;/Box&gt;&#10;&lt;/Slide&gt;&#10;"/>
        <p:cNvGrpSpPr/>
        <p:nvPr/>
      </p:nvGrpSpPr>
      <p:grpSpPr>
        <a:xfrm>
          <a:off x="0" y="0"/>
          <a:ext cx="0" cy="0"/>
          <a:chOff x="0" y="0"/>
          <a:chExt cx="0" cy="0"/>
        </a:xfrm>
      </p:grpSpPr>
      <p:sp>
        <p:nvSpPr>
          <p:cNvPr id="243" name="矩形 242"/>
          <p:cNvSpPr/>
          <p:nvPr/>
        </p:nvSpPr>
        <p:spPr>
          <a:xfrm>
            <a:off x="0" y="0"/>
            <a:ext cx="12192000" cy="6858000"/>
          </a:xfrm>
          <a:prstGeom prst="rect">
            <a:avLst/>
          </a:prstGeom>
          <a:solidFill>
            <a:srgbClr val="0A1424"/>
          </a:solidFill>
        </p:spPr>
        <p:txBody>
          <a:bodyPr/>
          <a:p/>
        </p:txBody>
      </p:sp>
      <p:pic>
        <p:nvPicPr>
          <p:cNvPr id="244" name="图片 24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45" name="文本框 244" descr="{&quot;isTemplate&quot;:true,&quot;type&quot;:&quot;text&quot;}"/>
          <p:cNvSpPr txBox="1"/>
          <p:nvPr/>
        </p:nvSpPr>
        <p:spPr>
          <a:xfrm>
            <a:off x="609600" y="304800"/>
            <a:ext cx="10972800" cy="161925"/>
          </a:xfrm>
          <a:prstGeom prst="rect">
            <a:avLst/>
          </a:prstGeom>
        </p:spPr>
        <p:txBody>
          <a:bodyPr wrap="none" lIns="0" tIns="0" rIns="0" bIns="0"/>
          <a:p>
            <a:pPr>
              <a:lnSpc>
                <a:spcPct val="100000"/>
              </a:lnSpc>
            </a:pPr>
            <a:r>
              <a:rPr lang="en-US" sz="1050" spc="225">
                <a:solidFill>
                  <a:srgbClr val="22D3EE"/>
                </a:solidFill>
                <a:latin typeface="Segoe UI" panose="020B0502040204020203"/>
                <a:ea typeface="Segoe UI" panose="020B0502040204020203"/>
              </a:rPr>
              <a:t>CHAPTER 04 · </a:t>
            </a:r>
            <a:r>
              <a:rPr lang="zh-CN" sz="1050" spc="225">
                <a:solidFill>
                  <a:srgbClr val="22D3EE"/>
                </a:solidFill>
                <a:latin typeface="Segoe UI" panose="020B0502040204020203"/>
                <a:ea typeface="Segoe UI" panose="020B0502040204020203"/>
              </a:rPr>
              <a:t>验证</a:t>
            </a:r>
            <a:endParaRPr lang="zh-CN" sz="1050" spc="225">
              <a:solidFill>
                <a:srgbClr val="22D3EE"/>
              </a:solidFill>
              <a:latin typeface="Segoe UI" panose="020B0502040204020203"/>
              <a:ea typeface="Segoe UI" panose="020B0502040204020203"/>
            </a:endParaRPr>
          </a:p>
        </p:txBody>
      </p:sp>
      <p:sp>
        <p:nvSpPr>
          <p:cNvPr id="246" name="文本框 245" descr="{&quot;isTemplate&quot;:true,&quot;type&quot;:&quot;text&quot;}"/>
          <p:cNvSpPr txBox="1"/>
          <p:nvPr/>
        </p:nvSpPr>
        <p:spPr>
          <a:xfrm>
            <a:off x="609600" y="542925"/>
            <a:ext cx="10972800" cy="371475"/>
          </a:xfrm>
          <a:prstGeom prst="rect">
            <a:avLst/>
          </a:prstGeom>
        </p:spPr>
        <p:txBody>
          <a:bodyPr wrap="none" lIns="0" tIns="0" rIns="0" bIns="0"/>
          <a:p>
            <a:pPr>
              <a:lnSpc>
                <a:spcPct val="100000"/>
              </a:lnSpc>
            </a:pPr>
            <a:r>
              <a:rPr lang="zh-CN" sz="2400" b="1">
                <a:solidFill>
                  <a:srgbClr val="E6EEF9"/>
                </a:solidFill>
                <a:latin typeface="微软雅黑" panose="020B0503020204020204" charset="-122"/>
                <a:ea typeface="微软雅黑" panose="020B0503020204020204" charset="-122"/>
              </a:rPr>
              <a:t>结果三：到底哪一项真正起作用</a:t>
            </a:r>
            <a:endParaRPr lang="zh-CN" sz="2400" b="1">
              <a:solidFill>
                <a:srgbClr val="E6EEF9"/>
              </a:solidFill>
              <a:latin typeface="微软雅黑" panose="020B0503020204020204" charset="-122"/>
              <a:ea typeface="微软雅黑" panose="020B0503020204020204" charset="-122"/>
            </a:endParaRPr>
          </a:p>
        </p:txBody>
      </p:sp>
      <p:sp>
        <p:nvSpPr>
          <p:cNvPr id="247" name="矩形 246"/>
          <p:cNvSpPr/>
          <p:nvPr/>
        </p:nvSpPr>
        <p:spPr>
          <a:xfrm>
            <a:off x="609600" y="1009650"/>
            <a:ext cx="533400" cy="28575"/>
          </a:xfrm>
          <a:prstGeom prst="rect">
            <a:avLst/>
          </a:prstGeom>
          <a:solidFill>
            <a:srgbClr val="22D3EE"/>
          </a:solidFill>
        </p:spPr>
        <p:txBody>
          <a:bodyPr/>
          <a:p/>
        </p:txBody>
      </p:sp>
      <p:sp>
        <p:nvSpPr>
          <p:cNvPr id="248" name="圆角矩形 247"/>
          <p:cNvSpPr/>
          <p:nvPr/>
        </p:nvSpPr>
        <p:spPr>
          <a:xfrm>
            <a:off x="609600" y="1562100"/>
            <a:ext cx="4953000" cy="381000"/>
          </a:xfrm>
          <a:prstGeom prst="roundRect">
            <a:avLst>
              <a:gd name="adj" fmla="val 15000"/>
            </a:avLst>
          </a:prstGeom>
          <a:solidFill>
            <a:srgbClr val="3B82F6">
              <a:alpha val="16000"/>
            </a:srgbClr>
          </a:solidFill>
        </p:spPr>
        <p:txBody>
          <a:bodyPr/>
          <a:p/>
        </p:txBody>
      </p:sp>
      <p:sp>
        <p:nvSpPr>
          <p:cNvPr id="249" name="圆角矩形 248"/>
          <p:cNvSpPr/>
          <p:nvPr/>
        </p:nvSpPr>
        <p:spPr>
          <a:xfrm>
            <a:off x="609600" y="2000250"/>
            <a:ext cx="4953000" cy="552450"/>
          </a:xfrm>
          <a:prstGeom prst="roundRect">
            <a:avLst>
              <a:gd name="adj" fmla="val 10345"/>
            </a:avLst>
          </a:prstGeom>
          <a:solidFill>
            <a:srgbClr val="3B82F6">
              <a:alpha val="8000"/>
            </a:srgbClr>
          </a:solidFill>
        </p:spPr>
        <p:txBody>
          <a:bodyPr/>
          <a:p/>
        </p:txBody>
      </p:sp>
      <p:sp>
        <p:nvSpPr>
          <p:cNvPr id="250" name="文本框 249" descr="{&quot;isTemplate&quot;:true,&quot;type&quot;:&quot;text&quot;}"/>
          <p:cNvSpPr txBox="1"/>
          <p:nvPr/>
        </p:nvSpPr>
        <p:spPr>
          <a:xfrm>
            <a:off x="781050" y="2171700"/>
            <a:ext cx="1123950" cy="209550"/>
          </a:xfrm>
          <a:prstGeom prst="rect">
            <a:avLst/>
          </a:prstGeom>
        </p:spPr>
        <p:txBody>
          <a:bodyPr wrap="none" lIns="0" tIns="0" rIns="0" bIns="0"/>
          <a:p>
            <a:pPr>
              <a:lnSpc>
                <a:spcPct val="100000"/>
              </a:lnSpc>
            </a:pPr>
            <a:r>
              <a:rPr lang="zh-CN" sz="1350" b="1">
                <a:solidFill>
                  <a:srgbClr val="E6EEF9"/>
                </a:solidFill>
                <a:latin typeface="微软雅黑" panose="020B0503020204020204" charset="-122"/>
                <a:ea typeface="微软雅黑" panose="020B0503020204020204" charset="-122"/>
              </a:rPr>
              <a:t>改造前</a:t>
            </a:r>
            <a:endParaRPr lang="zh-CN" sz="1350" b="1">
              <a:solidFill>
                <a:srgbClr val="E6EEF9"/>
              </a:solidFill>
              <a:latin typeface="微软雅黑" panose="020B0503020204020204" charset="-122"/>
              <a:ea typeface="微软雅黑" panose="020B0503020204020204" charset="-122"/>
            </a:endParaRPr>
          </a:p>
        </p:txBody>
      </p:sp>
      <p:sp>
        <p:nvSpPr>
          <p:cNvPr id="251" name="文本框 250" descr="{&quot;isTemplate&quot;:true,&quot;type&quot;:&quot;text&quot;}"/>
          <p:cNvSpPr txBox="1"/>
          <p:nvPr/>
        </p:nvSpPr>
        <p:spPr>
          <a:xfrm>
            <a:off x="2895600" y="2171700"/>
            <a:ext cx="990600" cy="209550"/>
          </a:xfrm>
          <a:prstGeom prst="rect">
            <a:avLst/>
          </a:prstGeom>
        </p:spPr>
        <p:txBody>
          <a:bodyPr wrap="none" lIns="0" tIns="0" rIns="0" bIns="0"/>
          <a:p>
            <a:pPr algn="r">
              <a:lnSpc>
                <a:spcPct val="100000"/>
              </a:lnSpc>
            </a:pPr>
            <a:r>
              <a:rPr lang="en-US" sz="1350" b="1">
                <a:solidFill>
                  <a:srgbClr val="E6EEF9"/>
                </a:solidFill>
                <a:latin typeface="Segoe UI" panose="020B0502040204020203"/>
                <a:ea typeface="Segoe UI" panose="020B0502040204020203"/>
              </a:rPr>
              <a:t>230.7 s</a:t>
            </a:r>
            <a:endParaRPr lang="en-US" sz="1350" b="1">
              <a:solidFill>
                <a:srgbClr val="E6EEF9"/>
              </a:solidFill>
              <a:latin typeface="Segoe UI" panose="020B0502040204020203"/>
              <a:ea typeface="Segoe UI" panose="020B0502040204020203"/>
            </a:endParaRPr>
          </a:p>
        </p:txBody>
      </p:sp>
      <p:sp>
        <p:nvSpPr>
          <p:cNvPr id="252" name="文本框 251" descr="{&quot;isTemplate&quot;:true,&quot;type&quot;:&quot;text&quot;}"/>
          <p:cNvSpPr txBox="1"/>
          <p:nvPr/>
        </p:nvSpPr>
        <p:spPr>
          <a:xfrm>
            <a:off x="3886200" y="2171700"/>
            <a:ext cx="1504950" cy="219075"/>
          </a:xfrm>
          <a:prstGeom prst="rect">
            <a:avLst/>
          </a:prstGeom>
        </p:spPr>
        <p:txBody>
          <a:bodyPr wrap="none" lIns="0" tIns="0" rIns="0" bIns="0"/>
          <a:p>
            <a:pPr algn="r">
              <a:lnSpc>
                <a:spcPct val="100000"/>
              </a:lnSpc>
            </a:pPr>
            <a:r>
              <a:rPr lang="en-US" sz="1425" b="1">
                <a:solidFill>
                  <a:srgbClr val="E6EEF9"/>
                </a:solidFill>
                <a:latin typeface="Segoe UI" panose="020B0502040204020203"/>
                <a:ea typeface="Segoe UI" panose="020B0502040204020203"/>
              </a:rPr>
              <a:t>142</a:t>
            </a:r>
            <a:endParaRPr lang="en-US" sz="1425" b="1">
              <a:solidFill>
                <a:srgbClr val="22D3EE"/>
              </a:solidFill>
              <a:latin typeface="Segoe UI" panose="020B0502040204020203"/>
              <a:ea typeface="Segoe UI" panose="020B0502040204020203"/>
            </a:endParaRPr>
          </a:p>
        </p:txBody>
      </p:sp>
      <p:sp>
        <p:nvSpPr>
          <p:cNvPr id="253" name="圆角矩形 252"/>
          <p:cNvSpPr/>
          <p:nvPr/>
        </p:nvSpPr>
        <p:spPr>
          <a:xfrm>
            <a:off x="609600" y="2609850"/>
            <a:ext cx="4953000" cy="552450"/>
          </a:xfrm>
          <a:prstGeom prst="roundRect">
            <a:avLst>
              <a:gd name="adj" fmla="val 10345"/>
            </a:avLst>
          </a:prstGeom>
          <a:solidFill>
            <a:srgbClr val="3B82F6">
              <a:alpha val="14000"/>
            </a:srgbClr>
          </a:solidFill>
        </p:spPr>
        <p:txBody>
          <a:bodyPr/>
          <a:p/>
        </p:txBody>
      </p:sp>
      <p:sp>
        <p:nvSpPr>
          <p:cNvPr id="254" name="文本框 253" descr="{&quot;isTemplate&quot;:true,&quot;type&quot;:&quot;text&quot;}"/>
          <p:cNvSpPr txBox="1"/>
          <p:nvPr/>
        </p:nvSpPr>
        <p:spPr>
          <a:xfrm>
            <a:off x="781050" y="2781300"/>
            <a:ext cx="1123950" cy="209550"/>
          </a:xfrm>
          <a:prstGeom prst="rect">
            <a:avLst/>
          </a:prstGeom>
        </p:spPr>
        <p:txBody>
          <a:bodyPr wrap="none" lIns="0" tIns="0" rIns="0" bIns="0"/>
          <a:p>
            <a:pPr>
              <a:lnSpc>
                <a:spcPct val="100000"/>
              </a:lnSpc>
            </a:pPr>
            <a:r>
              <a:rPr lang="en-US" sz="1350" b="1">
                <a:solidFill>
                  <a:srgbClr val="E6EEF9"/>
                </a:solidFill>
                <a:latin typeface="微软雅黑" panose="020B0503020204020204" charset="-122"/>
                <a:ea typeface="微软雅黑" panose="020B0503020204020204" charset="-122"/>
              </a:rPr>
              <a:t>①三键合一</a:t>
            </a:r>
            <a:endParaRPr lang="en-US" sz="1350" b="1">
              <a:solidFill>
                <a:srgbClr val="E6EEF9"/>
              </a:solidFill>
              <a:latin typeface="微软雅黑" panose="020B0503020204020204" charset="-122"/>
              <a:ea typeface="微软雅黑" panose="020B0503020204020204" charset="-122"/>
            </a:endParaRPr>
          </a:p>
        </p:txBody>
      </p:sp>
      <p:sp>
        <p:nvSpPr>
          <p:cNvPr id="255" name="文本框 254" descr="{&quot;isTemplate&quot;:true,&quot;type&quot;:&quot;text&quot;}"/>
          <p:cNvSpPr txBox="1"/>
          <p:nvPr/>
        </p:nvSpPr>
        <p:spPr>
          <a:xfrm>
            <a:off x="2895600" y="2781300"/>
            <a:ext cx="990600" cy="209550"/>
          </a:xfrm>
          <a:prstGeom prst="rect">
            <a:avLst/>
          </a:prstGeom>
        </p:spPr>
        <p:txBody>
          <a:bodyPr wrap="none" lIns="0" tIns="0" rIns="0" bIns="0"/>
          <a:p>
            <a:pPr algn="r">
              <a:lnSpc>
                <a:spcPct val="100000"/>
              </a:lnSpc>
            </a:pPr>
            <a:r>
              <a:rPr lang="en-US" sz="1350" b="1">
                <a:solidFill>
                  <a:srgbClr val="E6EEF9"/>
                </a:solidFill>
                <a:latin typeface="Segoe UI" panose="020B0502040204020203"/>
                <a:ea typeface="Segoe UI" panose="020B0502040204020203"/>
              </a:rPr>
              <a:t>190.0 s</a:t>
            </a:r>
            <a:endParaRPr lang="en-US" sz="1350" b="1">
              <a:solidFill>
                <a:srgbClr val="E6EEF9"/>
              </a:solidFill>
              <a:latin typeface="Segoe UI" panose="020B0502040204020203"/>
              <a:ea typeface="Segoe UI" panose="020B0502040204020203"/>
            </a:endParaRPr>
          </a:p>
        </p:txBody>
      </p:sp>
      <p:sp>
        <p:nvSpPr>
          <p:cNvPr id="256" name="圆角矩形 255"/>
          <p:cNvSpPr/>
          <p:nvPr/>
        </p:nvSpPr>
        <p:spPr>
          <a:xfrm>
            <a:off x="609600" y="3219450"/>
            <a:ext cx="4953000" cy="552450"/>
          </a:xfrm>
          <a:prstGeom prst="roundRect">
            <a:avLst>
              <a:gd name="adj" fmla="val 10345"/>
            </a:avLst>
          </a:prstGeom>
          <a:solidFill>
            <a:srgbClr val="3B82F6">
              <a:alpha val="14000"/>
            </a:srgbClr>
          </a:solidFill>
        </p:spPr>
        <p:txBody>
          <a:bodyPr/>
          <a:p/>
        </p:txBody>
      </p:sp>
      <p:sp>
        <p:nvSpPr>
          <p:cNvPr id="257" name="文本框 256" descr="{&quot;isTemplate&quot;:true,&quot;type&quot;:&quot;text&quot;}"/>
          <p:cNvSpPr txBox="1"/>
          <p:nvPr/>
        </p:nvSpPr>
        <p:spPr>
          <a:xfrm>
            <a:off x="781050" y="3390900"/>
            <a:ext cx="1123950" cy="209550"/>
          </a:xfrm>
          <a:prstGeom prst="rect">
            <a:avLst/>
          </a:prstGeom>
        </p:spPr>
        <p:txBody>
          <a:bodyPr wrap="none" lIns="0" tIns="0" rIns="0" bIns="0"/>
          <a:p>
            <a:pPr>
              <a:lnSpc>
                <a:spcPct val="100000"/>
              </a:lnSpc>
            </a:pPr>
            <a:r>
              <a:rPr lang="en-US" sz="1350" b="1">
                <a:solidFill>
                  <a:srgbClr val="E6EEF9"/>
                </a:solidFill>
                <a:latin typeface="微软雅黑" panose="020B0503020204020204" charset="-122"/>
                <a:ea typeface="微软雅黑" panose="020B0503020204020204" charset="-122"/>
              </a:rPr>
              <a:t>②加毫米波</a:t>
            </a:r>
            <a:endParaRPr lang="en-US" sz="1350" b="1">
              <a:solidFill>
                <a:srgbClr val="E6EEF9"/>
              </a:solidFill>
              <a:latin typeface="微软雅黑" panose="020B0503020204020204" charset="-122"/>
              <a:ea typeface="微软雅黑" panose="020B0503020204020204" charset="-122"/>
            </a:endParaRPr>
          </a:p>
        </p:txBody>
      </p:sp>
      <p:sp>
        <p:nvSpPr>
          <p:cNvPr id="258" name="文本框 257" descr="{&quot;isTemplate&quot;:true,&quot;type&quot;:&quot;text&quot;}"/>
          <p:cNvSpPr txBox="1"/>
          <p:nvPr/>
        </p:nvSpPr>
        <p:spPr>
          <a:xfrm>
            <a:off x="2895600" y="3390900"/>
            <a:ext cx="990600" cy="209550"/>
          </a:xfrm>
          <a:prstGeom prst="rect">
            <a:avLst/>
          </a:prstGeom>
        </p:spPr>
        <p:txBody>
          <a:bodyPr wrap="none" lIns="0" tIns="0" rIns="0" bIns="0"/>
          <a:p>
            <a:pPr algn="r">
              <a:lnSpc>
                <a:spcPct val="100000"/>
              </a:lnSpc>
            </a:pPr>
            <a:r>
              <a:rPr lang="en-US" sz="1350" b="1">
                <a:solidFill>
                  <a:srgbClr val="E6EEF9"/>
                </a:solidFill>
                <a:latin typeface="Segoe UI" panose="020B0502040204020203"/>
                <a:ea typeface="Segoe UI" panose="020B0502040204020203"/>
              </a:rPr>
              <a:t>168.6 s</a:t>
            </a:r>
            <a:endParaRPr lang="en-US" sz="1350" b="1">
              <a:solidFill>
                <a:srgbClr val="E6EEF9"/>
              </a:solidFill>
              <a:latin typeface="Segoe UI" panose="020B0502040204020203"/>
              <a:ea typeface="Segoe UI" panose="020B0502040204020203"/>
            </a:endParaRPr>
          </a:p>
        </p:txBody>
      </p:sp>
      <p:sp>
        <p:nvSpPr>
          <p:cNvPr id="259" name="圆角矩形 258"/>
          <p:cNvSpPr/>
          <p:nvPr/>
        </p:nvSpPr>
        <p:spPr>
          <a:xfrm>
            <a:off x="609600" y="3829050"/>
            <a:ext cx="4953000" cy="552450"/>
          </a:xfrm>
          <a:prstGeom prst="roundRect">
            <a:avLst>
              <a:gd name="adj" fmla="val 10345"/>
            </a:avLst>
          </a:prstGeom>
          <a:solidFill>
            <a:srgbClr val="22D3EE">
              <a:alpha val="10000"/>
            </a:srgbClr>
          </a:solidFill>
        </p:spPr>
        <p:txBody>
          <a:bodyPr/>
          <a:p/>
        </p:txBody>
      </p:sp>
      <p:sp>
        <p:nvSpPr>
          <p:cNvPr id="260" name="文本框 259" descr="{&quot;isTemplate&quot;:true,&quot;type&quot;:&quot;text&quot;}"/>
          <p:cNvSpPr txBox="1"/>
          <p:nvPr/>
        </p:nvSpPr>
        <p:spPr>
          <a:xfrm>
            <a:off x="781050" y="4000500"/>
            <a:ext cx="1123950" cy="209550"/>
          </a:xfrm>
          <a:prstGeom prst="rect">
            <a:avLst/>
          </a:prstGeom>
        </p:spPr>
        <p:txBody>
          <a:bodyPr wrap="none" lIns="0" tIns="0" rIns="0" bIns="0"/>
          <a:p>
            <a:pPr>
              <a:lnSpc>
                <a:spcPct val="100000"/>
              </a:lnSpc>
            </a:pPr>
            <a:r>
              <a:rPr lang="en-US" sz="1350" b="1">
                <a:solidFill>
                  <a:srgbClr val="E6EEF9"/>
                </a:solidFill>
                <a:latin typeface="微软雅黑" panose="020B0503020204020204" charset="-122"/>
                <a:ea typeface="微软雅黑" panose="020B0503020204020204" charset="-122"/>
              </a:rPr>
              <a:t>③加预调度</a:t>
            </a:r>
            <a:endParaRPr lang="en-US" sz="1350" b="1">
              <a:solidFill>
                <a:srgbClr val="E6EEF9"/>
              </a:solidFill>
              <a:latin typeface="微软雅黑" panose="020B0503020204020204" charset="-122"/>
              <a:ea typeface="微软雅黑" panose="020B0503020204020204" charset="-122"/>
            </a:endParaRPr>
          </a:p>
        </p:txBody>
      </p:sp>
      <p:sp>
        <p:nvSpPr>
          <p:cNvPr id="261" name="文本框 260" descr="{&quot;isTemplate&quot;:true,&quot;type&quot;:&quot;text&quot;}"/>
          <p:cNvSpPr txBox="1"/>
          <p:nvPr/>
        </p:nvSpPr>
        <p:spPr>
          <a:xfrm>
            <a:off x="2895600" y="4000500"/>
            <a:ext cx="990600" cy="209550"/>
          </a:xfrm>
          <a:prstGeom prst="rect">
            <a:avLst/>
          </a:prstGeom>
        </p:spPr>
        <p:txBody>
          <a:bodyPr wrap="none" lIns="0" tIns="0" rIns="0" bIns="0"/>
          <a:p>
            <a:pPr algn="r">
              <a:lnSpc>
                <a:spcPct val="100000"/>
              </a:lnSpc>
            </a:pPr>
            <a:r>
              <a:rPr lang="en-US" sz="1350" b="1">
                <a:solidFill>
                  <a:srgbClr val="22D3EE"/>
                </a:solidFill>
                <a:latin typeface="Segoe UI" panose="020B0502040204020203"/>
                <a:ea typeface="Segoe UI" panose="020B0502040204020203"/>
              </a:rPr>
              <a:t>141.9 s</a:t>
            </a:r>
            <a:endParaRPr lang="en-US" sz="1350" b="1">
              <a:solidFill>
                <a:srgbClr val="22D3EE"/>
              </a:solidFill>
              <a:latin typeface="Segoe UI" panose="020B0502040204020203"/>
              <a:ea typeface="Segoe UI" panose="020B0502040204020203"/>
            </a:endParaRPr>
          </a:p>
        </p:txBody>
      </p:sp>
      <p:sp>
        <p:nvSpPr>
          <p:cNvPr id="262" name="文本框 261" descr="{&quot;isTemplate&quot;:true,&quot;type&quot;:&quot;text&quot;}"/>
          <p:cNvSpPr txBox="1"/>
          <p:nvPr/>
        </p:nvSpPr>
        <p:spPr>
          <a:xfrm>
            <a:off x="3886200" y="4000500"/>
            <a:ext cx="1504950" cy="219075"/>
          </a:xfrm>
          <a:prstGeom prst="rect">
            <a:avLst/>
          </a:prstGeom>
        </p:spPr>
        <p:txBody>
          <a:bodyPr wrap="none" lIns="0" tIns="0" rIns="0" bIns="0"/>
          <a:p>
            <a:pPr algn="r">
              <a:lnSpc>
                <a:spcPct val="100000"/>
              </a:lnSpc>
            </a:pPr>
            <a:r>
              <a:rPr lang="en-US" sz="1425" b="1">
                <a:solidFill>
                  <a:srgbClr val="22D3EE"/>
                </a:solidFill>
                <a:latin typeface="Segoe UI" panose="020B0502040204020203"/>
                <a:ea typeface="Segoe UI" panose="020B0502040204020203"/>
              </a:rPr>
              <a:t>17</a:t>
            </a:r>
            <a:endParaRPr lang="en-US" sz="1425" b="1">
              <a:solidFill>
                <a:srgbClr val="22D3EE"/>
              </a:solidFill>
              <a:latin typeface="Segoe UI" panose="020B0502040204020203"/>
              <a:ea typeface="Segoe UI" panose="020B0502040204020203"/>
            </a:endParaRPr>
          </a:p>
        </p:txBody>
      </p:sp>
      <p:sp>
        <p:nvSpPr>
          <p:cNvPr id="263" name="圆角矩形 262"/>
          <p:cNvSpPr/>
          <p:nvPr/>
        </p:nvSpPr>
        <p:spPr>
          <a:xfrm>
            <a:off x="609600" y="4438650"/>
            <a:ext cx="4953000" cy="552450"/>
          </a:xfrm>
          <a:prstGeom prst="roundRect">
            <a:avLst>
              <a:gd name="adj" fmla="val 10345"/>
            </a:avLst>
          </a:prstGeom>
          <a:solidFill>
            <a:srgbClr val="22D3EE">
              <a:alpha val="14000"/>
            </a:srgbClr>
          </a:solidFill>
        </p:spPr>
        <p:txBody>
          <a:bodyPr/>
          <a:p/>
        </p:txBody>
      </p:sp>
      <p:sp>
        <p:nvSpPr>
          <p:cNvPr id="264" name="文本框 263" descr="{&quot;isTemplate&quot;:true,&quot;type&quot;:&quot;text&quot;}"/>
          <p:cNvSpPr txBox="1"/>
          <p:nvPr/>
        </p:nvSpPr>
        <p:spPr>
          <a:xfrm>
            <a:off x="781050" y="4610100"/>
            <a:ext cx="1123950" cy="209550"/>
          </a:xfrm>
          <a:prstGeom prst="rect">
            <a:avLst/>
          </a:prstGeom>
        </p:spPr>
        <p:txBody>
          <a:bodyPr wrap="none" lIns="0" tIns="0" rIns="0" bIns="0"/>
          <a:p>
            <a:pPr>
              <a:lnSpc>
                <a:spcPct val="100000"/>
              </a:lnSpc>
            </a:pPr>
            <a:r>
              <a:rPr lang="en-US" sz="1350" b="1">
                <a:solidFill>
                  <a:srgbClr val="22D3EE"/>
                </a:solidFill>
                <a:latin typeface="微软雅黑" panose="020B0503020204020204" charset="-122"/>
                <a:ea typeface="微软雅黑" panose="020B0503020204020204" charset="-122"/>
              </a:rPr>
              <a:t>④刷脸呼梯</a:t>
            </a:r>
            <a:endParaRPr lang="en-US" sz="1350" b="1">
              <a:solidFill>
                <a:srgbClr val="22D3EE"/>
              </a:solidFill>
              <a:latin typeface="微软雅黑" panose="020B0503020204020204" charset="-122"/>
              <a:ea typeface="微软雅黑" panose="020B0503020204020204" charset="-122"/>
            </a:endParaRPr>
          </a:p>
        </p:txBody>
      </p:sp>
      <p:sp>
        <p:nvSpPr>
          <p:cNvPr id="265" name="文本框 264" descr="{&quot;isTemplate&quot;:true,&quot;type&quot;:&quot;text&quot;}"/>
          <p:cNvSpPr txBox="1"/>
          <p:nvPr/>
        </p:nvSpPr>
        <p:spPr>
          <a:xfrm>
            <a:off x="2895600" y="4610100"/>
            <a:ext cx="990600" cy="209550"/>
          </a:xfrm>
          <a:prstGeom prst="rect">
            <a:avLst/>
          </a:prstGeom>
        </p:spPr>
        <p:txBody>
          <a:bodyPr wrap="none" lIns="0" tIns="0" rIns="0" bIns="0"/>
          <a:p>
            <a:pPr algn="r">
              <a:lnSpc>
                <a:spcPct val="100000"/>
              </a:lnSpc>
            </a:pPr>
            <a:r>
              <a:rPr lang="en-US" sz="1350" b="1">
                <a:solidFill>
                  <a:srgbClr val="22D3EE"/>
                </a:solidFill>
                <a:latin typeface="Segoe UI" panose="020B0502040204020203"/>
                <a:ea typeface="Segoe UI" panose="020B0502040204020203"/>
              </a:rPr>
              <a:t>133.6 s</a:t>
            </a:r>
            <a:endParaRPr lang="en-US" sz="1350" b="1">
              <a:solidFill>
                <a:srgbClr val="22D3EE"/>
              </a:solidFill>
              <a:latin typeface="Segoe UI" panose="020B0502040204020203"/>
              <a:ea typeface="Segoe UI" panose="020B0502040204020203"/>
            </a:endParaRPr>
          </a:p>
        </p:txBody>
      </p:sp>
      <p:sp>
        <p:nvSpPr>
          <p:cNvPr id="266" name="文本框 265" descr="{&quot;isTemplate&quot;:true,&quot;type&quot;:&quot;text&quot;}"/>
          <p:cNvSpPr txBox="1"/>
          <p:nvPr/>
        </p:nvSpPr>
        <p:spPr>
          <a:xfrm>
            <a:off x="3886200" y="4610100"/>
            <a:ext cx="1504950" cy="219075"/>
          </a:xfrm>
          <a:prstGeom prst="rect">
            <a:avLst/>
          </a:prstGeom>
        </p:spPr>
        <p:txBody>
          <a:bodyPr wrap="none" lIns="0" tIns="0" rIns="0" bIns="0"/>
          <a:p>
            <a:pPr algn="r">
              <a:lnSpc>
                <a:spcPct val="100000"/>
              </a:lnSpc>
            </a:pPr>
            <a:r>
              <a:rPr lang="en-US" sz="1425" b="1">
                <a:solidFill>
                  <a:srgbClr val="22D3EE"/>
                </a:solidFill>
                <a:latin typeface="Segoe UI" panose="020B0502040204020203"/>
                <a:ea typeface="Segoe UI" panose="020B0502040204020203"/>
              </a:rPr>
              <a:t>16</a:t>
            </a:r>
            <a:endParaRPr lang="en-US" sz="1425" b="1">
              <a:solidFill>
                <a:srgbClr val="22D3EE"/>
              </a:solidFill>
              <a:latin typeface="Segoe UI" panose="020B0502040204020203"/>
              <a:ea typeface="Segoe UI" panose="020B0502040204020203"/>
            </a:endParaRPr>
          </a:p>
        </p:txBody>
      </p:sp>
      <p:sp>
        <p:nvSpPr>
          <p:cNvPr id="267" name="圆角矩形 266"/>
          <p:cNvSpPr/>
          <p:nvPr/>
        </p:nvSpPr>
        <p:spPr>
          <a:xfrm>
            <a:off x="609600" y="5048250"/>
            <a:ext cx="4953000" cy="552450"/>
          </a:xfrm>
          <a:prstGeom prst="roundRect">
            <a:avLst>
              <a:gd name="adj" fmla="val 10345"/>
            </a:avLst>
          </a:prstGeom>
          <a:solidFill>
            <a:srgbClr val="22D3EE">
              <a:alpha val="10000"/>
            </a:srgbClr>
          </a:solidFill>
        </p:spPr>
        <p:txBody>
          <a:bodyPr/>
          <a:p/>
        </p:txBody>
      </p:sp>
      <p:sp>
        <p:nvSpPr>
          <p:cNvPr id="268" name="文本框 267" descr="{&quot;isTemplate&quot;:true,&quot;type&quot;:&quot;text&quot;}"/>
          <p:cNvSpPr txBox="1"/>
          <p:nvPr/>
        </p:nvSpPr>
        <p:spPr>
          <a:xfrm>
            <a:off x="781050" y="5219700"/>
            <a:ext cx="1123950" cy="209550"/>
          </a:xfrm>
          <a:prstGeom prst="rect">
            <a:avLst/>
          </a:prstGeom>
        </p:spPr>
        <p:txBody>
          <a:bodyPr wrap="none" lIns="0" tIns="0" rIns="0" bIns="0"/>
          <a:p>
            <a:pPr>
              <a:lnSpc>
                <a:spcPct val="100000"/>
              </a:lnSpc>
            </a:pPr>
            <a:r>
              <a:rPr lang="zh-CN" sz="1350" b="1">
                <a:solidFill>
                  <a:srgbClr val="E6EEF9"/>
                </a:solidFill>
                <a:latin typeface="微软雅黑" panose="020B0503020204020204" charset="-122"/>
                <a:ea typeface="微软雅黑" panose="020B0503020204020204" charset="-122"/>
              </a:rPr>
              <a:t>合计变化</a:t>
            </a:r>
            <a:endParaRPr lang="zh-CN" sz="1350" b="1">
              <a:solidFill>
                <a:srgbClr val="E6EEF9"/>
              </a:solidFill>
              <a:latin typeface="微软雅黑" panose="020B0503020204020204" charset="-122"/>
              <a:ea typeface="微软雅黑" panose="020B0503020204020204" charset="-122"/>
            </a:endParaRPr>
          </a:p>
        </p:txBody>
      </p:sp>
      <p:sp>
        <p:nvSpPr>
          <p:cNvPr id="269" name="文本框 268" descr="{&quot;isTemplate&quot;:true,&quot;type&quot;:&quot;text&quot;}"/>
          <p:cNvSpPr txBox="1"/>
          <p:nvPr/>
        </p:nvSpPr>
        <p:spPr>
          <a:xfrm>
            <a:off x="2895600" y="5219700"/>
            <a:ext cx="990600" cy="209550"/>
          </a:xfrm>
          <a:prstGeom prst="rect">
            <a:avLst/>
          </a:prstGeom>
        </p:spPr>
        <p:txBody>
          <a:bodyPr wrap="none" lIns="0" tIns="0" rIns="0" bIns="0"/>
          <a:p>
            <a:pPr algn="r">
              <a:lnSpc>
                <a:spcPct val="100000"/>
              </a:lnSpc>
            </a:pPr>
            <a:r>
              <a:rPr lang="en-US" sz="1350" b="1">
                <a:solidFill>
                  <a:srgbClr val="22D3EE"/>
                </a:solidFill>
                <a:latin typeface="Segoe UI" panose="020B0502040204020203"/>
                <a:ea typeface="Segoe UI" panose="020B0502040204020203"/>
              </a:rPr>
              <a:t>−42.1%</a:t>
            </a:r>
            <a:endParaRPr lang="en-US" sz="1350" b="1">
              <a:solidFill>
                <a:srgbClr val="22D3EE"/>
              </a:solidFill>
              <a:latin typeface="Segoe UI" panose="020B0502040204020203"/>
              <a:ea typeface="Segoe UI" panose="020B0502040204020203"/>
            </a:endParaRPr>
          </a:p>
        </p:txBody>
      </p:sp>
      <p:sp>
        <p:nvSpPr>
          <p:cNvPr id="270" name="文本框 269" descr="{&quot;isTemplate&quot;:true,&quot;type&quot;:&quot;text&quot;}"/>
          <p:cNvSpPr txBox="1"/>
          <p:nvPr/>
        </p:nvSpPr>
        <p:spPr>
          <a:xfrm>
            <a:off x="3886200" y="5219700"/>
            <a:ext cx="1504950" cy="219075"/>
          </a:xfrm>
          <a:prstGeom prst="rect">
            <a:avLst/>
          </a:prstGeom>
        </p:spPr>
        <p:txBody>
          <a:bodyPr wrap="none" lIns="0" tIns="0" rIns="0" bIns="0"/>
          <a:p>
            <a:pPr algn="r">
              <a:lnSpc>
                <a:spcPct val="100000"/>
              </a:lnSpc>
            </a:pPr>
            <a:r>
              <a:rPr lang="en-US" sz="1425" b="1">
                <a:solidFill>
                  <a:srgbClr val="22D3EE"/>
                </a:solidFill>
                <a:latin typeface="Segoe UI" panose="020B0502040204020203"/>
                <a:ea typeface="Segoe UI" panose="020B0502040204020203"/>
              </a:rPr>
              <a:t>−88.6%</a:t>
            </a:r>
            <a:endParaRPr lang="en-US" sz="1425" b="1">
              <a:solidFill>
                <a:srgbClr val="22D3EE"/>
              </a:solidFill>
              <a:latin typeface="Segoe UI" panose="020B0502040204020203"/>
              <a:ea typeface="Segoe UI" panose="020B0502040204020203"/>
            </a:endParaRPr>
          </a:p>
        </p:txBody>
      </p:sp>
      <p:sp>
        <p:nvSpPr>
          <p:cNvPr id="271" name="文本框 270" descr="{&quot;isTemplate&quot;:true,&quot;type&quot;:&quot;text&quot;}"/>
          <p:cNvSpPr txBox="1"/>
          <p:nvPr/>
        </p:nvSpPr>
        <p:spPr>
          <a:xfrm>
            <a:off x="5791200" y="1257300"/>
            <a:ext cx="5791200" cy="447675"/>
          </a:xfrm>
          <a:prstGeom prst="rect">
            <a:avLst/>
          </a:prstGeom>
        </p:spPr>
        <p:txBody>
          <a:bodyPr wrap="none" lIns="0" tIns="0" rIns="0" bIns="0"/>
          <a:p>
            <a:pPr>
              <a:lnSpc>
                <a:spcPct val="130000"/>
              </a:lnSpc>
            </a:pPr>
            <a:r>
              <a:rPr lang="zh-CN" sz="2250" b="1">
                <a:solidFill>
                  <a:srgbClr val="E6EEF9"/>
                </a:solidFill>
                <a:latin typeface="微软雅黑" panose="020B0503020204020204" charset="-122"/>
                <a:ea typeface="微软雅黑" panose="020B0503020204020204" charset="-122"/>
              </a:rPr>
              <a:t>单独派梯反而更慢</a:t>
            </a:r>
            <a:endParaRPr lang="zh-CN" sz="2250" b="1">
              <a:solidFill>
                <a:srgbClr val="E6EEF9"/>
              </a:solidFill>
              <a:latin typeface="微软雅黑" panose="020B0503020204020204" charset="-122"/>
              <a:ea typeface="微软雅黑" panose="020B0503020204020204" charset="-122"/>
            </a:endParaRPr>
          </a:p>
        </p:txBody>
      </p:sp>
      <p:sp>
        <p:nvSpPr>
          <p:cNvPr id="272" name="圆角矩形 271"/>
          <p:cNvSpPr/>
          <p:nvPr/>
        </p:nvSpPr>
        <p:spPr>
          <a:xfrm>
            <a:off x="5791200" y="1838325"/>
            <a:ext cx="5791200" cy="857250"/>
          </a:xfrm>
          <a:prstGeom prst="roundRect">
            <a:avLst>
              <a:gd name="adj" fmla="val 11111"/>
            </a:avLst>
          </a:prstGeom>
          <a:solidFill>
            <a:srgbClr val="3B82F6">
              <a:alpha val="10000"/>
            </a:srgbClr>
          </a:solidFill>
          <a:ln w="12700">
            <a:solidFill>
              <a:srgbClr val="3B82F6">
                <a:alpha val="24000"/>
              </a:srgbClr>
            </a:solidFill>
            <a:prstDash val="solid"/>
          </a:ln>
        </p:spPr>
        <p:txBody>
          <a:bodyPr/>
          <a:p/>
        </p:txBody>
      </p:sp>
      <p:sp>
        <p:nvSpPr>
          <p:cNvPr id="273" name="圆角矩形 272"/>
          <p:cNvSpPr/>
          <p:nvPr/>
        </p:nvSpPr>
        <p:spPr>
          <a:xfrm>
            <a:off x="5791200" y="2828925"/>
            <a:ext cx="5791200" cy="857250"/>
          </a:xfrm>
          <a:prstGeom prst="roundRect">
            <a:avLst>
              <a:gd name="adj" fmla="val 11111"/>
            </a:avLst>
          </a:prstGeom>
          <a:solidFill>
            <a:srgbClr val="22D3EE">
              <a:alpha val="10000"/>
            </a:srgbClr>
          </a:solidFill>
          <a:ln w="12700">
            <a:solidFill>
              <a:srgbClr val="22D3EE">
                <a:alpha val="30000"/>
              </a:srgbClr>
            </a:solidFill>
            <a:prstDash val="solid"/>
          </a:ln>
        </p:spPr>
        <p:txBody>
          <a:bodyPr/>
          <a:p/>
        </p:txBody>
      </p:sp>
      <p:sp>
        <p:nvSpPr>
          <p:cNvPr id="274" name="圆角矩形 273"/>
          <p:cNvSpPr/>
          <p:nvPr/>
        </p:nvSpPr>
        <p:spPr>
          <a:xfrm>
            <a:off x="5791200" y="3819525"/>
            <a:ext cx="5791200" cy="857250"/>
          </a:xfrm>
          <a:prstGeom prst="roundRect">
            <a:avLst>
              <a:gd name="adj" fmla="val 11111"/>
            </a:avLst>
          </a:prstGeom>
          <a:solidFill>
            <a:srgbClr val="3B82F6">
              <a:alpha val="10000"/>
            </a:srgbClr>
          </a:solidFill>
          <a:ln w="12700">
            <a:solidFill>
              <a:srgbClr val="3B82F6">
                <a:alpha val="24000"/>
              </a:srgbClr>
            </a:solidFill>
            <a:prstDash val="solid"/>
          </a:ln>
        </p:spPr>
        <p:txBody>
          <a:bodyPr/>
          <a:p/>
        </p:txBody>
      </p:sp>
      <p:sp>
        <p:nvSpPr>
          <p:cNvPr id="275" name="圆角矩形 274"/>
          <p:cNvSpPr/>
          <p:nvPr/>
        </p:nvSpPr>
        <p:spPr>
          <a:xfrm>
            <a:off x="5819775" y="5295900"/>
            <a:ext cx="5791200" cy="914400"/>
          </a:xfrm>
          <a:prstGeom prst="roundRect">
            <a:avLst>
              <a:gd name="adj" fmla="val 4167"/>
            </a:avLst>
          </a:prstGeom>
          <a:solidFill>
            <a:srgbClr val="22D3EE">
              <a:alpha val="10000"/>
            </a:srgbClr>
          </a:solidFill>
        </p:spPr>
        <p:txBody>
          <a:bodyPr/>
          <a:p/>
        </p:txBody>
      </p:sp>
      <p:sp>
        <p:nvSpPr>
          <p:cNvPr id="276" name="任意多边形 275"/>
          <p:cNvSpPr/>
          <p:nvPr/>
        </p:nvSpPr>
        <p:spPr>
          <a:xfrm>
            <a:off x="5819775" y="5295900"/>
            <a:ext cx="5791200" cy="914400"/>
          </a:xfrm>
          <a:custGeom>
            <a:avLst/>
            <a:gdLst/>
            <a:ahLst/>
            <a:cxnLst/>
            <a:pathLst>
              <a:path w="608" h="96">
                <a:moveTo>
                  <a:pt x="4" y="0"/>
                </a:moveTo>
                <a:cubicBezTo>
                  <a:pt x="3" y="0"/>
                  <a:pt x="3" y="0"/>
                  <a:pt x="3" y="1"/>
                </a:cubicBezTo>
                <a:lnTo>
                  <a:pt x="3" y="95"/>
                </a:lnTo>
                <a:cubicBezTo>
                  <a:pt x="3" y="95"/>
                  <a:pt x="3" y="96"/>
                  <a:pt x="4" y="96"/>
                </a:cubicBezTo>
                <a:cubicBezTo>
                  <a:pt x="2" y="96"/>
                  <a:pt x="0" y="94"/>
                  <a:pt x="0" y="92"/>
                </a:cubicBezTo>
                <a:lnTo>
                  <a:pt x="0" y="4"/>
                </a:lnTo>
                <a:cubicBezTo>
                  <a:pt x="0" y="2"/>
                  <a:pt x="2" y="0"/>
                  <a:pt x="4" y="0"/>
                </a:cubicBezTo>
                <a:close/>
              </a:path>
            </a:pathLst>
          </a:custGeom>
          <a:solidFill>
            <a:srgbClr val="22D3EE"/>
          </a:solidFill>
        </p:spPr>
        <p:txBody>
          <a:bodyPr/>
          <a:p/>
        </p:txBody>
      </p:sp>
      <p:sp>
        <p:nvSpPr>
          <p:cNvPr id="277" name="文本框 276" descr="{&quot;isTemplate&quot;:true,&quot;type&quot;:&quot;text&quot;}"/>
          <p:cNvSpPr txBox="1"/>
          <p:nvPr/>
        </p:nvSpPr>
        <p:spPr>
          <a:xfrm>
            <a:off x="609600" y="1257300"/>
            <a:ext cx="4953000" cy="190500"/>
          </a:xfrm>
          <a:prstGeom prst="rect">
            <a:avLst/>
          </a:prstGeom>
        </p:spPr>
        <p:txBody>
          <a:bodyPr wrap="none" lIns="0" tIns="0" rIns="0" bIns="0"/>
          <a:p>
            <a:pPr>
              <a:lnSpc>
                <a:spcPct val="100000"/>
              </a:lnSpc>
            </a:pPr>
            <a:r>
              <a:rPr lang="zh-CN" sz="1200">
                <a:solidFill>
                  <a:srgbClr val="E6EEF9">
                    <a:alpha val="60000"/>
                  </a:srgbClr>
                </a:solidFill>
                <a:latin typeface="微软雅黑" panose="020B0503020204020204" charset="-122"/>
                <a:ea typeface="微软雅黑" panose="020B0503020204020204" charset="-122"/>
              </a:rPr>
              <a:t>逐项启用改造措施 · 20 组随机种子均值</a:t>
            </a:r>
            <a:endParaRPr lang="zh-CN" sz="1200">
              <a:solidFill>
                <a:srgbClr val="E6EEF9">
                  <a:alpha val="60000"/>
                </a:srgbClr>
              </a:solidFill>
              <a:latin typeface="微软雅黑" panose="020B0503020204020204" charset="-122"/>
              <a:ea typeface="微软雅黑" panose="020B0503020204020204" charset="-122"/>
            </a:endParaRPr>
          </a:p>
        </p:txBody>
      </p:sp>
      <p:sp>
        <p:nvSpPr>
          <p:cNvPr id="278" name="文本框 277" descr="{&quot;isTemplate&quot;:true,&quot;type&quot;:&quot;text&quot;}"/>
          <p:cNvSpPr txBox="1"/>
          <p:nvPr/>
        </p:nvSpPr>
        <p:spPr>
          <a:xfrm>
            <a:off x="781050" y="1666875"/>
            <a:ext cx="1123950" cy="171450"/>
          </a:xfrm>
          <a:prstGeom prst="rect">
            <a:avLst/>
          </a:prstGeom>
        </p:spPr>
        <p:txBody>
          <a:bodyPr wrap="none" lIns="0" tIns="0" rIns="0" bIns="0"/>
          <a:p>
            <a:pPr>
              <a:lnSpc>
                <a:spcPct val="100000"/>
              </a:lnSpc>
            </a:pPr>
            <a:r>
              <a:rPr lang="zh-CN" sz="1125">
                <a:solidFill>
                  <a:srgbClr val="E6EEF9">
                    <a:alpha val="60000"/>
                  </a:srgbClr>
                </a:solidFill>
                <a:latin typeface="微软雅黑" panose="020B0503020204020204" charset="-122"/>
                <a:ea typeface="微软雅黑" panose="020B0503020204020204" charset="-122"/>
              </a:rPr>
              <a:t>改造阶段</a:t>
            </a:r>
            <a:endParaRPr lang="zh-CN" sz="1125">
              <a:solidFill>
                <a:srgbClr val="E6EEF9">
                  <a:alpha val="60000"/>
                </a:srgbClr>
              </a:solidFill>
              <a:latin typeface="微软雅黑" panose="020B0503020204020204" charset="-122"/>
              <a:ea typeface="微软雅黑" panose="020B0503020204020204" charset="-122"/>
            </a:endParaRPr>
          </a:p>
        </p:txBody>
      </p:sp>
      <p:sp>
        <p:nvSpPr>
          <p:cNvPr id="279" name="文本框 278" descr="{&quot;isTemplate&quot;:true,&quot;type&quot;:&quot;text&quot;}"/>
          <p:cNvSpPr txBox="1"/>
          <p:nvPr/>
        </p:nvSpPr>
        <p:spPr>
          <a:xfrm>
            <a:off x="1905000" y="1666875"/>
            <a:ext cx="990600" cy="171450"/>
          </a:xfrm>
          <a:prstGeom prst="rect">
            <a:avLst/>
          </a:prstGeom>
        </p:spPr>
        <p:txBody>
          <a:bodyPr wrap="none" lIns="0" tIns="0" rIns="0" bIns="0"/>
          <a:p>
            <a:pPr algn="r">
              <a:lnSpc>
                <a:spcPct val="100000"/>
              </a:lnSpc>
            </a:pPr>
            <a:r>
              <a:rPr lang="zh-CN" sz="1125">
                <a:solidFill>
                  <a:srgbClr val="E6EEF9">
                    <a:alpha val="60000"/>
                  </a:srgbClr>
                </a:solidFill>
                <a:latin typeface="微软雅黑" panose="020B0503020204020204" charset="-122"/>
                <a:ea typeface="微软雅黑" panose="020B0503020204020204" charset="-122"/>
              </a:rPr>
              <a:t>候梯时间</a:t>
            </a:r>
            <a:endParaRPr lang="zh-CN" sz="1125">
              <a:solidFill>
                <a:srgbClr val="E6EEF9">
                  <a:alpha val="60000"/>
                </a:srgbClr>
              </a:solidFill>
              <a:latin typeface="微软雅黑" panose="020B0503020204020204" charset="-122"/>
              <a:ea typeface="微软雅黑" panose="020B0503020204020204" charset="-122"/>
            </a:endParaRPr>
          </a:p>
        </p:txBody>
      </p:sp>
      <p:sp>
        <p:nvSpPr>
          <p:cNvPr id="280" name="文本框 279" descr="{&quot;isTemplate&quot;:true,&quot;type&quot;:&quot;text&quot;}"/>
          <p:cNvSpPr txBox="1"/>
          <p:nvPr/>
        </p:nvSpPr>
        <p:spPr>
          <a:xfrm>
            <a:off x="2895600" y="1666875"/>
            <a:ext cx="990600" cy="171450"/>
          </a:xfrm>
          <a:prstGeom prst="rect">
            <a:avLst/>
          </a:prstGeom>
        </p:spPr>
        <p:txBody>
          <a:bodyPr wrap="none" lIns="0" tIns="0" rIns="0" bIns="0"/>
          <a:p>
            <a:pPr algn="r">
              <a:lnSpc>
                <a:spcPct val="100000"/>
              </a:lnSpc>
            </a:pPr>
            <a:r>
              <a:rPr lang="zh-CN" sz="1125">
                <a:solidFill>
                  <a:srgbClr val="E6EEF9">
                    <a:alpha val="60000"/>
                  </a:srgbClr>
                </a:solidFill>
                <a:latin typeface="微软雅黑" panose="020B0503020204020204" charset="-122"/>
                <a:ea typeface="微软雅黑" panose="020B0503020204020204" charset="-122"/>
              </a:rPr>
              <a:t>最长候梯</a:t>
            </a:r>
            <a:endParaRPr lang="zh-CN" sz="1125">
              <a:solidFill>
                <a:srgbClr val="E6EEF9">
                  <a:alpha val="60000"/>
                </a:srgbClr>
              </a:solidFill>
              <a:latin typeface="微软雅黑" panose="020B0503020204020204" charset="-122"/>
              <a:ea typeface="微软雅黑" panose="020B0503020204020204" charset="-122"/>
            </a:endParaRPr>
          </a:p>
        </p:txBody>
      </p:sp>
      <p:sp>
        <p:nvSpPr>
          <p:cNvPr id="281" name="文本框 280" descr="{&quot;isTemplate&quot;:true,&quot;type&quot;:&quot;text&quot;}"/>
          <p:cNvSpPr txBox="1"/>
          <p:nvPr/>
        </p:nvSpPr>
        <p:spPr>
          <a:xfrm>
            <a:off x="3886200" y="1666875"/>
            <a:ext cx="1504950" cy="171450"/>
          </a:xfrm>
          <a:prstGeom prst="rect">
            <a:avLst/>
          </a:prstGeom>
        </p:spPr>
        <p:txBody>
          <a:bodyPr wrap="none" lIns="0" tIns="0" rIns="0" bIns="0"/>
          <a:p>
            <a:pPr algn="r">
              <a:lnSpc>
                <a:spcPct val="100000"/>
              </a:lnSpc>
            </a:pPr>
            <a:r>
              <a:rPr lang="zh-CN" sz="1125">
                <a:solidFill>
                  <a:srgbClr val="E6EEF9">
                    <a:alpha val="60000"/>
                  </a:srgbClr>
                </a:solidFill>
                <a:latin typeface="微软雅黑" panose="020B0503020204020204" charset="-122"/>
                <a:ea typeface="微软雅黑" panose="020B0503020204020204" charset="-122"/>
              </a:rPr>
              <a:t>无效停靠</a:t>
            </a:r>
            <a:endParaRPr lang="zh-CN" sz="1125">
              <a:solidFill>
                <a:srgbClr val="E6EEF9">
                  <a:alpha val="60000"/>
                </a:srgbClr>
              </a:solidFill>
              <a:latin typeface="微软雅黑" panose="020B0503020204020204" charset="-122"/>
              <a:ea typeface="微软雅黑" panose="020B0503020204020204" charset="-122"/>
            </a:endParaRPr>
          </a:p>
        </p:txBody>
      </p:sp>
      <p:sp>
        <p:nvSpPr>
          <p:cNvPr id="282" name="文本框 281" descr="{&quot;isTemplate&quot;:true,&quot;type&quot;:&quot;text&quot;}"/>
          <p:cNvSpPr txBox="1"/>
          <p:nvPr/>
        </p:nvSpPr>
        <p:spPr>
          <a:xfrm>
            <a:off x="1905000" y="2171700"/>
            <a:ext cx="990600" cy="209550"/>
          </a:xfrm>
          <a:prstGeom prst="rect">
            <a:avLst/>
          </a:prstGeom>
        </p:spPr>
        <p:txBody>
          <a:bodyPr wrap="none" lIns="0" tIns="0" rIns="0" bIns="0"/>
          <a:p>
            <a:pPr algn="r">
              <a:lnSpc>
                <a:spcPct val="100000"/>
              </a:lnSpc>
            </a:pPr>
            <a:r>
              <a:rPr lang="en-US" sz="1350">
                <a:solidFill>
                  <a:srgbClr val="E6EEF9">
                    <a:alpha val="50000"/>
                  </a:srgbClr>
                </a:solidFill>
                <a:latin typeface="Segoe UI" panose="020B0502040204020203"/>
                <a:ea typeface="Segoe UI" panose="020B0502040204020203"/>
              </a:rPr>
              <a:t>19.0 s</a:t>
            </a:r>
            <a:endParaRPr lang="en-US" sz="1350">
              <a:solidFill>
                <a:srgbClr val="E6EEF9">
                  <a:alpha val="50000"/>
                </a:srgbClr>
              </a:solidFill>
              <a:latin typeface="Segoe UI" panose="020B0502040204020203"/>
              <a:ea typeface="Segoe UI" panose="020B0502040204020203"/>
            </a:endParaRPr>
          </a:p>
        </p:txBody>
      </p:sp>
      <p:sp>
        <p:nvSpPr>
          <p:cNvPr id="283" name="文本框 282" descr="{&quot;isTemplate&quot;:true,&quot;type&quot;:&quot;text&quot;}"/>
          <p:cNvSpPr txBox="1"/>
          <p:nvPr/>
        </p:nvSpPr>
        <p:spPr>
          <a:xfrm>
            <a:off x="1905000" y="2781300"/>
            <a:ext cx="990600" cy="209550"/>
          </a:xfrm>
          <a:prstGeom prst="rect">
            <a:avLst/>
          </a:prstGeom>
        </p:spPr>
        <p:txBody>
          <a:bodyPr wrap="none" lIns="0" tIns="0" rIns="0" bIns="0"/>
          <a:p>
            <a:pPr algn="r">
              <a:lnSpc>
                <a:spcPct val="100000"/>
              </a:lnSpc>
            </a:pPr>
            <a:r>
              <a:rPr lang="en-US" sz="1350">
                <a:solidFill>
                  <a:srgbClr val="E6EEF9">
                    <a:alpha val="50000"/>
                  </a:srgbClr>
                </a:solidFill>
                <a:latin typeface="Segoe UI" panose="020B0502040204020203"/>
                <a:ea typeface="Segoe UI" panose="020B0502040204020203"/>
              </a:rPr>
              <a:t>27.5 s</a:t>
            </a:r>
            <a:endParaRPr lang="en-US" sz="1350">
              <a:solidFill>
                <a:srgbClr val="E6EEF9">
                  <a:alpha val="50000"/>
                </a:srgbClr>
              </a:solidFill>
              <a:latin typeface="Segoe UI" panose="020B0502040204020203"/>
              <a:ea typeface="Segoe UI" panose="020B0502040204020203"/>
            </a:endParaRPr>
          </a:p>
        </p:txBody>
      </p:sp>
      <p:sp>
        <p:nvSpPr>
          <p:cNvPr id="284" name="文本框 283" descr="{&quot;isTemplate&quot;:true,&quot;type&quot;:&quot;text&quot;}"/>
          <p:cNvSpPr txBox="1"/>
          <p:nvPr/>
        </p:nvSpPr>
        <p:spPr>
          <a:xfrm>
            <a:off x="3886200" y="2781300"/>
            <a:ext cx="1504950" cy="219075"/>
          </a:xfrm>
          <a:prstGeom prst="rect">
            <a:avLst/>
          </a:prstGeom>
        </p:spPr>
        <p:txBody>
          <a:bodyPr wrap="none" lIns="0" tIns="0" rIns="0" bIns="0"/>
          <a:p>
            <a:pPr algn="r">
              <a:lnSpc>
                <a:spcPct val="100000"/>
              </a:lnSpc>
            </a:pPr>
            <a:r>
              <a:rPr lang="en-US" sz="1425" b="1">
                <a:solidFill>
                  <a:srgbClr val="E6EEF9">
                    <a:alpha val="72000"/>
                  </a:srgbClr>
                </a:solidFill>
                <a:latin typeface="Segoe UI" panose="020B0502040204020203"/>
                <a:ea typeface="Segoe UI" panose="020B0502040204020203"/>
              </a:rPr>
              <a:t>24</a:t>
            </a:r>
            <a:endParaRPr lang="en-US" sz="1425" b="1">
              <a:solidFill>
                <a:srgbClr val="E6EEF9">
                  <a:alpha val="72000"/>
                </a:srgbClr>
              </a:solidFill>
              <a:latin typeface="Segoe UI" panose="020B0502040204020203"/>
              <a:ea typeface="Segoe UI" panose="020B0502040204020203"/>
            </a:endParaRPr>
          </a:p>
        </p:txBody>
      </p:sp>
      <p:sp>
        <p:nvSpPr>
          <p:cNvPr id="285" name="文本框 284" descr="{&quot;isTemplate&quot;:true,&quot;type&quot;:&quot;text&quot;}"/>
          <p:cNvSpPr txBox="1"/>
          <p:nvPr/>
        </p:nvSpPr>
        <p:spPr>
          <a:xfrm>
            <a:off x="1905000" y="3390900"/>
            <a:ext cx="990600" cy="209550"/>
          </a:xfrm>
          <a:prstGeom prst="rect">
            <a:avLst/>
          </a:prstGeom>
        </p:spPr>
        <p:txBody>
          <a:bodyPr wrap="none" lIns="0" tIns="0" rIns="0" bIns="0"/>
          <a:p>
            <a:pPr algn="r">
              <a:lnSpc>
                <a:spcPct val="100000"/>
              </a:lnSpc>
            </a:pPr>
            <a:r>
              <a:rPr lang="en-US" sz="1350">
                <a:solidFill>
                  <a:srgbClr val="E6EEF9">
                    <a:alpha val="50000"/>
                  </a:srgbClr>
                </a:solidFill>
                <a:latin typeface="Segoe UI" panose="020B0502040204020203"/>
                <a:ea typeface="Segoe UI" panose="020B0502040204020203"/>
              </a:rPr>
              <a:t>26.3 s</a:t>
            </a:r>
            <a:endParaRPr lang="en-US" sz="1350">
              <a:solidFill>
                <a:srgbClr val="E6EEF9">
                  <a:alpha val="50000"/>
                </a:srgbClr>
              </a:solidFill>
              <a:latin typeface="Segoe UI" panose="020B0502040204020203"/>
              <a:ea typeface="Segoe UI" panose="020B0502040204020203"/>
            </a:endParaRPr>
          </a:p>
        </p:txBody>
      </p:sp>
      <p:sp>
        <p:nvSpPr>
          <p:cNvPr id="286" name="文本框 285" descr="{&quot;isTemplate&quot;:true,&quot;type&quot;:&quot;text&quot;}"/>
          <p:cNvSpPr txBox="1"/>
          <p:nvPr/>
        </p:nvSpPr>
        <p:spPr>
          <a:xfrm>
            <a:off x="3886200" y="3390900"/>
            <a:ext cx="1504950" cy="219075"/>
          </a:xfrm>
          <a:prstGeom prst="rect">
            <a:avLst/>
          </a:prstGeom>
        </p:spPr>
        <p:txBody>
          <a:bodyPr wrap="none" lIns="0" tIns="0" rIns="0" bIns="0"/>
          <a:p>
            <a:pPr algn="r">
              <a:lnSpc>
                <a:spcPct val="100000"/>
              </a:lnSpc>
            </a:pPr>
            <a:r>
              <a:rPr lang="en-US" sz="1425" b="1">
                <a:solidFill>
                  <a:srgbClr val="E6EEF9">
                    <a:alpha val="72000"/>
                  </a:srgbClr>
                </a:solidFill>
                <a:latin typeface="Segoe UI" panose="020B0502040204020203"/>
                <a:ea typeface="Segoe UI" panose="020B0502040204020203"/>
              </a:rPr>
              <a:t>24</a:t>
            </a:r>
            <a:endParaRPr lang="en-US" sz="1425" b="1">
              <a:solidFill>
                <a:srgbClr val="E6EEF9">
                  <a:alpha val="72000"/>
                </a:srgbClr>
              </a:solidFill>
              <a:latin typeface="Segoe UI" panose="020B0502040204020203"/>
              <a:ea typeface="Segoe UI" panose="020B0502040204020203"/>
            </a:endParaRPr>
          </a:p>
        </p:txBody>
      </p:sp>
      <p:sp>
        <p:nvSpPr>
          <p:cNvPr id="287" name="文本框 286" descr="{&quot;isTemplate&quot;:true,&quot;type&quot;:&quot;text&quot;}"/>
          <p:cNvSpPr txBox="1"/>
          <p:nvPr/>
        </p:nvSpPr>
        <p:spPr>
          <a:xfrm>
            <a:off x="1905000" y="4000500"/>
            <a:ext cx="990600" cy="209550"/>
          </a:xfrm>
          <a:prstGeom prst="rect">
            <a:avLst/>
          </a:prstGeom>
        </p:spPr>
        <p:txBody>
          <a:bodyPr wrap="none" lIns="0" tIns="0" rIns="0" bIns="0"/>
          <a:p>
            <a:pPr algn="r">
              <a:lnSpc>
                <a:spcPct val="100000"/>
              </a:lnSpc>
            </a:pPr>
            <a:r>
              <a:rPr lang="en-US" sz="1350">
                <a:solidFill>
                  <a:srgbClr val="E6EEF9">
                    <a:alpha val="50000"/>
                  </a:srgbClr>
                </a:solidFill>
                <a:latin typeface="Segoe UI" panose="020B0502040204020203"/>
                <a:ea typeface="Segoe UI" panose="020B0502040204020203"/>
              </a:rPr>
              <a:t>17.5 s</a:t>
            </a:r>
            <a:endParaRPr lang="en-US" sz="1350">
              <a:solidFill>
                <a:srgbClr val="E6EEF9">
                  <a:alpha val="50000"/>
                </a:srgbClr>
              </a:solidFill>
              <a:latin typeface="Segoe UI" panose="020B0502040204020203"/>
              <a:ea typeface="Segoe UI" panose="020B0502040204020203"/>
            </a:endParaRPr>
          </a:p>
        </p:txBody>
      </p:sp>
      <p:sp>
        <p:nvSpPr>
          <p:cNvPr id="288" name="文本框 287" descr="{&quot;isTemplate&quot;:true,&quot;type&quot;:&quot;text&quot;}"/>
          <p:cNvSpPr txBox="1"/>
          <p:nvPr/>
        </p:nvSpPr>
        <p:spPr>
          <a:xfrm>
            <a:off x="1905000" y="4610100"/>
            <a:ext cx="990600" cy="209550"/>
          </a:xfrm>
          <a:prstGeom prst="rect">
            <a:avLst/>
          </a:prstGeom>
        </p:spPr>
        <p:txBody>
          <a:bodyPr wrap="none" lIns="0" tIns="0" rIns="0" bIns="0"/>
          <a:p>
            <a:pPr algn="r">
              <a:lnSpc>
                <a:spcPct val="100000"/>
              </a:lnSpc>
            </a:pPr>
            <a:r>
              <a:rPr lang="en-US" sz="1350">
                <a:solidFill>
                  <a:srgbClr val="E6EEF9">
                    <a:alpha val="50000"/>
                  </a:srgbClr>
                </a:solidFill>
                <a:latin typeface="Segoe UI" panose="020B0502040204020203"/>
                <a:ea typeface="Segoe UI" panose="020B0502040204020203"/>
              </a:rPr>
              <a:t>17.6 s</a:t>
            </a:r>
            <a:endParaRPr lang="en-US" sz="1350">
              <a:solidFill>
                <a:srgbClr val="E6EEF9">
                  <a:alpha val="50000"/>
                </a:srgbClr>
              </a:solidFill>
              <a:latin typeface="Segoe UI" panose="020B0502040204020203"/>
              <a:ea typeface="Segoe UI" panose="020B0502040204020203"/>
            </a:endParaRPr>
          </a:p>
        </p:txBody>
      </p:sp>
      <p:sp>
        <p:nvSpPr>
          <p:cNvPr id="289" name="文本框 288" descr="{&quot;isTemplate&quot;:true,&quot;type&quot;:&quot;text&quot;}"/>
          <p:cNvSpPr txBox="1"/>
          <p:nvPr/>
        </p:nvSpPr>
        <p:spPr>
          <a:xfrm>
            <a:off x="1905000" y="5219700"/>
            <a:ext cx="990600" cy="209550"/>
          </a:xfrm>
          <a:prstGeom prst="rect">
            <a:avLst/>
          </a:prstGeom>
        </p:spPr>
        <p:txBody>
          <a:bodyPr wrap="none" lIns="0" tIns="0" rIns="0" bIns="0"/>
          <a:p>
            <a:pPr algn="r">
              <a:lnSpc>
                <a:spcPct val="100000"/>
              </a:lnSpc>
            </a:pPr>
            <a:r>
              <a:rPr lang="en-US" sz="1350">
                <a:solidFill>
                  <a:srgbClr val="22D3EE">
                    <a:alpha val="50000"/>
                  </a:srgbClr>
                </a:solidFill>
                <a:latin typeface="Segoe UI" panose="020B0502040204020203"/>
                <a:ea typeface="Segoe UI" panose="020B0502040204020203"/>
              </a:rPr>
              <a:t>−7.5%</a:t>
            </a:r>
            <a:endParaRPr lang="en-US" sz="1350">
              <a:solidFill>
                <a:srgbClr val="E6EEF9">
                  <a:alpha val="50000"/>
                </a:srgbClr>
              </a:solidFill>
              <a:latin typeface="Segoe UI" panose="020B0502040204020203"/>
              <a:ea typeface="Segoe UI" panose="020B0502040204020203"/>
            </a:endParaRPr>
          </a:p>
        </p:txBody>
      </p:sp>
      <p:sp>
        <p:nvSpPr>
          <p:cNvPr id="290" name="文本框 289" descr="{&quot;isTemplate&quot;:true,&quot;type&quot;:&quot;text&quot;}"/>
          <p:cNvSpPr txBox="1"/>
          <p:nvPr/>
        </p:nvSpPr>
        <p:spPr>
          <a:xfrm>
            <a:off x="5962650" y="1971675"/>
            <a:ext cx="5448300" cy="590550"/>
          </a:xfrm>
          <a:prstGeom prst="rect">
            <a:avLst/>
          </a:prstGeom>
        </p:spPr>
        <p:txBody>
          <a:bodyPr wrap="square" lIns="0" tIns="0" rIns="0" bIns="0">
            <a:normAutofit/>
          </a:bodyPr>
          <a:p>
            <a:pPr>
              <a:lnSpc>
                <a:spcPct val="160000"/>
              </a:lnSpc>
            </a:pPr>
            <a:r>
              <a:rPr lang="zh-CN" sz="1200">
                <a:solidFill>
                  <a:srgbClr val="E6EEF9">
                    <a:alpha val="72000"/>
                  </a:srgbClr>
                </a:solidFill>
                <a:latin typeface="微软雅黑" panose="020B0503020204020204" charset="-122"/>
                <a:ea typeface="微软雅黑" panose="020B0503020204020204" charset="-122"/>
              </a:rPr>
              <a:t>改造前三个按钮并联触发，相当于两台电梯同时响应；改成单梯派梯后，候梯反而从 19.0 s 升到 27.5 s —— 单独做这一项是负收益。</a:t>
            </a:r>
            <a:endParaRPr lang="zh-CN" sz="1200">
              <a:solidFill>
                <a:srgbClr val="E6EEF9">
                  <a:alpha val="72000"/>
                </a:srgbClr>
              </a:solidFill>
              <a:latin typeface="微软雅黑" panose="020B0503020204020204" charset="-122"/>
              <a:ea typeface="微软雅黑" panose="020B0503020204020204" charset="-122"/>
            </a:endParaRPr>
          </a:p>
        </p:txBody>
      </p:sp>
      <p:sp>
        <p:nvSpPr>
          <p:cNvPr id="291" name="文本框 290" descr="{&quot;isTemplate&quot;:true,&quot;type&quot;:&quot;text&quot;}"/>
          <p:cNvSpPr txBox="1"/>
          <p:nvPr/>
        </p:nvSpPr>
        <p:spPr>
          <a:xfrm>
            <a:off x="5962650" y="2962275"/>
            <a:ext cx="5448300" cy="590550"/>
          </a:xfrm>
          <a:prstGeom prst="rect">
            <a:avLst/>
          </a:prstGeom>
        </p:spPr>
        <p:txBody>
          <a:bodyPr wrap="none" lIns="0" tIns="0" rIns="0" bIns="0"/>
          <a:p>
            <a:pPr>
              <a:lnSpc>
                <a:spcPct val="160000"/>
              </a:lnSpc>
            </a:pPr>
            <a:r>
              <a:rPr lang="en-US" sz="1200">
                <a:solidFill>
                  <a:srgbClr val="E6EEF9">
                    <a:alpha val="80000"/>
                  </a:srgbClr>
                </a:solidFill>
                <a:latin typeface="微软雅黑" panose="020B0503020204020204" charset="-122"/>
                <a:ea typeface="微软雅黑" panose="020B0503020204020204" charset="-122"/>
              </a:rPr>
              <a:t>真正压低候梯的是「空闲梯预调度」：26.3 → 17.5 s。</a:t>
            </a:r>
            <a:endParaRPr lang="zh-CN" sz="1200" b="1">
              <a:solidFill>
                <a:srgbClr val="22D3EE">
                  <a:alpha val="80000"/>
                </a:srgbClr>
              </a:solidFill>
              <a:latin typeface="微软雅黑" panose="020B0503020204020204" charset="-122"/>
              <a:ea typeface="微软雅黑" panose="020B0503020204020204" charset="-122"/>
            </a:endParaRPr>
          </a:p>
          <a:p>
            <a:pPr>
              <a:lnSpc>
                <a:spcPct val="160000"/>
              </a:lnSpc>
            </a:pPr>
            <a:r>
              <a:rPr lang="en-US" sz="1200">
                <a:solidFill>
                  <a:srgbClr val="E6EEF9">
                    <a:alpha val="80000"/>
                  </a:srgbClr>
                </a:solidFill>
                <a:latin typeface="微软雅黑" panose="020B0503020204020204" charset="-122"/>
                <a:ea typeface="微软雅黑" panose="020B0503020204020204" charset="-122"/>
              </a:rPr>
              <a:t>高峰期全员挤在 1 楼，提前把闲梯放过去待命，比任何派梯算法都有效。</a:t>
            </a:r>
            <a:endParaRPr lang="zh-CN" sz="1200" b="1">
              <a:solidFill>
                <a:srgbClr val="22D3EE">
                  <a:alpha val="80000"/>
                </a:srgbClr>
              </a:solidFill>
              <a:latin typeface="微软雅黑" panose="020B0503020204020204" charset="-122"/>
              <a:ea typeface="微软雅黑" panose="020B0503020204020204" charset="-122"/>
            </a:endParaRPr>
          </a:p>
        </p:txBody>
      </p:sp>
      <p:sp>
        <p:nvSpPr>
          <p:cNvPr id="292" name="文本框 291" descr="{&quot;isTemplate&quot;:true,&quot;type&quot;:&quot;text&quot;}"/>
          <p:cNvSpPr txBox="1"/>
          <p:nvPr/>
        </p:nvSpPr>
        <p:spPr>
          <a:xfrm>
            <a:off x="5962650" y="3952875"/>
            <a:ext cx="5448300" cy="590550"/>
          </a:xfrm>
          <a:prstGeom prst="rect">
            <a:avLst/>
          </a:prstGeom>
        </p:spPr>
        <p:txBody>
          <a:bodyPr wrap="square" lIns="0" tIns="0" rIns="0" bIns="0">
            <a:normAutofit/>
          </a:bodyPr>
          <a:p>
            <a:pPr>
              <a:lnSpc>
                <a:spcPct val="160000"/>
              </a:lnSpc>
            </a:pPr>
            <a:r>
              <a:rPr lang="zh-CN" sz="1200">
                <a:solidFill>
                  <a:srgbClr val="E6EEF9">
                    <a:alpha val="72000"/>
                  </a:srgbClr>
                </a:solidFill>
                <a:latin typeface="微软雅黑" panose="020B0503020204020204" charset="-122"/>
                <a:ea typeface="微软雅黑" panose="020B0503020204020204" charset="-122"/>
              </a:rPr>
              <a:t>刷脸免按键省的不是「电梯时间」，是学生本人的时间：按键起算几乎不变（17.5 → 17.6 s），闸机起算却少了 3.9 s。</a:t>
            </a:r>
            <a:endParaRPr lang="zh-CN" sz="1200">
              <a:solidFill>
                <a:srgbClr val="E6EEF9">
                  <a:alpha val="72000"/>
                </a:srgbClr>
              </a:solidFill>
              <a:latin typeface="微软雅黑" panose="020B0503020204020204" charset="-122"/>
              <a:ea typeface="微软雅黑" panose="020B0503020204020204" charset="-122"/>
            </a:endParaRPr>
          </a:p>
        </p:txBody>
      </p:sp>
      <p:sp>
        <p:nvSpPr>
          <p:cNvPr id="293" name="文本框 292" descr="{&quot;isTemplate&quot;:true,&quot;type&quot;:&quot;text&quot;}"/>
          <p:cNvSpPr txBox="1"/>
          <p:nvPr/>
        </p:nvSpPr>
        <p:spPr>
          <a:xfrm>
            <a:off x="5991225" y="5448300"/>
            <a:ext cx="5419725" cy="609600"/>
          </a:xfrm>
          <a:prstGeom prst="rect">
            <a:avLst/>
          </a:prstGeom>
        </p:spPr>
        <p:txBody>
          <a:bodyPr wrap="square" lIns="0" tIns="0" rIns="0" bIns="0">
            <a:normAutofit/>
          </a:bodyPr>
          <a:p>
            <a:pPr>
              <a:lnSpc>
                <a:spcPct val="155000"/>
              </a:lnSpc>
            </a:pPr>
            <a:r>
              <a:rPr lang="zh-CN" sz="1275">
                <a:solidFill>
                  <a:srgbClr val="E6EEF9">
                    <a:alpha val="86000"/>
                  </a:srgbClr>
                </a:solidFill>
                <a:latin typeface="微软雅黑" panose="020B0503020204020204" charset="-122"/>
                <a:ea typeface="微软雅黑" panose="020B0503020204020204" charset="-122"/>
              </a:rPr>
              <a:t>所以本项目的结论不是「让电梯跑得更快」，而是「让电梯不再做无用功」—— 顺带把最坏的那次等待削掉 42.1%。</a:t>
            </a:r>
            <a:endParaRPr lang="zh-CN" sz="1275">
              <a:solidFill>
                <a:srgbClr val="E6EEF9">
                  <a:alpha val="86000"/>
                </a:srgbClr>
              </a:solidFill>
              <a:latin typeface="微软雅黑" panose="020B0503020204020204" charset="-122"/>
              <a:ea typeface="微软雅黑" panose="020B0503020204020204" charset="-122"/>
            </a:endParaRPr>
          </a:p>
        </p:txBody>
      </p:sp>
      <p:sp>
        <p:nvSpPr>
          <p:cNvPr id="294" name="任意多边形 293"/>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295" name="文本框 294"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296" name="文本框 295"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17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97" name="" descr="&lt;Slide&#10;    style={{&#10;        width: '1280px',&#10;        height: '720px',&#10;        background: '#0A1424',&#10;        padding: '32px 64px 24px 64px',&#10;        display: 'flex',&#10;        flexDirection: 'column',&#10;        fontFamily: 'Microsoft YaHei',&#10;        position: 'relative',&#10;    }}&#10;&gt;&#10;    &lt;Box style={{ position: 'absolute', top: 0, left: 0, width: '1280px', height: '720px', zIndex: 0 }}&gt;&#10;        &lt;svg width={1280} height={720} viewBox='0 0 1280 720'&gt;&#10;            &lt;defs&gt;&#10;                &lt;pattern id='grid' width='40' height='40' patternUnits='userSpaceOnUse'&gt;&#10;                    &lt;path d='M40 0 L0 0 0 40' fill='none' stroke='#3B82F6' strokeOpacity='0.10' strokeWidth='1' /&gt;&#10;                &lt;/pattern&gt;&#10;                &lt;radialGradient id='rg5' cx='0.5' cy='0.3' r='0.62'&gt;&#10;                    &lt;stop offset='0%' stopColor='#22D3EE' stopOpacity='0.20' /&gt;&#10;                    &lt;stop offset='100%' stopColor='#22D3EE' stopOpacity='0' /&gt;&#10;                &lt;/radialGradient&gt;&#10;            &lt;/defs&gt;&#10;            &lt;rect width='1280' height='720' fill='url(#grid)' /&gt;&#10;            &lt;rect width='1280' height='720' fill='url(#rg5)' /&gt;&#10;        &lt;/svg&gt;&#10;    &lt;/Box&gt;&#10;&#10;    &lt;Box&#10;        style={{&#10;            position: 'relative',&#10;            zIndex: 1,&#10;            height: 112,&#10;            display: 'flex',&#10;            flexDirection: 'column',&#10;            alignItems: 'center',&#10;            justifyContent: 'center',&#10;        }}&#10;    &gt;&#10;        &lt;Box style={{ width: '64px', height: '3px', background: '#22D3EE' }} /&gt;&#10;        &lt;Box style={{ height: 20 }} /&gt;&#10;        &lt;Text style={{ fontSize: 42, fontWeight: 'bold', color: '#E6EEF9', textAlign: 'center', lineHeight: 1.25 }}&gt;&#10;            把不确定性，从学生身上&#10;            &lt;span style={{ color: '#22D3EE' }}&gt;转移到系统身上&lt;/span&gt;。&#10;        &lt;/Text&gt;&#10;    &lt;/Box&gt;&#10;&#10;    &lt;Box style={{ position: 'relative', zIndex: 1, height: 18 }} /&gt;&#10;&#10;    &lt;Box style={{ position: 'relative', zIndex: 1, display: 'flex', flexDirection: 'column', gap: 10 }}&gt;&#10;        &lt;Box&#10;            style={{&#10;                padding: '16px 22px',&#10;                background: 'rgba(59,130,246,0.10)',&#10;                border: '1px solid rgba(59,130,246,0.24)',&#10;                borderRadius: 10,&#10;                flexDirection: 'row',&#10;                gap: 18,&#10;            }}&#10;        &gt;&#10;            &lt;Box style={{ width: 108 }}&gt;&#10;                &lt;Text style={{ fontSize: 18, fontWeight: 'bold', color: '#22D3EE' }}&gt;模型边界&lt;/Text&gt;&#10;            &lt;/Box&gt;&#10;            &lt;Box style={{ flex: 1 }}&gt;&#10;                &lt;Text style={{ fontSize: 16, color: '#E6EEF9', opacity: 0.74, lineHeight: 1.6 }}&gt;&#10;                    普通时段按「学长互不相干、单独乘梯」建模（1.00 人/趟），高峰时段 700 人在 1 小时内集中进出，绝对候梯时间偏大 —— 结论只在这组假设内成立。&#10;                &lt;/Text&gt;&#10;            &lt;/Box&gt;&#10;        &lt;/Box&gt;&#10;&#10;        &lt;Box&#10;            style={{&#10;                padding: '16px 22px',&#10;                background: 'rgba(59,130,246,0.10)',&#10;                border: '1px solid rgba(59,130,246,0.24)',&#10;                borderRadius: 10,&#10;                flexDirection: 'row',&#10;                gap: 18,&#10;            }}&#10;        &gt;&#10;            &lt;Box style={{ width: 108 }}&gt;&#10;                &lt;Text style={{ fontSize: 18, fontWeight: 'bold', color: '#22D3EE' }}&gt;验证范围&lt;/Text&gt;&#10;            &lt;/Box&gt;&#10;            &lt;Box style={{ flex: 1 }}&gt;&#10;                &lt;Text style={{ fontSize: 16, color: '#E6EEF9', opacity: 0.74, lineHeight: 1.6 }}&gt;&#10;                    仿真只量化了「不空开门 + 统一派梯」这一组策略；高峰预调度、相邻楼层推荐、低功耗模式尚未纳入量化，收益仍是待验证的设想。&#10;                &lt;/Text&gt;&#10;            &lt;/Box&gt;&#10;        &lt;/Box&gt;&#10;&#10;        &lt;Box&#10;            style={{&#10;                padding: '16px 22px',&#10;                background: 'rgba(59,130,246,0.10)',&#10;                border: '1px solid rgba(59,130,246,0.24)',&#10;                borderRadius: 10,&#10;                flexDirection: 'row',&#10;                gap: 18,&#10;            }}&#10;        &gt;&#10;            &lt;Box style={{ width: 108 }}&gt;&#10;                &lt;Text style={{ fontSize: 18, fontWeight: 'bold', color: '#22D3EE' }}&gt;落地前提&lt;/Text&gt;&#10;            &lt;/Box&gt;&#10;            &lt;Box style={{ flex: 1 }}&gt;&#10;                &lt;Text style={{ fontSize: 16, color: '#E6EEF9', opacity: 0.74, lineHeight: 1.6 }}&gt;&#10;                    毫米波传感器与人脸识别涉及硬件改造成本、供电布线与隐私合规，需要单独论证，不在本次仿真能够回答的范围内。&#10;                &lt;/Text&gt;&#10;            &lt;/Box&gt;&#10;        &lt;/Box&gt;&#10;    &lt;/Box&gt;&#10;&#10;    &lt;Box style={{ position: 'relative', zIndex: 1, height: 14 }} /&gt;&#10;&#10;    &lt;Box&#10;        style={{&#10;            position: 'relative',&#10;            zIndex: 1,&#10;            padding: '16px 22px',&#10;            background: 'rgba(34,211,238,0.12)',&#10;            borderLeft: '3px solid #22D3EE',&#10;            borderRadius: 4,&#10;        }}&#10;    &gt;&#10;        &lt;Text style={{ fontSize: 17, color: '#E6EEF9', opacity: 0.88, lineHeight: 1.55 }}&gt;&#10;            &lt;span style={{ color: '#22D3EE', fontWeight: 'bold' }}&gt;下一步：&lt;/span&gt;&#10;            引入更真实的到达过程与更多楼宇样本；把安全与维保维度也纳入仿真；推动电梯从定期维保走向按需维保。&#10;        &lt;/Text&gt;&#10;    &lt;/Box&gt;&#10;&#10;    &lt;Box&#10;        style={{&#10;            position: 'relative',&#10;            zIndex: 1,&#10;            height: 36,&#10;            marginTop: 'auto',&#10;            flexDirection: 'row',&#10;            alignItems: 'center',&#10;            justifyContent: 'space-between',&#10;            borderTop: '1px solid rgba(59,130,246,0.22)',&#10;        }}&#10;    &gt;&#10;        &lt;Text style={{ fontSize: 14, color: '#E6EEF9', opacity: 0.45 }}&gt;宿舍电梯运行策略优化 · 红豆斋&lt;/Text&gt;&#10;        &lt;Text style={{ fontSize: 14, color: '#E6EEF9', opacity: 0.45, fontFamily: 'Segoe UI' }}&gt;18 / 18&lt;/Text&gt;&#10;    &lt;/Box&gt;&#10;&lt;/Slide&gt;&#10;"/>
        <p:cNvGrpSpPr/>
        <p:nvPr/>
      </p:nvGrpSpPr>
      <p:grpSpPr>
        <a:xfrm>
          <a:off x="0" y="0"/>
          <a:ext cx="0" cy="0"/>
          <a:chOff x="0" y="0"/>
          <a:chExt cx="0" cy="0"/>
        </a:xfrm>
      </p:grpSpPr>
      <p:sp>
        <p:nvSpPr>
          <p:cNvPr id="298" name="矩形 297"/>
          <p:cNvSpPr/>
          <p:nvPr/>
        </p:nvSpPr>
        <p:spPr>
          <a:xfrm>
            <a:off x="0" y="0"/>
            <a:ext cx="12192000" cy="6858000"/>
          </a:xfrm>
          <a:prstGeom prst="rect">
            <a:avLst/>
          </a:prstGeom>
          <a:solidFill>
            <a:srgbClr val="0A1424"/>
          </a:solidFill>
        </p:spPr>
        <p:txBody>
          <a:bodyPr/>
          <a:p/>
        </p:txBody>
      </p:sp>
      <p:pic>
        <p:nvPicPr>
          <p:cNvPr id="299" name="图片 298"/>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300" name="矩形 299"/>
          <p:cNvSpPr/>
          <p:nvPr/>
        </p:nvSpPr>
        <p:spPr>
          <a:xfrm>
            <a:off x="5791200" y="428625"/>
            <a:ext cx="609600" cy="28575"/>
          </a:xfrm>
          <a:prstGeom prst="rect">
            <a:avLst/>
          </a:prstGeom>
          <a:solidFill>
            <a:srgbClr val="22D3EE"/>
          </a:solidFill>
        </p:spPr>
        <p:txBody>
          <a:bodyPr/>
          <a:p/>
        </p:txBody>
      </p:sp>
      <p:sp>
        <p:nvSpPr>
          <p:cNvPr id="301" name="文本框 300" descr="{&quot;isTemplate&quot;:true,&quot;type&quot;:&quot;text&quot;}"/>
          <p:cNvSpPr txBox="1"/>
          <p:nvPr/>
        </p:nvSpPr>
        <p:spPr>
          <a:xfrm>
            <a:off x="2295525" y="647700"/>
            <a:ext cx="7600950" cy="600075"/>
          </a:xfrm>
          <a:prstGeom prst="rect">
            <a:avLst/>
          </a:prstGeom>
        </p:spPr>
        <p:txBody>
          <a:bodyPr wrap="none" lIns="0" tIns="0" rIns="0" bIns="0"/>
          <a:p>
            <a:pPr algn="ctr">
              <a:lnSpc>
                <a:spcPct val="125000"/>
              </a:lnSpc>
            </a:pPr>
            <a:r>
              <a:rPr lang="zh-CN" sz="3150" b="1">
                <a:solidFill>
                  <a:srgbClr val="E6EEF9"/>
                </a:solidFill>
                <a:latin typeface="微软雅黑" panose="020B0503020204020204" charset="-122"/>
                <a:ea typeface="微软雅黑" panose="020B0503020204020204" charset="-122"/>
              </a:rPr>
              <a:t>把不确定性，从学生身上</a:t>
            </a:r>
            <a:r>
              <a:rPr lang="zh-CN" sz="3150" b="1">
                <a:solidFill>
                  <a:srgbClr val="22D3EE"/>
                </a:solidFill>
                <a:latin typeface="微软雅黑" panose="020B0503020204020204" charset="-122"/>
                <a:ea typeface="微软雅黑" panose="020B0503020204020204" charset="-122"/>
              </a:rPr>
              <a:t>转移到系统身上</a:t>
            </a:r>
            <a:r>
              <a:rPr lang="zh-CN" sz="3150" b="1">
                <a:solidFill>
                  <a:srgbClr val="E6EEF9"/>
                </a:solidFill>
                <a:latin typeface="微软雅黑" panose="020B0503020204020204" charset="-122"/>
                <a:ea typeface="微软雅黑" panose="020B0503020204020204" charset="-122"/>
              </a:rPr>
              <a:t>。</a:t>
            </a:r>
            <a:endParaRPr lang="zh-CN" sz="3150" b="1">
              <a:solidFill>
                <a:srgbClr val="E6EEF9"/>
              </a:solidFill>
              <a:latin typeface="微软雅黑" panose="020B0503020204020204" charset="-122"/>
              <a:ea typeface="微软雅黑" panose="020B0503020204020204" charset="-122"/>
            </a:endParaRPr>
          </a:p>
        </p:txBody>
      </p:sp>
      <p:sp>
        <p:nvSpPr>
          <p:cNvPr id="302" name="圆角矩形 301"/>
          <p:cNvSpPr/>
          <p:nvPr/>
        </p:nvSpPr>
        <p:spPr>
          <a:xfrm>
            <a:off x="609600" y="1543050"/>
            <a:ext cx="10972800" cy="895350"/>
          </a:xfrm>
          <a:prstGeom prst="roundRect">
            <a:avLst>
              <a:gd name="adj" fmla="val 10638"/>
            </a:avLst>
          </a:prstGeom>
          <a:solidFill>
            <a:srgbClr val="3B82F6">
              <a:alpha val="10000"/>
            </a:srgbClr>
          </a:solidFill>
          <a:ln w="12700">
            <a:solidFill>
              <a:srgbClr val="3B82F6">
                <a:alpha val="24000"/>
              </a:srgbClr>
            </a:solidFill>
            <a:prstDash val="solid"/>
          </a:ln>
        </p:spPr>
        <p:txBody>
          <a:bodyPr/>
          <a:p/>
        </p:txBody>
      </p:sp>
      <p:sp>
        <p:nvSpPr>
          <p:cNvPr id="303" name="文本框 302" descr="{&quot;isTemplate&quot;:true,&quot;type&quot;:&quot;text&quot;}"/>
          <p:cNvSpPr txBox="1"/>
          <p:nvPr/>
        </p:nvSpPr>
        <p:spPr>
          <a:xfrm>
            <a:off x="819150" y="1695450"/>
            <a:ext cx="1028700" cy="209550"/>
          </a:xfrm>
          <a:prstGeom prst="rect">
            <a:avLst/>
          </a:prstGeom>
        </p:spPr>
        <p:txBody>
          <a:bodyPr wrap="none" lIns="0" tIns="0" rIns="0" bIns="0"/>
          <a:p>
            <a:pPr>
              <a:lnSpc>
                <a:spcPct val="100000"/>
              </a:lnSpc>
            </a:pPr>
            <a:r>
              <a:rPr lang="zh-CN" sz="1350" b="1">
                <a:solidFill>
                  <a:srgbClr val="22D3EE"/>
                </a:solidFill>
                <a:latin typeface="微软雅黑" panose="020B0503020204020204" charset="-122"/>
                <a:ea typeface="微软雅黑" panose="020B0503020204020204" charset="-122"/>
              </a:rPr>
              <a:t>模型边界</a:t>
            </a:r>
            <a:endParaRPr lang="zh-CN" sz="1350" b="1">
              <a:solidFill>
                <a:srgbClr val="22D3EE"/>
              </a:solidFill>
              <a:latin typeface="微软雅黑" panose="020B0503020204020204" charset="-122"/>
              <a:ea typeface="微软雅黑" panose="020B0503020204020204" charset="-122"/>
            </a:endParaRPr>
          </a:p>
        </p:txBody>
      </p:sp>
      <p:sp>
        <p:nvSpPr>
          <p:cNvPr id="304" name="圆角矩形 303"/>
          <p:cNvSpPr/>
          <p:nvPr/>
        </p:nvSpPr>
        <p:spPr>
          <a:xfrm>
            <a:off x="609600" y="2533650"/>
            <a:ext cx="10972800" cy="600075"/>
          </a:xfrm>
          <a:prstGeom prst="roundRect">
            <a:avLst>
              <a:gd name="adj" fmla="val 15873"/>
            </a:avLst>
          </a:prstGeom>
          <a:solidFill>
            <a:srgbClr val="3B82F6">
              <a:alpha val="10000"/>
            </a:srgbClr>
          </a:solidFill>
          <a:ln w="12700">
            <a:solidFill>
              <a:srgbClr val="3B82F6">
                <a:alpha val="24000"/>
              </a:srgbClr>
            </a:solidFill>
            <a:prstDash val="solid"/>
          </a:ln>
        </p:spPr>
        <p:txBody>
          <a:bodyPr/>
          <a:p/>
        </p:txBody>
      </p:sp>
      <p:sp>
        <p:nvSpPr>
          <p:cNvPr id="305" name="文本框 304" descr="{&quot;isTemplate&quot;:true,&quot;type&quot;:&quot;text&quot;}"/>
          <p:cNvSpPr txBox="1"/>
          <p:nvPr/>
        </p:nvSpPr>
        <p:spPr>
          <a:xfrm>
            <a:off x="819150" y="2686050"/>
            <a:ext cx="1028700" cy="209550"/>
          </a:xfrm>
          <a:prstGeom prst="rect">
            <a:avLst/>
          </a:prstGeom>
        </p:spPr>
        <p:txBody>
          <a:bodyPr wrap="none" lIns="0" tIns="0" rIns="0" bIns="0"/>
          <a:p>
            <a:pPr>
              <a:lnSpc>
                <a:spcPct val="100000"/>
              </a:lnSpc>
            </a:pPr>
            <a:r>
              <a:rPr lang="zh-CN" sz="1350" b="1">
                <a:solidFill>
                  <a:srgbClr val="22D3EE"/>
                </a:solidFill>
                <a:latin typeface="微软雅黑" panose="020B0503020204020204" charset="-122"/>
                <a:ea typeface="微软雅黑" panose="020B0503020204020204" charset="-122"/>
              </a:rPr>
              <a:t>验证范围</a:t>
            </a:r>
            <a:endParaRPr lang="zh-CN" sz="1350" b="1">
              <a:solidFill>
                <a:srgbClr val="22D3EE"/>
              </a:solidFill>
              <a:latin typeface="微软雅黑" panose="020B0503020204020204" charset="-122"/>
              <a:ea typeface="微软雅黑" panose="020B0503020204020204" charset="-122"/>
            </a:endParaRPr>
          </a:p>
        </p:txBody>
      </p:sp>
      <p:sp>
        <p:nvSpPr>
          <p:cNvPr id="306" name="圆角矩形 305"/>
          <p:cNvSpPr/>
          <p:nvPr/>
        </p:nvSpPr>
        <p:spPr>
          <a:xfrm>
            <a:off x="609600" y="3228975"/>
            <a:ext cx="10972800" cy="600075"/>
          </a:xfrm>
          <a:prstGeom prst="roundRect">
            <a:avLst>
              <a:gd name="adj" fmla="val 15873"/>
            </a:avLst>
          </a:prstGeom>
          <a:solidFill>
            <a:srgbClr val="3B82F6">
              <a:alpha val="10000"/>
            </a:srgbClr>
          </a:solidFill>
          <a:ln w="12700">
            <a:solidFill>
              <a:srgbClr val="3B82F6">
                <a:alpha val="24000"/>
              </a:srgbClr>
            </a:solidFill>
            <a:prstDash val="solid"/>
          </a:ln>
        </p:spPr>
        <p:txBody>
          <a:bodyPr/>
          <a:p/>
        </p:txBody>
      </p:sp>
      <p:sp>
        <p:nvSpPr>
          <p:cNvPr id="307" name="文本框 306" descr="{&quot;isTemplate&quot;:true,&quot;type&quot;:&quot;text&quot;}"/>
          <p:cNvSpPr txBox="1"/>
          <p:nvPr/>
        </p:nvSpPr>
        <p:spPr>
          <a:xfrm>
            <a:off x="819150" y="3381375"/>
            <a:ext cx="1028700" cy="209550"/>
          </a:xfrm>
          <a:prstGeom prst="rect">
            <a:avLst/>
          </a:prstGeom>
        </p:spPr>
        <p:txBody>
          <a:bodyPr wrap="none" lIns="0" tIns="0" rIns="0" bIns="0"/>
          <a:p>
            <a:pPr>
              <a:lnSpc>
                <a:spcPct val="100000"/>
              </a:lnSpc>
            </a:pPr>
            <a:r>
              <a:rPr lang="zh-CN" sz="1350" b="1">
                <a:solidFill>
                  <a:srgbClr val="22D3EE"/>
                </a:solidFill>
                <a:latin typeface="微软雅黑" panose="020B0503020204020204" charset="-122"/>
                <a:ea typeface="微软雅黑" panose="020B0503020204020204" charset="-122"/>
              </a:rPr>
              <a:t>落地前提</a:t>
            </a:r>
            <a:endParaRPr lang="zh-CN" sz="1350" b="1">
              <a:solidFill>
                <a:srgbClr val="22D3EE"/>
              </a:solidFill>
              <a:latin typeface="微软雅黑" panose="020B0503020204020204" charset="-122"/>
              <a:ea typeface="微软雅黑" panose="020B0503020204020204" charset="-122"/>
            </a:endParaRPr>
          </a:p>
        </p:txBody>
      </p:sp>
      <p:sp>
        <p:nvSpPr>
          <p:cNvPr id="308" name="文本框 307" descr="{&quot;isTemplate&quot;:true,&quot;type&quot;:&quot;text&quot;}"/>
          <p:cNvSpPr txBox="1"/>
          <p:nvPr/>
        </p:nvSpPr>
        <p:spPr>
          <a:xfrm>
            <a:off x="2019300" y="1695450"/>
            <a:ext cx="9353550" cy="590550"/>
          </a:xfrm>
          <a:prstGeom prst="rect">
            <a:avLst/>
          </a:prstGeom>
        </p:spPr>
        <p:txBody>
          <a:bodyPr wrap="square" lIns="0" tIns="0" rIns="0" bIns="0">
            <a:normAutofit/>
          </a:bodyPr>
          <a:p>
            <a:pPr>
              <a:lnSpc>
                <a:spcPct val="160000"/>
              </a:lnSpc>
            </a:pPr>
            <a:r>
              <a:rPr lang="zh-CN" sz="1200">
                <a:solidFill>
                  <a:srgbClr val="E6EEF9">
                    <a:alpha val="74000"/>
                  </a:srgbClr>
                </a:solidFill>
                <a:latin typeface="微软雅黑" panose="020B0503020204020204" charset="-122"/>
                <a:ea typeface="微软雅黑" panose="020B0503020204020204" charset="-122"/>
              </a:rPr>
              <a:t>700 人按均匀分布抽样上下楼（学长互不相干、学弟 2～5 人结伴），默认不计每人上下车耗时 —— 真实客流有更强的阵发性，本模型会低估瞬时拥堵，结论只在这组假设内成立。</a:t>
            </a:r>
            <a:endParaRPr lang="zh-CN" sz="1200">
              <a:solidFill>
                <a:srgbClr val="E6EEF9">
                  <a:alpha val="74000"/>
                </a:srgbClr>
              </a:solidFill>
              <a:latin typeface="微软雅黑" panose="020B0503020204020204" charset="-122"/>
              <a:ea typeface="微软雅黑" panose="020B0503020204020204" charset="-122"/>
            </a:endParaRPr>
          </a:p>
        </p:txBody>
      </p:sp>
      <p:sp>
        <p:nvSpPr>
          <p:cNvPr id="309" name="文本框 308" descr="{&quot;isTemplate&quot;:true,&quot;type&quot;:&quot;text&quot;}"/>
          <p:cNvSpPr txBox="1"/>
          <p:nvPr/>
        </p:nvSpPr>
        <p:spPr>
          <a:xfrm>
            <a:off x="2019300" y="2686050"/>
            <a:ext cx="9353550" cy="295275"/>
          </a:xfrm>
          <a:prstGeom prst="rect">
            <a:avLst/>
          </a:prstGeom>
        </p:spPr>
        <p:txBody>
          <a:bodyPr wrap="none" lIns="0" tIns="0" rIns="0" bIns="0"/>
          <a:p>
            <a:pPr>
              <a:lnSpc>
                <a:spcPct val="160000"/>
              </a:lnSpc>
            </a:pPr>
            <a:r>
              <a:rPr lang="zh-CN" sz="1200">
                <a:solidFill>
                  <a:srgbClr val="E6EEF9">
                    <a:alpha val="74000"/>
                  </a:srgbClr>
                </a:solidFill>
                <a:latin typeface="微软雅黑" panose="020B0503020204020204" charset="-122"/>
                <a:ea typeface="微软雅黑" panose="020B0503020204020204" charset="-122"/>
              </a:rPr>
              <a:t>已量化：三键合一、毫米波、空闲梯预调度、刷脸呼梯与每 30 秒重派梯；相邻楼层推荐、低功耗模式未建模。</a:t>
            </a:r>
            <a:endParaRPr lang="zh-CN" sz="1200">
              <a:solidFill>
                <a:srgbClr val="E6EEF9">
                  <a:alpha val="74000"/>
                </a:srgbClr>
              </a:solidFill>
              <a:latin typeface="微软雅黑" panose="020B0503020204020204" charset="-122"/>
              <a:ea typeface="微软雅黑" panose="020B0503020204020204" charset="-122"/>
            </a:endParaRPr>
          </a:p>
        </p:txBody>
      </p:sp>
      <p:sp>
        <p:nvSpPr>
          <p:cNvPr id="310" name="文本框 309" descr="{&quot;isTemplate&quot;:true,&quot;type&quot;:&quot;text&quot;}"/>
          <p:cNvSpPr txBox="1"/>
          <p:nvPr/>
        </p:nvSpPr>
        <p:spPr>
          <a:xfrm>
            <a:off x="2019300" y="3381375"/>
            <a:ext cx="9353550" cy="295275"/>
          </a:xfrm>
          <a:prstGeom prst="rect">
            <a:avLst/>
          </a:prstGeom>
        </p:spPr>
        <p:txBody>
          <a:bodyPr wrap="none" lIns="0" tIns="0" rIns="0" bIns="0"/>
          <a:p>
            <a:pPr>
              <a:lnSpc>
                <a:spcPct val="160000"/>
              </a:lnSpc>
            </a:pPr>
            <a:r>
              <a:rPr lang="zh-CN" sz="1200">
                <a:solidFill>
                  <a:srgbClr val="E6EEF9">
                    <a:alpha val="74000"/>
                  </a:srgbClr>
                </a:solidFill>
                <a:latin typeface="微软雅黑" panose="020B0503020204020204" charset="-122"/>
                <a:ea typeface="微软雅黑" panose="020B0503020204020204" charset="-122"/>
              </a:rPr>
              <a:t>毫米波传感器与人脸识别涉及硬件改造成本、供电布线与隐私合规，需要单独论证，不在本次仿真能够回答的范围内。</a:t>
            </a:r>
            <a:endParaRPr lang="zh-CN" sz="1200">
              <a:solidFill>
                <a:srgbClr val="E6EEF9">
                  <a:alpha val="74000"/>
                </a:srgbClr>
              </a:solidFill>
              <a:latin typeface="微软雅黑" panose="020B0503020204020204" charset="-122"/>
              <a:ea typeface="微软雅黑" panose="020B0503020204020204" charset="-122"/>
            </a:endParaRPr>
          </a:p>
        </p:txBody>
      </p:sp>
      <p:sp>
        <p:nvSpPr>
          <p:cNvPr id="311" name="圆角矩形 310"/>
          <p:cNvSpPr/>
          <p:nvPr/>
        </p:nvSpPr>
        <p:spPr>
          <a:xfrm>
            <a:off x="638175" y="3962400"/>
            <a:ext cx="10972800" cy="609600"/>
          </a:xfrm>
          <a:prstGeom prst="roundRect">
            <a:avLst>
              <a:gd name="adj" fmla="val 6250"/>
            </a:avLst>
          </a:prstGeom>
          <a:solidFill>
            <a:srgbClr val="22D3EE">
              <a:alpha val="12000"/>
            </a:srgbClr>
          </a:solidFill>
        </p:spPr>
        <p:txBody>
          <a:bodyPr/>
          <a:p/>
        </p:txBody>
      </p:sp>
      <p:sp>
        <p:nvSpPr>
          <p:cNvPr id="312" name="任意多边形 311"/>
          <p:cNvSpPr/>
          <p:nvPr/>
        </p:nvSpPr>
        <p:spPr>
          <a:xfrm>
            <a:off x="638175" y="3962400"/>
            <a:ext cx="10972800" cy="609600"/>
          </a:xfrm>
          <a:custGeom>
            <a:avLst/>
            <a:gdLst/>
            <a:ahLst/>
            <a:cxnLst/>
            <a:pathLst>
              <a:path w="1152" h="64">
                <a:moveTo>
                  <a:pt x="4" y="0"/>
                </a:moveTo>
                <a:cubicBezTo>
                  <a:pt x="3" y="0"/>
                  <a:pt x="3" y="0"/>
                  <a:pt x="3" y="1"/>
                </a:cubicBezTo>
                <a:lnTo>
                  <a:pt x="3" y="63"/>
                </a:lnTo>
                <a:cubicBezTo>
                  <a:pt x="3" y="63"/>
                  <a:pt x="3" y="64"/>
                  <a:pt x="4" y="64"/>
                </a:cubicBezTo>
                <a:cubicBezTo>
                  <a:pt x="2" y="64"/>
                  <a:pt x="0" y="62"/>
                  <a:pt x="0" y="60"/>
                </a:cubicBezTo>
                <a:lnTo>
                  <a:pt x="0" y="4"/>
                </a:lnTo>
                <a:cubicBezTo>
                  <a:pt x="0" y="2"/>
                  <a:pt x="2" y="0"/>
                  <a:pt x="4" y="0"/>
                </a:cubicBezTo>
                <a:close/>
              </a:path>
            </a:pathLst>
          </a:custGeom>
          <a:solidFill>
            <a:srgbClr val="22D3EE"/>
          </a:solidFill>
        </p:spPr>
        <p:txBody>
          <a:bodyPr/>
          <a:p/>
        </p:txBody>
      </p:sp>
      <p:sp>
        <p:nvSpPr>
          <p:cNvPr id="313" name="文本框 312" descr="{&quot;isTemplate&quot;:true,&quot;type&quot;:&quot;text&quot;}"/>
          <p:cNvSpPr txBox="1"/>
          <p:nvPr/>
        </p:nvSpPr>
        <p:spPr>
          <a:xfrm>
            <a:off x="847725" y="4114800"/>
            <a:ext cx="10525125" cy="304800"/>
          </a:xfrm>
          <a:prstGeom prst="rect">
            <a:avLst/>
          </a:prstGeom>
        </p:spPr>
        <p:txBody>
          <a:bodyPr wrap="none" lIns="0" tIns="0" rIns="0" bIns="0"/>
          <a:p>
            <a:pPr>
              <a:lnSpc>
                <a:spcPct val="155000"/>
              </a:lnSpc>
            </a:pPr>
            <a:r>
              <a:rPr lang="zh-CN" sz="1275" b="1">
                <a:solidFill>
                  <a:srgbClr val="22D3EE">
                    <a:alpha val="88000"/>
                  </a:srgbClr>
                </a:solidFill>
                <a:latin typeface="微软雅黑" panose="020B0503020204020204" charset="-122"/>
                <a:ea typeface="微软雅黑" panose="020B0503020204020204" charset="-122"/>
              </a:rPr>
              <a:t>下一步：空闲梯分区待命以消除「平峰变慢」；建模相邻楼层推荐与客流阵发性、电梯故障扰动；把网页动画演示一并做出来。</a:t>
            </a:r>
            <a:endParaRPr lang="zh-CN" sz="1275">
              <a:solidFill>
                <a:srgbClr val="E6EEF9">
                  <a:alpha val="88000"/>
                </a:srgbClr>
              </a:solidFill>
              <a:latin typeface="微软雅黑" panose="020B0503020204020204" charset="-122"/>
              <a:ea typeface="微软雅黑" panose="020B0503020204020204" charset="-122"/>
            </a:endParaRPr>
          </a:p>
        </p:txBody>
      </p:sp>
      <p:sp>
        <p:nvSpPr>
          <p:cNvPr id="314" name="任意多边形 313"/>
          <p:cNvSpPr/>
          <p:nvPr/>
        </p:nvSpPr>
        <p:spPr>
          <a:xfrm>
            <a:off x="609600" y="6286500"/>
            <a:ext cx="10972800" cy="342900"/>
          </a:xfrm>
          <a:custGeom>
            <a:avLst/>
            <a:gdLst/>
            <a:ahLst/>
            <a:cxnLst/>
            <a:pathLst>
              <a:path w="1152" h="36">
                <a:moveTo>
                  <a:pt x="0" y="0"/>
                </a:moveTo>
                <a:lnTo>
                  <a:pt x="1152" y="0"/>
                </a:lnTo>
                <a:lnTo>
                  <a:pt x="1152" y="1"/>
                </a:lnTo>
                <a:lnTo>
                  <a:pt x="0" y="1"/>
                </a:lnTo>
                <a:close/>
              </a:path>
            </a:pathLst>
          </a:custGeom>
          <a:solidFill>
            <a:srgbClr val="3B82F6">
              <a:alpha val="22000"/>
            </a:srgbClr>
          </a:solidFill>
        </p:spPr>
        <p:txBody>
          <a:bodyPr/>
          <a:p/>
        </p:txBody>
      </p:sp>
      <p:sp>
        <p:nvSpPr>
          <p:cNvPr id="315" name="文本框 314" descr="{&quot;isTemplate&quot;:true,&quot;type&quot;:&quot;text&quot;}"/>
          <p:cNvSpPr txBox="1"/>
          <p:nvPr/>
        </p:nvSpPr>
        <p:spPr>
          <a:xfrm>
            <a:off x="609600" y="6381750"/>
            <a:ext cx="1847850" cy="161925"/>
          </a:xfrm>
          <a:prstGeom prst="rect">
            <a:avLst/>
          </a:prstGeom>
        </p:spPr>
        <p:txBody>
          <a:bodyPr wrap="none" lIns="0" tIns="0" rIns="0" bIns="0"/>
          <a:p>
            <a:pPr>
              <a:lnSpc>
                <a:spcPct val="100000"/>
              </a:lnSpc>
            </a:pPr>
            <a:r>
              <a:rPr lang="zh-CN" sz="1050">
                <a:solidFill>
                  <a:srgbClr val="E6EEF9">
                    <a:alpha val="45000"/>
                  </a:srgbClr>
                </a:solidFill>
                <a:latin typeface="微软雅黑" panose="020B0503020204020204" charset="-122"/>
                <a:ea typeface="微软雅黑" panose="020B0503020204020204" charset="-122"/>
              </a:rPr>
              <a:t>宿舍电梯运行策略优化</a:t>
            </a:r>
            <a:r>
              <a:rPr lang="en-US" sz="1050">
                <a:solidFill>
                  <a:srgbClr val="E6EEF9">
                    <a:alpha val="45000"/>
                  </a:srgbClr>
                </a:solidFill>
                <a:latin typeface="微软雅黑" panose="020B0503020204020204" charset="-122"/>
                <a:ea typeface="微软雅黑" panose="020B0503020204020204" charset="-122"/>
              </a:rPr>
              <a:t> · </a:t>
            </a:r>
            <a:r>
              <a:rPr lang="zh-CN" sz="1050">
                <a:solidFill>
                  <a:srgbClr val="E6EEF9">
                    <a:alpha val="45000"/>
                  </a:srgbClr>
                </a:solidFill>
                <a:latin typeface="微软雅黑" panose="020B0503020204020204" charset="-122"/>
                <a:ea typeface="微软雅黑" panose="020B0503020204020204" charset="-122"/>
              </a:rPr>
              <a:t>红豆斋</a:t>
            </a:r>
            <a:endParaRPr lang="zh-CN" sz="1050">
              <a:solidFill>
                <a:srgbClr val="E6EEF9">
                  <a:alpha val="45000"/>
                </a:srgbClr>
              </a:solidFill>
              <a:latin typeface="微软雅黑" panose="020B0503020204020204" charset="-122"/>
              <a:ea typeface="微软雅黑" panose="020B0503020204020204" charset="-122"/>
            </a:endParaRPr>
          </a:p>
        </p:txBody>
      </p:sp>
      <p:sp>
        <p:nvSpPr>
          <p:cNvPr id="316" name="文本框 315" descr="{&quot;isTemplate&quot;:true,&quot;type&quot;:&quot;text&quot;}"/>
          <p:cNvSpPr txBox="1"/>
          <p:nvPr/>
        </p:nvSpPr>
        <p:spPr>
          <a:xfrm>
            <a:off x="11163300" y="6381750"/>
            <a:ext cx="419100" cy="161925"/>
          </a:xfrm>
          <a:prstGeom prst="rect">
            <a:avLst/>
          </a:prstGeom>
        </p:spPr>
        <p:txBody>
          <a:bodyPr wrap="none" lIns="0" tIns="0" rIns="0" bIns="0"/>
          <a:p>
            <a:pPr>
              <a:lnSpc>
                <a:spcPct val="100000"/>
              </a:lnSpc>
            </a:pPr>
            <a:r>
              <a:rPr lang="en-US" sz="1050">
                <a:solidFill>
                  <a:srgbClr val="E6EEF9">
                    <a:alpha val="45000"/>
                  </a:srgbClr>
                </a:solidFill>
                <a:latin typeface="Segoe UI" panose="020B0502040204020203"/>
                <a:ea typeface="Segoe UI" panose="020B0502040204020203"/>
              </a:rPr>
              <a:t>18 / 18</a:t>
            </a:r>
            <a:endParaRPr lang="en-US" sz="1050">
              <a:solidFill>
                <a:srgbClr val="E6EEF9">
                  <a:alpha val="45000"/>
                </a:srgbClr>
              </a:solidFill>
              <a:latin typeface="Segoe UI" panose="020B0502040204020203"/>
              <a:ea typeface="Segoe UI" panose="020B0502040204020203"/>
            </a:endParaRPr>
          </a:p>
        </p:txBody>
      </p:sp>
    </p:spTree>
  </p:cSld>
  <p:clrMapOvr>
    <a:masterClrMapping/>
  </p:clrMapOvr>
</p:sld>
</file>

<file path=ppt/tags/tag1.xml><?xml version="1.0" encoding="utf-8"?>
<p:tagLst xmlns:p="http://schemas.openxmlformats.org/presentationml/2006/main">
  <p:tag name="KSO_WM_DIAGRAM_VIRTUALLY_FRAME" val="{&quot;height&quot;:396,&quot;left&quot;:176.25,&quot;top&quot;:99,&quot;width&quot;:743.75}"/>
</p:tagLst>
</file>

<file path=ppt/tags/tag2.xml><?xml version="1.0" encoding="utf-8"?>
<p:tagLst xmlns:p="http://schemas.openxmlformats.org/presentationml/2006/main">
  <p:tag name="KSO_WM_DIAGRAM_VIRTUALLY_FRAME" val="{&quot;height&quot;:396,&quot;left&quot;:176.25,&quot;top&quot;:99,&quot;width&quot;:743.75}"/>
</p:tagLst>
</file>

<file path=ppt/tags/tag3.xml><?xml version="1.0" encoding="utf-8"?>
<p:tagLst xmlns:p="http://schemas.openxmlformats.org/presentationml/2006/main">
  <p:tag name="KSO_WM_DIAGRAM_VIRTUALLY_FRAME" val="{&quot;height&quot;:396,&quot;left&quot;:176.25,&quot;top&quot;:99,&quot;width&quot;:743.75}"/>
</p:tagLst>
</file>

<file path=ppt/tags/tag4.xml><?xml version="1.0" encoding="utf-8"?>
<p:tagLst xmlns:p="http://schemas.openxmlformats.org/presentationml/2006/main">
  <p:tag name="KSO_WM_DIAGRAM_VIRTUALLY_FRAME" val="{&quot;height&quot;:396,&quot;left&quot;:176.25,&quot;top&quot;:99,&quot;width&quot;:743.75}"/>
</p:tagLst>
</file>

<file path=ppt/tags/tag5.xml><?xml version="1.0" encoding="utf-8"?>
<p:tagLst xmlns:p="http://schemas.openxmlformats.org/presentationml/2006/main">
  <p:tag name="KSO_WM_DIAGRAM_VIRTUALLY_FRAME" val="{&quot;height&quot;:396,&quot;left&quot;:176.25,&quot;top&quot;:99,&quot;width&quot;:743.75}"/>
</p:tagLst>
</file>

<file path=ppt/tags/tag6.xml><?xml version="1.0" encoding="utf-8"?>
<p:tagLst xmlns:p="http://schemas.openxmlformats.org/presentationml/2006/main">
  <p:tag name="KSO_WM_DIAGRAM_VIRTUALLY_FRAME" val="{&quot;height&quot;:396,&quot;left&quot;:176.25,&quot;top&quot;:99,&quot;width&quot;:743.75}"/>
</p:tagLst>
</file>

<file path=ppt/tags/tag7.xml><?xml version="1.0" encoding="utf-8"?>
<p:tagLst xmlns:p="http://schemas.openxmlformats.org/presentationml/2006/main">
  <p:tag name="KSO_WM_DIAGRAM_VIRTUALLY_FRAME" val="{&quot;height&quot;:396,&quot;left&quot;:176.25,&quot;top&quot;:99,&quot;width&quot;:743.75}"/>
</p:tagLst>
</file>

<file path=ppt/tags/tag8.xml><?xml version="1.0" encoding="utf-8"?>
<p:tagLst xmlns:p="http://schemas.openxmlformats.org/presentationml/2006/main">
  <p:tag name="KSO_WM_DIAGRAM_VIRTUALLY_FRAME" val="{&quot;height&quot;:396,&quot;left&quot;:176.25,&quot;top&quot;:99,&quot;width&quot;:743.75}"/>
</p:tagLst>
</file>

<file path=ppt/tags/tag9.xml><?xml version="1.0" encoding="utf-8"?>
<p:tagLst xmlns:p="http://schemas.openxmlformats.org/presentationml/2006/main">
  <p:tag name="KSO_WM_DIAGRAM_VIRTUALLY_FRAME" val="{&quot;height&quot;:396,&quot;left&quot;:176.25,&quot;top&quot;:99,&quot;width&quot;:743.75}"/>
</p:tagLst>
</file>

<file path=ppt/tags/tag10.xml><?xml version="1.0" encoding="utf-8"?>
<p:tagLst xmlns:p="http://schemas.openxmlformats.org/presentationml/2006/main">
  <p:tag name="KSO_WM_DIAGRAM_VIRTUALLY_FRAME" val="{&quot;height&quot;:396,&quot;left&quot;:176.25,&quot;top&quot;:99,&quot;width&quot;:743.75}"/>
</p:tagLst>
</file>

<file path=ppt/tags/tag11.xml><?xml version="1.0" encoding="utf-8"?>
<p:tagLst xmlns:p="http://schemas.openxmlformats.org/presentationml/2006/main">
  <p:tag name="KSO_WM_DIAGRAM_VIRTUALLY_FRAME" val="{&quot;height&quot;:396,&quot;left&quot;:176.25,&quot;top&quot;:99,&quot;width&quot;:743.75}"/>
</p:tagLst>
</file>

<file path=ppt/tags/tag12.xml><?xml version="1.0" encoding="utf-8"?>
<p:tagLst xmlns:p="http://schemas.openxmlformats.org/presentationml/2006/main">
  <p:tag name="KSO_WM_DIAGRAM_VIRTUALLY_FRAME" val="{&quot;height&quot;:396,&quot;left&quot;:176.25,&quot;top&quot;:99,&quot;width&quot;:743.75}"/>
</p:tagLst>
</file>

<file path=ppt/tags/tag13.xml><?xml version="1.0" encoding="utf-8"?>
<p:tagLst xmlns:p="http://schemas.openxmlformats.org/presentationml/2006/main">
  <p:tag name="KSO_WM_DIAGRAM_VIRTUALLY_FRAME" val="{&quot;height&quot;:396,&quot;left&quot;:176.25,&quot;top&quot;:99,&quot;width&quot;:743.75}"/>
</p:tagLst>
</file>

<file path=ppt/tags/tag14.xml><?xml version="1.0" encoding="utf-8"?>
<p:tagLst xmlns:p="http://schemas.openxmlformats.org/presentationml/2006/main">
  <p:tag name="KSO_WM_DIAGRAM_VIRTUALLY_FRAME" val="{&quot;height&quot;:396,&quot;left&quot;:176.25,&quot;top&quot;:99,&quot;width&quot;:743.75}"/>
</p:tagLst>
</file>

<file path=ppt/tags/tag15.xml><?xml version="1.0" encoding="utf-8"?>
<p:tagLst xmlns:p="http://schemas.openxmlformats.org/presentationml/2006/main">
  <p:tag name="KSO_WM_DIAGRAM_VIRTUALLY_FRAME" val="{&quot;height&quot;:396,&quot;left&quot;:176.25,&quot;top&quot;:99,&quot;width&quot;:743.75}"/>
</p:tagLst>
</file>

<file path=ppt/tags/tag16.xml><?xml version="1.0" encoding="utf-8"?>
<p:tagLst xmlns:p="http://schemas.openxmlformats.org/presentationml/2006/main">
  <p:tag name="KSO_WM_DIAGRAM_VIRTUALLY_FRAME" val="{&quot;height&quot;:396,&quot;left&quot;:176.25,&quot;top&quot;:99,&quot;width&quot;:743.75}"/>
</p:tagLst>
</file>

<file path=ppt/tags/tag17.xml><?xml version="1.0" encoding="utf-8"?>
<p:tagLst xmlns:p="http://schemas.openxmlformats.org/presentationml/2006/main">
  <p:tag name="KSO_WM_DIAGRAM_VIRTUALLY_FRAME" val="{&quot;height&quot;:396,&quot;left&quot;:176.25,&quot;top&quot;:99,&quot;width&quot;:743.75}"/>
</p:tagLst>
</file>

<file path=ppt/tags/tag18.xml><?xml version="1.0" encoding="utf-8"?>
<p:tagLst xmlns:p="http://schemas.openxmlformats.org/presentationml/2006/main">
  <p:tag name="KSO_WM_DIAGRAM_VIRTUALLY_FRAME" val="{&quot;height&quot;:396,&quot;left&quot;:176.25,&quot;top&quot;:99,&quot;width&quot;:743.75}"/>
</p:tagLst>
</file>

<file path=ppt/tags/tag19.xml><?xml version="1.0" encoding="utf-8"?>
<p:tagLst xmlns:p="http://schemas.openxmlformats.org/presentationml/2006/main">
  <p:tag name="KSO_WM_DIAGRAM_VIRTUALLY_FRAME" val="{&quot;height&quot;:396,&quot;left&quot;:176.25,&quot;top&quot;:99,&quot;width&quot;:743.75}"/>
</p:tagLst>
</file>

<file path=ppt/tags/tag20.xml><?xml version="1.0" encoding="utf-8"?>
<p:tagLst xmlns:p="http://schemas.openxmlformats.org/presentationml/2006/main">
  <p:tag name="KSO_WM_DIAGRAM_VIRTUALLY_FRAME" val="{&quot;height&quot;:396,&quot;left&quot;:176.25,&quot;top&quot;:99,&quot;width&quot;:743.7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4452</Words>
  <Application>WPS 演示</Application>
  <PresentationFormat/>
  <Paragraphs>653</Paragraphs>
  <Slides>18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18</vt:i4>
      </vt:variant>
    </vt:vector>
  </HeadingPairs>
  <TitlesOfParts>
    <vt:vector size="26" baseType="lpstr">
      <vt:lpstr>Arial</vt:lpstr>
      <vt:lpstr>宋体</vt:lpstr>
      <vt:lpstr>Wingdings</vt:lpstr>
      <vt:lpstr>Segoe UI</vt:lpstr>
      <vt:lpstr>微软雅黑</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WPS_1725680136</cp:lastModifiedBy>
  <cp:revision>4</cp:revision>
  <dcterms:created xsi:type="dcterms:W3CDTF">2026-09-18T10:28:00Z</dcterms:created>
  <dcterms:modified xsi:type="dcterms:W3CDTF">2026-09-21T04:50:06Z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D7A30A3C7C334385B6639D3D4D21EB1A_12</vt:lpwstr>
  </property>
  <property fmtid="{D5CDD505-2E9C-101B-9397-08002B2CF9AE}" pid="3" name="KSOProductBuildVer">
    <vt:lpwstr>2052-12.1.0.19302</vt:lpwstr>
  </property>
</Properties>
</file>